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0" r:id="rId4"/>
    <p:sldId id="258" r:id="rId5"/>
    <p:sldId id="259" r:id="rId6"/>
    <p:sldId id="263" r:id="rId7"/>
    <p:sldId id="265" r:id="rId8"/>
    <p:sldId id="266" r:id="rId9"/>
    <p:sldId id="268" r:id="rId10"/>
    <p:sldId id="267" r:id="rId11"/>
    <p:sldId id="269" r:id="rId12"/>
    <p:sldId id="270" r:id="rId13"/>
    <p:sldId id="275" r:id="rId14"/>
    <p:sldId id="277" r:id="rId15"/>
    <p:sldId id="276" r:id="rId16"/>
    <p:sldId id="271" r:id="rId17"/>
    <p:sldId id="272" r:id="rId18"/>
    <p:sldId id="273" r:id="rId19"/>
    <p:sldId id="274" r:id="rId20"/>
    <p:sldId id="261" r:id="rId21"/>
    <p:sldId id="264" r:id="rId22"/>
    <p:sldId id="262" r:id="rId2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既定のセクション" id="{6D507C53-DDBA-4C39-810F-79174E2C0A1E}">
          <p14:sldIdLst>
            <p14:sldId id="256"/>
          </p14:sldIdLst>
        </p14:section>
        <p14:section name="７章　プログラム" id="{1C115149-0D30-4BF1-9951-0DACCA2449E7}">
          <p14:sldIdLst>
            <p14:sldId id="257"/>
            <p14:sldId id="260"/>
            <p14:sldId id="258"/>
            <p14:sldId id="259"/>
            <p14:sldId id="263"/>
            <p14:sldId id="265"/>
          </p14:sldIdLst>
        </p14:section>
        <p14:section name="８章　S3" id="{F58F4005-9CC6-4E48-B815-3BF56D9DF4E6}">
          <p14:sldIdLst>
            <p14:sldId id="266"/>
            <p14:sldId id="268"/>
            <p14:sldId id="267"/>
          </p14:sldIdLst>
        </p14:section>
        <p14:section name="９章　ループ" id="{6DA1671D-0978-45D5-BADC-53BD7A010EA2}">
          <p14:sldIdLst>
            <p14:sldId id="269"/>
            <p14:sldId id="270"/>
            <p14:sldId id="275"/>
            <p14:sldId id="277"/>
            <p14:sldId id="276"/>
            <p14:sldId id="271"/>
          </p14:sldIdLst>
        </p14:section>
        <p14:section name="１０章　スピード" id="{EEBD476B-CC6C-4DDA-A2C9-186ED5188789}">
          <p14:sldIdLst>
            <p14:sldId id="272"/>
            <p14:sldId id="273"/>
            <p14:sldId id="274"/>
          </p14:sldIdLst>
        </p14:section>
        <p14:section name="まとめ" id="{FBAA46CE-E25C-4925-91C3-D8C76579CAEF}">
          <p14:sldIdLst>
            <p14:sldId id="261"/>
            <p14:sldId id="264"/>
            <p14:sldId id="262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981" autoAdjust="0"/>
    <p:restoredTop sz="93849" autoAdjust="0"/>
  </p:normalViewPr>
  <p:slideViewPr>
    <p:cSldViewPr snapToGrid="0">
      <p:cViewPr varScale="1">
        <p:scale>
          <a:sx n="76" d="100"/>
          <a:sy n="76" d="100"/>
        </p:scale>
        <p:origin x="126" y="154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64" d="100"/>
        <a:sy n="164" d="100"/>
      </p:scale>
      <p:origin x="0" y="-5934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C95164B-C763-DBA9-DE69-78DE524DD79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6F2EB9C5-381D-FA83-EB7C-1ADD7FE551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83B2D98-F07C-3CE9-3B42-866CE48EA2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DD009-2AE7-4B3F-8458-2328013CE102}" type="datetimeFigureOut">
              <a:rPr kumimoji="1" lang="ja-JP" altLang="en-US" smtClean="0"/>
              <a:t>2026/8/12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259B47D-F1AF-7353-AA72-A9C94A14A8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8DE972C-24C9-5FCD-D8AC-890AA19EE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9B12B-6A69-4839-B4D5-36194E6D15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278810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AA02C59-7727-9C38-05CC-4977FD79A5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7EED459-33FA-CEB2-B4F6-90A71E51379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D80AE2A-639A-AE85-323A-32D5D4B17B0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DD009-2AE7-4B3F-8458-2328013CE102}" type="datetimeFigureOut">
              <a:rPr kumimoji="1" lang="ja-JP" altLang="en-US" smtClean="0"/>
              <a:t>2026/8/12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0C8A0C1-A0FF-039D-805D-8AADC61162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835065F-486C-7108-FB41-C1E028ECD6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9B12B-6A69-4839-B4D5-36194E6D15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082934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1339C5C-9616-05D5-7416-29818F71B9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359BBDE-0951-59A3-16CB-A704EB2D075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D6E68FA-490B-D598-0384-B6A022FF4C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DD009-2AE7-4B3F-8458-2328013CE102}" type="datetimeFigureOut">
              <a:rPr kumimoji="1" lang="ja-JP" altLang="en-US" smtClean="0"/>
              <a:t>2026/8/12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98D0ED9-1133-6BFD-18EC-6902543AD4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06552386-2AA1-E343-88B7-CA30605C14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9B12B-6A69-4839-B4D5-36194E6D15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606324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9030750-43FC-AA30-A279-099CA6055D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194D061-C28C-3335-0003-B94FE633C5F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42E61442-EBDB-1E8D-5649-ACBF6EF1D7E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79DB4A4-3004-F76D-6C99-0BAF7D4224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DD009-2AE7-4B3F-8458-2328013CE102}" type="datetimeFigureOut">
              <a:rPr kumimoji="1" lang="ja-JP" altLang="en-US" smtClean="0"/>
              <a:t>2026/8/12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67A4462-5925-8253-4398-C882D296E8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1D4B1DD9-3EB8-4053-F415-E807741F90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9B12B-6A69-4839-B4D5-36194E6D15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022675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F4AE025-5C0D-EB3D-0089-1880271597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42827F8-8221-D75A-88D1-0332E70598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E2C79D26-4D1B-34A0-2477-03C169AB878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A9EA6E93-556B-1344-75C5-359F3BB7BEE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FB7FA50B-F860-1761-074A-38EEC1B229C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830CFF49-C9BE-B228-A222-74631F5E30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DD009-2AE7-4B3F-8458-2328013CE102}" type="datetimeFigureOut">
              <a:rPr kumimoji="1" lang="ja-JP" altLang="en-US" smtClean="0"/>
              <a:t>2026/8/12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F1DEBBC9-3C54-0AEC-088A-9D9FE8C65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AD405117-3220-1B8E-F5B6-88419E5A92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9B12B-6A69-4839-B4D5-36194E6D15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597972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EFAE3AD-7CED-E038-FF8C-4DA5D5F3B4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A34324C5-2B67-891A-4D84-3BFB578B66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DD009-2AE7-4B3F-8458-2328013CE102}" type="datetimeFigureOut">
              <a:rPr kumimoji="1" lang="ja-JP" altLang="en-US" smtClean="0"/>
              <a:t>2026/8/12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831A5FF0-F4A3-2C35-8823-792C7C5284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473FEFE-942A-119C-027A-8425A9DAEA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9B12B-6A69-4839-B4D5-36194E6D15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000492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DD5DCE37-95ED-C935-46A5-CA1C5F70DA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DD009-2AE7-4B3F-8458-2328013CE102}" type="datetimeFigureOut">
              <a:rPr kumimoji="1" lang="ja-JP" altLang="en-US" smtClean="0"/>
              <a:t>2026/8/12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00D41F61-66C6-0F38-88FF-6160A6E1F6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C710793-E8FF-2EAC-87C6-52A1B001BC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9B12B-6A69-4839-B4D5-36194E6D15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798662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8C45BA7-7251-BF9D-9D77-01367C5054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4915D0C7-EAB4-987B-17F2-DDA8FE7D3C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2DF15169-BC4F-2874-5ACE-178792E6532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FB45DF4-A38A-07B7-6EAF-ED4DEE668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DD009-2AE7-4B3F-8458-2328013CE102}" type="datetimeFigureOut">
              <a:rPr kumimoji="1" lang="ja-JP" altLang="en-US" smtClean="0"/>
              <a:t>2026/8/12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4AB91870-1FAD-22F3-D2A4-10334DE280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AB94905-4C1A-7B98-F3E9-A412BE819E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9B12B-6A69-4839-B4D5-36194E6D15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00470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307B339-3903-387B-5641-F3D9072A32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CBEA1C99-CDAB-955C-9F30-60C204A74F8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30D9308-FD8E-16E2-8E95-F232751BEA8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4C4513A-6308-5CDB-2E0A-2FA1A0A4E6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DD009-2AE7-4B3F-8458-2328013CE102}" type="datetimeFigureOut">
              <a:rPr kumimoji="1" lang="ja-JP" altLang="en-US" smtClean="0"/>
              <a:t>2026/8/12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7EA281F9-FF4D-2D2D-9AFD-89DA5D1E4F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BE9F669-4C6F-5741-A504-59D05B0596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9B12B-6A69-4839-B4D5-36194E6D15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426222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A7F2EC5-F415-A6DA-0FF5-8EADF8FF5B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C897DE9D-66CD-76AC-C6E0-B66F63AFDEA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EF17D25-6CE0-F093-9158-9E7C213AF2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DD009-2AE7-4B3F-8458-2328013CE102}" type="datetimeFigureOut">
              <a:rPr kumimoji="1" lang="ja-JP" altLang="en-US" smtClean="0"/>
              <a:t>2026/8/12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99F87C4-B469-B8D6-7E04-A940223D1A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CA0619F5-086C-3BEA-6990-65A43F39F3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9B12B-6A69-4839-B4D5-36194E6D15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136211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03A71AD2-7D6E-4483-6D15-8D5C235712D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B76392F2-A7A3-9466-1F38-252D51DE2C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9305EE6-0B27-A567-D845-8BA65DDD1A2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1BDD009-2AE7-4B3F-8458-2328013CE102}" type="datetimeFigureOut">
              <a:rPr kumimoji="1" lang="ja-JP" altLang="en-US" smtClean="0"/>
              <a:t>2026/8/12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42AD9575-7679-A504-2269-D3018329AD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560B7D1-B92C-DCDB-4EBF-F020598227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369B12B-6A69-4839-B4D5-36194E6D15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828572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70E4EBD9-5755-099B-788A-DC11C0F7D9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0DD850E-CA05-EDFA-627E-4ED895B633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424825E-9385-6329-A9CC-59D16A8AA1C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1BDD009-2AE7-4B3F-8458-2328013CE102}" type="datetimeFigureOut">
              <a:rPr kumimoji="1" lang="ja-JP" altLang="en-US" smtClean="0"/>
              <a:t>2026/8/12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B5D3A38-BBC5-6937-824E-DBEF8798F2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89BF167-0B98-6E3C-8037-DAE10F60431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369B12B-6A69-4839-B4D5-36194E6D15C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1559408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png"/><Relationship Id="rId7" Type="http://schemas.openxmlformats.org/officeDocument/2006/relationships/image" Target="../media/image12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7" Type="http://schemas.openxmlformats.org/officeDocument/2006/relationships/image" Target="../media/image19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8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9.png"/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10" Type="http://schemas.openxmlformats.org/officeDocument/2006/relationships/image" Target="../media/image41.png"/><Relationship Id="rId4" Type="http://schemas.openxmlformats.org/officeDocument/2006/relationships/image" Target="../media/image35.png"/><Relationship Id="rId9" Type="http://schemas.openxmlformats.org/officeDocument/2006/relationships/image" Target="../media/image40.png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hyperlink" Target="https://nakazakimasahito.wordpress.com/2020/06/01/r-stringsasfactors-false%E3%81%AB%E3%81%A4%E3%81%84%E3%81%A6%E3%80%80/" TargetMode="Externa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62000" y="1474940"/>
            <a:ext cx="10668000" cy="2387600"/>
          </a:xfrm>
        </p:spPr>
        <p:txBody>
          <a:bodyPr>
            <a:normAutofit/>
          </a:bodyPr>
          <a:lstStyle/>
          <a:p>
            <a:r>
              <a:rPr kumimoji="1" lang="ja-JP" altLang="en-US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「</a:t>
            </a:r>
            <a:r>
              <a:rPr kumimoji="1" lang="en-US" altLang="ja-JP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RStudio</a:t>
            </a:r>
            <a:r>
              <a:rPr kumimoji="1" lang="ja-JP" altLang="en-US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ではじめる</a:t>
            </a:r>
            <a:br>
              <a:rPr kumimoji="1" lang="en-US" altLang="ja-JP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kumimoji="1" lang="en-US" altLang="ja-JP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R</a:t>
            </a:r>
            <a:r>
              <a:rPr kumimoji="1" lang="ja-JP" altLang="en-US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プログラミング入門」</a:t>
            </a:r>
            <a:r>
              <a:rPr lang="en-US" altLang="ja-JP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Ⅲ</a:t>
            </a:r>
            <a:r>
              <a:rPr lang="ja-JP" altLang="en-US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演習</a:t>
            </a:r>
            <a:endParaRPr kumimoji="1" lang="ja-JP" altLang="en-US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F422FEA-2F34-70ED-56A9-01A65A2AD1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284706"/>
            <a:ext cx="9144000" cy="1655762"/>
          </a:xfrm>
        </p:spPr>
        <p:txBody>
          <a:bodyPr/>
          <a:lstStyle/>
          <a:p>
            <a:r>
              <a:rPr lang="en-US" altLang="ja-JP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24510171 </a:t>
            </a:r>
            <a:r>
              <a:rPr lang="ja-JP" altLang="en-US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永井芽衣</a:t>
            </a:r>
            <a:endParaRPr kumimoji="1" lang="ja-JP" altLang="en-US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48528092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 fontScale="90000"/>
          </a:bodyPr>
          <a:lstStyle/>
          <a:p>
            <a:pPr algn="l"/>
            <a:r>
              <a:rPr kumimoji="1" lang="en-US" altLang="ja-JP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7</a:t>
            </a:r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章　プログラム　フローチャート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78782C7-6070-7C3A-DAB7-3101F4C6ED5C}"/>
              </a:ext>
            </a:extLst>
          </p:cNvPr>
          <p:cNvSpPr/>
          <p:nvPr/>
        </p:nvSpPr>
        <p:spPr>
          <a:xfrm>
            <a:off x="884439" y="1097282"/>
            <a:ext cx="10613447" cy="552895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F422FEA-2F34-70ED-56A9-01A65A2AD1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4439" y="1097282"/>
            <a:ext cx="9391483" cy="544628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</a:t>
            </a:r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kumimoji="1" lang="ja-JP" altLang="en-US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grpSp>
        <p:nvGrpSpPr>
          <p:cNvPr id="164" name="グループ化 163">
            <a:extLst>
              <a:ext uri="{FF2B5EF4-FFF2-40B4-BE49-F238E27FC236}">
                <a16:creationId xmlns:a16="http://schemas.microsoft.com/office/drawing/2014/main" id="{4D8CB1E0-CDD1-3E70-035D-4138389B2C1E}"/>
              </a:ext>
            </a:extLst>
          </p:cNvPr>
          <p:cNvGrpSpPr/>
          <p:nvPr/>
        </p:nvGrpSpPr>
        <p:grpSpPr>
          <a:xfrm>
            <a:off x="1055762" y="1174069"/>
            <a:ext cx="10694884" cy="4986701"/>
            <a:chOff x="1055762" y="1174069"/>
            <a:chExt cx="10694884" cy="4986701"/>
          </a:xfrm>
        </p:grpSpPr>
        <p:sp>
          <p:nvSpPr>
            <p:cNvPr id="159" name="正方形/長方形 158">
              <a:extLst>
                <a:ext uri="{FF2B5EF4-FFF2-40B4-BE49-F238E27FC236}">
                  <a16:creationId xmlns:a16="http://schemas.microsoft.com/office/drawing/2014/main" id="{BAC1B9FE-62F3-9C84-F8AC-C71DD85038C6}"/>
                </a:ext>
              </a:extLst>
            </p:cNvPr>
            <p:cNvSpPr/>
            <p:nvPr/>
          </p:nvSpPr>
          <p:spPr>
            <a:xfrm>
              <a:off x="5279543" y="1387047"/>
              <a:ext cx="5994305" cy="661524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endParaRPr kumimoji="1" lang="en-US" altLang="ja-JP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34BF8BC5-C7B9-88B9-A4BA-560F05356197}"/>
                </a:ext>
              </a:extLst>
            </p:cNvPr>
            <p:cNvSpPr/>
            <p:nvPr/>
          </p:nvSpPr>
          <p:spPr>
            <a:xfrm>
              <a:off x="3656758" y="1350777"/>
              <a:ext cx="1981526" cy="335280"/>
            </a:xfrm>
            <a:prstGeom prst="rect">
              <a:avLst/>
            </a:prstGeom>
            <a:solidFill>
              <a:srgbClr val="FFFFFF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400" dirty="0" err="1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g</a:t>
              </a:r>
              <a:r>
                <a:rPr kumimoji="1" lang="en-US" altLang="ja-JP" sz="1400" dirty="0" err="1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et_symbols</a:t>
              </a:r>
              <a:r>
                <a:rPr kumimoji="1" lang="en-US" altLang="ja-JP" sz="14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()</a:t>
              </a:r>
              <a:endParaRPr kumimoji="1" lang="ja-JP" altLang="en-US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F1838668-DDD9-7462-47D5-6EE2976326DD}"/>
                </a:ext>
              </a:extLst>
            </p:cNvPr>
            <p:cNvSpPr/>
            <p:nvPr/>
          </p:nvSpPr>
          <p:spPr>
            <a:xfrm>
              <a:off x="1055762" y="1174069"/>
              <a:ext cx="1821857" cy="1063076"/>
            </a:xfrm>
            <a:prstGeom prst="rect">
              <a:avLst/>
            </a:prstGeom>
            <a:solidFill>
              <a:srgbClr val="FFFFFF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r>
                <a:rPr lang="en-US" altLang="ja-JP" sz="15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p</a:t>
              </a:r>
              <a:r>
                <a:rPr kumimoji="1" lang="en-US" altLang="ja-JP" sz="15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lay()</a:t>
              </a:r>
            </a:p>
            <a:p>
              <a:r>
                <a:rPr lang="ja-JP" altLang="en-US" sz="15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・スロットを回す</a:t>
              </a:r>
              <a:endParaRPr lang="en-US" altLang="ja-JP" sz="15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  <a:p>
              <a:r>
                <a:rPr lang="ja-JP" altLang="en-US" sz="15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・結果を表示する</a:t>
              </a:r>
              <a:endParaRPr lang="en-US" altLang="ja-JP" sz="15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  <a:p>
              <a:r>
                <a:rPr lang="ja-JP" altLang="en-US" sz="15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・賞金を表示する</a:t>
              </a:r>
              <a:endParaRPr lang="en-US" altLang="ja-JP" sz="15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138" name="正方形/長方形 137">
              <a:extLst>
                <a:ext uri="{FF2B5EF4-FFF2-40B4-BE49-F238E27FC236}">
                  <a16:creationId xmlns:a16="http://schemas.microsoft.com/office/drawing/2014/main" id="{B64738DB-588E-F48A-09EB-7897AF28AB47}"/>
                </a:ext>
              </a:extLst>
            </p:cNvPr>
            <p:cNvSpPr/>
            <p:nvPr/>
          </p:nvSpPr>
          <p:spPr>
            <a:xfrm>
              <a:off x="4025621" y="2163217"/>
              <a:ext cx="4876799" cy="3997553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endParaRPr kumimoji="1" lang="en-US" altLang="ja-JP" sz="1000" dirty="0">
                <a:solidFill>
                  <a:schemeClr val="tx1"/>
                </a:solidFill>
              </a:endParaRPr>
            </a:p>
          </p:txBody>
        </p:sp>
        <p:sp>
          <p:nvSpPr>
            <p:cNvPr id="55" name="四角形: 1 つの角を切り取る 54">
              <a:extLst>
                <a:ext uri="{FF2B5EF4-FFF2-40B4-BE49-F238E27FC236}">
                  <a16:creationId xmlns:a16="http://schemas.microsoft.com/office/drawing/2014/main" id="{F5FC2D68-11EE-D33F-D33E-6B56E56666C0}"/>
                </a:ext>
              </a:extLst>
            </p:cNvPr>
            <p:cNvSpPr/>
            <p:nvPr/>
          </p:nvSpPr>
          <p:spPr>
            <a:xfrm>
              <a:off x="7501128" y="2463440"/>
              <a:ext cx="546287" cy="193042"/>
            </a:xfrm>
            <a:prstGeom prst="snip1Rect">
              <a:avLst>
                <a:gd name="adj" fmla="val 5000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2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DD</a:t>
              </a:r>
              <a:endParaRPr kumimoji="1"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57" name="四角形: 1 つの角を切り取る 56">
              <a:extLst>
                <a:ext uri="{FF2B5EF4-FFF2-40B4-BE49-F238E27FC236}">
                  <a16:creationId xmlns:a16="http://schemas.microsoft.com/office/drawing/2014/main" id="{0B45F663-4BA6-90F3-C32E-B0814FE4CD98}"/>
                </a:ext>
              </a:extLst>
            </p:cNvPr>
            <p:cNvSpPr/>
            <p:nvPr/>
          </p:nvSpPr>
          <p:spPr>
            <a:xfrm>
              <a:off x="7501127" y="2653476"/>
              <a:ext cx="546287" cy="193042"/>
            </a:xfrm>
            <a:prstGeom prst="snip1Rect">
              <a:avLst>
                <a:gd name="adj" fmla="val 5000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2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7</a:t>
              </a:r>
              <a:endParaRPr kumimoji="1"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63" name="四角形: 1 つの角を切り取る 62">
              <a:extLst>
                <a:ext uri="{FF2B5EF4-FFF2-40B4-BE49-F238E27FC236}">
                  <a16:creationId xmlns:a16="http://schemas.microsoft.com/office/drawing/2014/main" id="{2E9625C1-7190-E045-D66E-6E968EECABC6}"/>
                </a:ext>
              </a:extLst>
            </p:cNvPr>
            <p:cNvSpPr/>
            <p:nvPr/>
          </p:nvSpPr>
          <p:spPr>
            <a:xfrm>
              <a:off x="7501126" y="2832671"/>
              <a:ext cx="546287" cy="193042"/>
            </a:xfrm>
            <a:prstGeom prst="snip1Rect">
              <a:avLst>
                <a:gd name="adj" fmla="val 5000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2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BBB</a:t>
              </a:r>
              <a:endParaRPr kumimoji="1"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64" name="四角形: 1 つの角を切り取る 63">
              <a:extLst>
                <a:ext uri="{FF2B5EF4-FFF2-40B4-BE49-F238E27FC236}">
                  <a16:creationId xmlns:a16="http://schemas.microsoft.com/office/drawing/2014/main" id="{DF3F242E-3192-03FA-7DB6-3E561B7E58CD}"/>
                </a:ext>
              </a:extLst>
            </p:cNvPr>
            <p:cNvSpPr/>
            <p:nvPr/>
          </p:nvSpPr>
          <p:spPr>
            <a:xfrm>
              <a:off x="7501126" y="3028384"/>
              <a:ext cx="546287" cy="193042"/>
            </a:xfrm>
            <a:prstGeom prst="snip1Rect">
              <a:avLst>
                <a:gd name="adj" fmla="val 5000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2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BB</a:t>
              </a:r>
              <a:endParaRPr kumimoji="1"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65" name="四角形: 1 つの角を切り取る 64">
              <a:extLst>
                <a:ext uri="{FF2B5EF4-FFF2-40B4-BE49-F238E27FC236}">
                  <a16:creationId xmlns:a16="http://schemas.microsoft.com/office/drawing/2014/main" id="{43D8C5BE-0ED6-21E5-31A4-C8447C2517EF}"/>
                </a:ext>
              </a:extLst>
            </p:cNvPr>
            <p:cNvSpPr/>
            <p:nvPr/>
          </p:nvSpPr>
          <p:spPr>
            <a:xfrm>
              <a:off x="7501125" y="3229814"/>
              <a:ext cx="546287" cy="193042"/>
            </a:xfrm>
            <a:prstGeom prst="snip1Rect">
              <a:avLst>
                <a:gd name="adj" fmla="val 5000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2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B</a:t>
              </a:r>
              <a:endParaRPr kumimoji="1"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66" name="四角形: 1 つの角を切り取る 65">
              <a:extLst>
                <a:ext uri="{FF2B5EF4-FFF2-40B4-BE49-F238E27FC236}">
                  <a16:creationId xmlns:a16="http://schemas.microsoft.com/office/drawing/2014/main" id="{F2D423B9-2549-3574-4E74-860E89C84826}"/>
                </a:ext>
              </a:extLst>
            </p:cNvPr>
            <p:cNvSpPr/>
            <p:nvPr/>
          </p:nvSpPr>
          <p:spPr>
            <a:xfrm>
              <a:off x="7501125" y="3608107"/>
              <a:ext cx="546287" cy="193042"/>
            </a:xfrm>
            <a:prstGeom prst="snip1Rect">
              <a:avLst>
                <a:gd name="adj" fmla="val 5000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2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0</a:t>
              </a:r>
              <a:endParaRPr kumimoji="1"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67" name="四角形: 1 つの角を切り取る 66">
              <a:extLst>
                <a:ext uri="{FF2B5EF4-FFF2-40B4-BE49-F238E27FC236}">
                  <a16:creationId xmlns:a16="http://schemas.microsoft.com/office/drawing/2014/main" id="{09E35380-23A9-7C61-ADA4-4A1087C5618E}"/>
                </a:ext>
              </a:extLst>
            </p:cNvPr>
            <p:cNvSpPr/>
            <p:nvPr/>
          </p:nvSpPr>
          <p:spPr>
            <a:xfrm>
              <a:off x="7501125" y="3417139"/>
              <a:ext cx="546287" cy="193042"/>
            </a:xfrm>
            <a:prstGeom prst="snip1Rect">
              <a:avLst>
                <a:gd name="adj" fmla="val 5000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en-US" altLang="ja-JP" sz="12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C</a:t>
              </a:r>
              <a:endParaRPr kumimoji="1" lang="ja-JP" altLang="en-US" sz="12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68" name="楕円 67">
              <a:extLst>
                <a:ext uri="{FF2B5EF4-FFF2-40B4-BE49-F238E27FC236}">
                  <a16:creationId xmlns:a16="http://schemas.microsoft.com/office/drawing/2014/main" id="{9CB413F7-B0D0-2F0F-7D24-918989EEF7B1}"/>
                </a:ext>
              </a:extLst>
            </p:cNvPr>
            <p:cNvSpPr/>
            <p:nvPr/>
          </p:nvSpPr>
          <p:spPr>
            <a:xfrm>
              <a:off x="8309510" y="2448632"/>
              <a:ext cx="239224" cy="247296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500" dirty="0">
                <a:solidFill>
                  <a:schemeClr val="tx1"/>
                </a:solidFill>
              </a:endParaRPr>
            </a:p>
          </p:txBody>
        </p:sp>
        <p:sp>
          <p:nvSpPr>
            <p:cNvPr id="69" name="楕円 68">
              <a:extLst>
                <a:ext uri="{FF2B5EF4-FFF2-40B4-BE49-F238E27FC236}">
                  <a16:creationId xmlns:a16="http://schemas.microsoft.com/office/drawing/2014/main" id="{4A3F7CA8-3869-EB46-BD86-A470D1D7DA40}"/>
                </a:ext>
              </a:extLst>
            </p:cNvPr>
            <p:cNvSpPr/>
            <p:nvPr/>
          </p:nvSpPr>
          <p:spPr>
            <a:xfrm>
              <a:off x="8309518" y="2623611"/>
              <a:ext cx="239226" cy="255218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500" dirty="0">
                <a:solidFill>
                  <a:schemeClr val="tx1"/>
                </a:solidFill>
              </a:endParaRPr>
            </a:p>
          </p:txBody>
        </p:sp>
        <p:sp>
          <p:nvSpPr>
            <p:cNvPr id="70" name="楕円 69">
              <a:extLst>
                <a:ext uri="{FF2B5EF4-FFF2-40B4-BE49-F238E27FC236}">
                  <a16:creationId xmlns:a16="http://schemas.microsoft.com/office/drawing/2014/main" id="{4762FE60-638A-CB8B-C6FA-79CE029FFE93}"/>
                </a:ext>
              </a:extLst>
            </p:cNvPr>
            <p:cNvSpPr/>
            <p:nvPr/>
          </p:nvSpPr>
          <p:spPr>
            <a:xfrm>
              <a:off x="8309516" y="2826931"/>
              <a:ext cx="239226" cy="255218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500" dirty="0">
                <a:solidFill>
                  <a:schemeClr val="tx1"/>
                </a:solidFill>
              </a:endParaRPr>
            </a:p>
          </p:txBody>
        </p:sp>
        <p:sp>
          <p:nvSpPr>
            <p:cNvPr id="71" name="楕円 70">
              <a:extLst>
                <a:ext uri="{FF2B5EF4-FFF2-40B4-BE49-F238E27FC236}">
                  <a16:creationId xmlns:a16="http://schemas.microsoft.com/office/drawing/2014/main" id="{7DA322F1-FE33-0D92-C2D9-621C10C48945}"/>
                </a:ext>
              </a:extLst>
            </p:cNvPr>
            <p:cNvSpPr/>
            <p:nvPr/>
          </p:nvSpPr>
          <p:spPr>
            <a:xfrm>
              <a:off x="8309514" y="3019449"/>
              <a:ext cx="239226" cy="255218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500" dirty="0">
                <a:solidFill>
                  <a:schemeClr val="tx1"/>
                </a:solidFill>
              </a:endParaRPr>
            </a:p>
          </p:txBody>
        </p:sp>
        <p:sp>
          <p:nvSpPr>
            <p:cNvPr id="72" name="楕円 71">
              <a:extLst>
                <a:ext uri="{FF2B5EF4-FFF2-40B4-BE49-F238E27FC236}">
                  <a16:creationId xmlns:a16="http://schemas.microsoft.com/office/drawing/2014/main" id="{B9766C58-12EF-E255-4C8D-ECFBED3B7E61}"/>
                </a:ext>
              </a:extLst>
            </p:cNvPr>
            <p:cNvSpPr/>
            <p:nvPr/>
          </p:nvSpPr>
          <p:spPr>
            <a:xfrm>
              <a:off x="8309512" y="3211967"/>
              <a:ext cx="239226" cy="255218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500" dirty="0">
                <a:solidFill>
                  <a:schemeClr val="tx1"/>
                </a:solidFill>
              </a:endParaRPr>
            </a:p>
          </p:txBody>
        </p:sp>
        <p:sp>
          <p:nvSpPr>
            <p:cNvPr id="73" name="楕円 72">
              <a:extLst>
                <a:ext uri="{FF2B5EF4-FFF2-40B4-BE49-F238E27FC236}">
                  <a16:creationId xmlns:a16="http://schemas.microsoft.com/office/drawing/2014/main" id="{79F5A771-CF34-B14F-B04C-8911DFC8530D}"/>
                </a:ext>
              </a:extLst>
            </p:cNvPr>
            <p:cNvSpPr/>
            <p:nvPr/>
          </p:nvSpPr>
          <p:spPr>
            <a:xfrm>
              <a:off x="8309510" y="3404485"/>
              <a:ext cx="239226" cy="255218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500" dirty="0">
                <a:solidFill>
                  <a:schemeClr val="tx1"/>
                </a:solidFill>
              </a:endParaRPr>
            </a:p>
          </p:txBody>
        </p:sp>
        <p:sp>
          <p:nvSpPr>
            <p:cNvPr id="74" name="楕円 73">
              <a:extLst>
                <a:ext uri="{FF2B5EF4-FFF2-40B4-BE49-F238E27FC236}">
                  <a16:creationId xmlns:a16="http://schemas.microsoft.com/office/drawing/2014/main" id="{54F6940D-B212-2C65-7151-E223153E5A45}"/>
                </a:ext>
              </a:extLst>
            </p:cNvPr>
            <p:cNvSpPr/>
            <p:nvPr/>
          </p:nvSpPr>
          <p:spPr>
            <a:xfrm>
              <a:off x="8309508" y="3597003"/>
              <a:ext cx="239226" cy="255218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sz="500" dirty="0">
                <a:solidFill>
                  <a:schemeClr val="tx1"/>
                </a:solidFill>
              </a:endParaRPr>
            </a:p>
          </p:txBody>
        </p:sp>
        <p:sp>
          <p:nvSpPr>
            <p:cNvPr id="75" name="テキスト ボックス 74">
              <a:extLst>
                <a:ext uri="{FF2B5EF4-FFF2-40B4-BE49-F238E27FC236}">
                  <a16:creationId xmlns:a16="http://schemas.microsoft.com/office/drawing/2014/main" id="{80F6F971-264B-9FC3-4436-B634BA5ED607}"/>
                </a:ext>
              </a:extLst>
            </p:cNvPr>
            <p:cNvSpPr txBox="1"/>
            <p:nvPr/>
          </p:nvSpPr>
          <p:spPr>
            <a:xfrm>
              <a:off x="8231294" y="2446242"/>
              <a:ext cx="44285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000" dirty="0"/>
                <a:t>100</a:t>
              </a:r>
              <a:endParaRPr kumimoji="1" lang="ja-JP" altLang="en-US" sz="1000" dirty="0"/>
            </a:p>
          </p:txBody>
        </p:sp>
        <p:sp>
          <p:nvSpPr>
            <p:cNvPr id="76" name="テキスト ボックス 75">
              <a:extLst>
                <a:ext uri="{FF2B5EF4-FFF2-40B4-BE49-F238E27FC236}">
                  <a16:creationId xmlns:a16="http://schemas.microsoft.com/office/drawing/2014/main" id="{1037D076-2928-DEB5-29FB-7EBACC85FB2F}"/>
                </a:ext>
              </a:extLst>
            </p:cNvPr>
            <p:cNvSpPr txBox="1"/>
            <p:nvPr/>
          </p:nvSpPr>
          <p:spPr>
            <a:xfrm>
              <a:off x="8204710" y="2642942"/>
              <a:ext cx="44285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000" dirty="0"/>
                <a:t>80</a:t>
              </a:r>
            </a:p>
          </p:txBody>
        </p:sp>
        <p:sp>
          <p:nvSpPr>
            <p:cNvPr id="77" name="テキスト ボックス 76">
              <a:extLst>
                <a:ext uri="{FF2B5EF4-FFF2-40B4-BE49-F238E27FC236}">
                  <a16:creationId xmlns:a16="http://schemas.microsoft.com/office/drawing/2014/main" id="{599F8AB0-3752-A8C5-9BD9-841BCAC9D134}"/>
                </a:ext>
              </a:extLst>
            </p:cNvPr>
            <p:cNvSpPr txBox="1"/>
            <p:nvPr/>
          </p:nvSpPr>
          <p:spPr>
            <a:xfrm>
              <a:off x="8209433" y="2827633"/>
              <a:ext cx="44285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000" dirty="0"/>
                <a:t>40</a:t>
              </a:r>
              <a:endParaRPr kumimoji="1" lang="ja-JP" altLang="en-US" sz="1000" dirty="0"/>
            </a:p>
          </p:txBody>
        </p:sp>
        <p:sp>
          <p:nvSpPr>
            <p:cNvPr id="78" name="テキスト ボックス 77">
              <a:extLst>
                <a:ext uri="{FF2B5EF4-FFF2-40B4-BE49-F238E27FC236}">
                  <a16:creationId xmlns:a16="http://schemas.microsoft.com/office/drawing/2014/main" id="{939ED5EB-4C01-6D32-6281-FB72C8F01D5B}"/>
                </a:ext>
              </a:extLst>
            </p:cNvPr>
            <p:cNvSpPr txBox="1"/>
            <p:nvPr/>
          </p:nvSpPr>
          <p:spPr>
            <a:xfrm>
              <a:off x="8204710" y="3033417"/>
              <a:ext cx="44285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kumimoji="1" lang="en-US" altLang="ja-JP" sz="1000" dirty="0"/>
                <a:t>25</a:t>
              </a:r>
              <a:endParaRPr kumimoji="1" lang="ja-JP" altLang="en-US" sz="1000" dirty="0"/>
            </a:p>
          </p:txBody>
        </p:sp>
        <p:sp>
          <p:nvSpPr>
            <p:cNvPr id="79" name="テキスト ボックス 78">
              <a:extLst>
                <a:ext uri="{FF2B5EF4-FFF2-40B4-BE49-F238E27FC236}">
                  <a16:creationId xmlns:a16="http://schemas.microsoft.com/office/drawing/2014/main" id="{75982506-DEBA-EB5A-00A8-06E4CC4815EB}"/>
                </a:ext>
              </a:extLst>
            </p:cNvPr>
            <p:cNvSpPr txBox="1"/>
            <p:nvPr/>
          </p:nvSpPr>
          <p:spPr>
            <a:xfrm>
              <a:off x="8275605" y="3232140"/>
              <a:ext cx="44285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000" dirty="0"/>
                <a:t>10</a:t>
              </a:r>
              <a:endParaRPr kumimoji="1" lang="ja-JP" altLang="en-US" sz="1000" dirty="0"/>
            </a:p>
          </p:txBody>
        </p:sp>
        <p:sp>
          <p:nvSpPr>
            <p:cNvPr id="80" name="テキスト ボックス 79">
              <a:extLst>
                <a:ext uri="{FF2B5EF4-FFF2-40B4-BE49-F238E27FC236}">
                  <a16:creationId xmlns:a16="http://schemas.microsoft.com/office/drawing/2014/main" id="{6630C5C8-13C9-09BF-BFF8-E2D4F65AB017}"/>
                </a:ext>
              </a:extLst>
            </p:cNvPr>
            <p:cNvSpPr txBox="1"/>
            <p:nvPr/>
          </p:nvSpPr>
          <p:spPr>
            <a:xfrm>
              <a:off x="8275605" y="3417359"/>
              <a:ext cx="44285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000" dirty="0"/>
                <a:t>10</a:t>
              </a:r>
              <a:endParaRPr kumimoji="1" lang="ja-JP" altLang="en-US" sz="1000" dirty="0"/>
            </a:p>
          </p:txBody>
        </p:sp>
        <p:sp>
          <p:nvSpPr>
            <p:cNvPr id="81" name="テキスト ボックス 80">
              <a:extLst>
                <a:ext uri="{FF2B5EF4-FFF2-40B4-BE49-F238E27FC236}">
                  <a16:creationId xmlns:a16="http://schemas.microsoft.com/office/drawing/2014/main" id="{66DE0720-BB57-956D-4589-07802FB28C7C}"/>
                </a:ext>
              </a:extLst>
            </p:cNvPr>
            <p:cNvSpPr txBox="1"/>
            <p:nvPr/>
          </p:nvSpPr>
          <p:spPr>
            <a:xfrm>
              <a:off x="8309508" y="3624272"/>
              <a:ext cx="44285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sz="1000" dirty="0"/>
                <a:t>0</a:t>
              </a:r>
              <a:endParaRPr kumimoji="1" lang="ja-JP" altLang="en-US" sz="1000" dirty="0"/>
            </a:p>
          </p:txBody>
        </p:sp>
        <p:grpSp>
          <p:nvGrpSpPr>
            <p:cNvPr id="112" name="グループ化 111">
              <a:extLst>
                <a:ext uri="{FF2B5EF4-FFF2-40B4-BE49-F238E27FC236}">
                  <a16:creationId xmlns:a16="http://schemas.microsoft.com/office/drawing/2014/main" id="{2BE3BA34-0125-FEB5-AC55-36932E0F86FC}"/>
                </a:ext>
              </a:extLst>
            </p:cNvPr>
            <p:cNvGrpSpPr/>
            <p:nvPr/>
          </p:nvGrpSpPr>
          <p:grpSpPr>
            <a:xfrm>
              <a:off x="7547375" y="4127765"/>
              <a:ext cx="267102" cy="256711"/>
              <a:chOff x="5562604" y="4114313"/>
              <a:chExt cx="267102" cy="256711"/>
            </a:xfrm>
          </p:grpSpPr>
          <p:sp>
            <p:nvSpPr>
              <p:cNvPr id="83" name="楕円 82">
                <a:extLst>
                  <a:ext uri="{FF2B5EF4-FFF2-40B4-BE49-F238E27FC236}">
                    <a16:creationId xmlns:a16="http://schemas.microsoft.com/office/drawing/2014/main" id="{081A01CB-6889-3292-7902-F2946833787C}"/>
                  </a:ext>
                </a:extLst>
              </p:cNvPr>
              <p:cNvSpPr/>
              <p:nvPr/>
            </p:nvSpPr>
            <p:spPr>
              <a:xfrm>
                <a:off x="5597917" y="4114313"/>
                <a:ext cx="231789" cy="241249"/>
              </a:xfrm>
              <a:prstGeom prst="ellipse">
                <a:avLst/>
              </a:prstGeom>
              <a:solidFill>
                <a:schemeClr val="bg1"/>
              </a:solidFill>
              <a:ln>
                <a:solidFill>
                  <a:schemeClr val="bg2">
                    <a:lumMod val="75000"/>
                  </a:schemeClr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kumimoji="1" lang="en-US" altLang="ja-JP" dirty="0">
                  <a:solidFill>
                    <a:schemeClr val="tx1"/>
                  </a:solidFill>
                </a:endParaRPr>
              </a:p>
            </p:txBody>
          </p:sp>
          <p:sp>
            <p:nvSpPr>
              <p:cNvPr id="93" name="テキスト ボックス 92">
                <a:extLst>
                  <a:ext uri="{FF2B5EF4-FFF2-40B4-BE49-F238E27FC236}">
                    <a16:creationId xmlns:a16="http://schemas.microsoft.com/office/drawing/2014/main" id="{6E170F40-6CE8-16A2-D1EC-F3322FCD4876}"/>
                  </a:ext>
                </a:extLst>
              </p:cNvPr>
              <p:cNvSpPr txBox="1"/>
              <p:nvPr/>
            </p:nvSpPr>
            <p:spPr>
              <a:xfrm>
                <a:off x="5562604" y="4124803"/>
                <a:ext cx="256065" cy="24622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kumimoji="1" lang="ja-JP" altLang="en-US" sz="1000" dirty="0">
                    <a:latin typeface="メイリオ" panose="020B0604030504040204" pitchFamily="50" charset="-128"/>
                    <a:ea typeface="メイリオ" panose="020B0604030504040204" pitchFamily="50" charset="-128"/>
                  </a:rPr>
                  <a:t>５</a:t>
                </a:r>
              </a:p>
            </p:txBody>
          </p:sp>
        </p:grpSp>
        <p:sp>
          <p:nvSpPr>
            <p:cNvPr id="84" name="四角形: 1 つの角を切り取る 83">
              <a:extLst>
                <a:ext uri="{FF2B5EF4-FFF2-40B4-BE49-F238E27FC236}">
                  <a16:creationId xmlns:a16="http://schemas.microsoft.com/office/drawing/2014/main" id="{F149B5B5-E910-6D16-312A-8CA01E871792}"/>
                </a:ext>
              </a:extLst>
            </p:cNvPr>
            <p:cNvSpPr/>
            <p:nvPr/>
          </p:nvSpPr>
          <p:spPr>
            <a:xfrm>
              <a:off x="7541273" y="4738987"/>
              <a:ext cx="546287" cy="193042"/>
            </a:xfrm>
            <a:prstGeom prst="snip1Rect">
              <a:avLst>
                <a:gd name="adj" fmla="val 5000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2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０個</a:t>
              </a:r>
            </a:p>
          </p:txBody>
        </p:sp>
        <p:sp>
          <p:nvSpPr>
            <p:cNvPr id="87" name="四角形: 1 つの角を切り取る 86">
              <a:extLst>
                <a:ext uri="{FF2B5EF4-FFF2-40B4-BE49-F238E27FC236}">
                  <a16:creationId xmlns:a16="http://schemas.microsoft.com/office/drawing/2014/main" id="{628F28D1-7838-6394-21F3-DB481803537E}"/>
                </a:ext>
              </a:extLst>
            </p:cNvPr>
            <p:cNvSpPr/>
            <p:nvPr/>
          </p:nvSpPr>
          <p:spPr>
            <a:xfrm>
              <a:off x="7535726" y="4915176"/>
              <a:ext cx="546287" cy="193042"/>
            </a:xfrm>
            <a:prstGeom prst="snip1Rect">
              <a:avLst>
                <a:gd name="adj" fmla="val 5000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2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１個</a:t>
              </a:r>
            </a:p>
          </p:txBody>
        </p:sp>
        <p:sp>
          <p:nvSpPr>
            <p:cNvPr id="88" name="四角形: 1 つの角を切り取る 87">
              <a:extLst>
                <a:ext uri="{FF2B5EF4-FFF2-40B4-BE49-F238E27FC236}">
                  <a16:creationId xmlns:a16="http://schemas.microsoft.com/office/drawing/2014/main" id="{8A2BFF8D-E743-5E82-85C4-DC0658468AD3}"/>
                </a:ext>
              </a:extLst>
            </p:cNvPr>
            <p:cNvSpPr/>
            <p:nvPr/>
          </p:nvSpPr>
          <p:spPr>
            <a:xfrm>
              <a:off x="7541619" y="5110889"/>
              <a:ext cx="546287" cy="193042"/>
            </a:xfrm>
            <a:prstGeom prst="snip1Rect">
              <a:avLst>
                <a:gd name="adj" fmla="val 5000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2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２個</a:t>
              </a:r>
            </a:p>
          </p:txBody>
        </p:sp>
        <p:sp>
          <p:nvSpPr>
            <p:cNvPr id="89" name="楕円 88">
              <a:extLst>
                <a:ext uri="{FF2B5EF4-FFF2-40B4-BE49-F238E27FC236}">
                  <a16:creationId xmlns:a16="http://schemas.microsoft.com/office/drawing/2014/main" id="{8D2F2332-BEC2-BDF7-A3D6-DFDEC6194538}"/>
                </a:ext>
              </a:extLst>
            </p:cNvPr>
            <p:cNvSpPr/>
            <p:nvPr/>
          </p:nvSpPr>
          <p:spPr>
            <a:xfrm>
              <a:off x="8442359" y="5121839"/>
              <a:ext cx="231789" cy="241249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 altLang="ja-JP" dirty="0">
                <a:solidFill>
                  <a:schemeClr val="tx1"/>
                </a:solidFill>
              </a:endParaRPr>
            </a:p>
          </p:txBody>
        </p:sp>
        <p:sp>
          <p:nvSpPr>
            <p:cNvPr id="90" name="楕円 89">
              <a:extLst>
                <a:ext uri="{FF2B5EF4-FFF2-40B4-BE49-F238E27FC236}">
                  <a16:creationId xmlns:a16="http://schemas.microsoft.com/office/drawing/2014/main" id="{0FB22C20-C2DE-BE1E-39FF-61C113ED15F1}"/>
                </a:ext>
              </a:extLst>
            </p:cNvPr>
            <p:cNvSpPr/>
            <p:nvPr/>
          </p:nvSpPr>
          <p:spPr>
            <a:xfrm>
              <a:off x="8442359" y="4911035"/>
              <a:ext cx="231789" cy="241249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 altLang="ja-JP" dirty="0">
                <a:solidFill>
                  <a:schemeClr val="tx1"/>
                </a:solidFill>
              </a:endParaRPr>
            </a:p>
          </p:txBody>
        </p:sp>
        <p:sp>
          <p:nvSpPr>
            <p:cNvPr id="91" name="楕円 90">
              <a:extLst>
                <a:ext uri="{FF2B5EF4-FFF2-40B4-BE49-F238E27FC236}">
                  <a16:creationId xmlns:a16="http://schemas.microsoft.com/office/drawing/2014/main" id="{D634C175-138D-A16F-D2F1-C7B6358A043B}"/>
                </a:ext>
              </a:extLst>
            </p:cNvPr>
            <p:cNvSpPr/>
            <p:nvPr/>
          </p:nvSpPr>
          <p:spPr>
            <a:xfrm>
              <a:off x="8452470" y="4693889"/>
              <a:ext cx="231789" cy="241249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en-US" altLang="ja-JP" dirty="0">
                <a:solidFill>
                  <a:schemeClr val="tx1"/>
                </a:solidFill>
              </a:endParaRPr>
            </a:p>
          </p:txBody>
        </p:sp>
        <p:sp>
          <p:nvSpPr>
            <p:cNvPr id="94" name="テキスト ボックス 93">
              <a:extLst>
                <a:ext uri="{FF2B5EF4-FFF2-40B4-BE49-F238E27FC236}">
                  <a16:creationId xmlns:a16="http://schemas.microsoft.com/office/drawing/2014/main" id="{31ECA72C-BC49-1ECA-5D5F-03180288AA1D}"/>
                </a:ext>
              </a:extLst>
            </p:cNvPr>
            <p:cNvSpPr txBox="1"/>
            <p:nvPr/>
          </p:nvSpPr>
          <p:spPr>
            <a:xfrm>
              <a:off x="8426137" y="4710325"/>
              <a:ext cx="256065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 sz="10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０</a:t>
              </a:r>
              <a:endParaRPr kumimoji="1"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95" name="テキスト ボックス 94">
              <a:extLst>
                <a:ext uri="{FF2B5EF4-FFF2-40B4-BE49-F238E27FC236}">
                  <a16:creationId xmlns:a16="http://schemas.microsoft.com/office/drawing/2014/main" id="{365D215E-0434-15AD-DB21-F1AFA993DA7E}"/>
                </a:ext>
              </a:extLst>
            </p:cNvPr>
            <p:cNvSpPr txBox="1"/>
            <p:nvPr/>
          </p:nvSpPr>
          <p:spPr>
            <a:xfrm>
              <a:off x="8412400" y="4932443"/>
              <a:ext cx="256065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 sz="10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２</a:t>
              </a:r>
              <a:endParaRPr kumimoji="1"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96" name="テキスト ボックス 95">
              <a:extLst>
                <a:ext uri="{FF2B5EF4-FFF2-40B4-BE49-F238E27FC236}">
                  <a16:creationId xmlns:a16="http://schemas.microsoft.com/office/drawing/2014/main" id="{96D90A90-E9BD-D6D9-20BB-C9A38C31B9FC}"/>
                </a:ext>
              </a:extLst>
            </p:cNvPr>
            <p:cNvSpPr txBox="1"/>
            <p:nvPr/>
          </p:nvSpPr>
          <p:spPr>
            <a:xfrm>
              <a:off x="8419899" y="5148735"/>
              <a:ext cx="256065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 sz="1000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５</a:t>
              </a:r>
              <a:endParaRPr kumimoji="1"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50" name="四角形: 1 つの角を切り取る 49">
              <a:extLst>
                <a:ext uri="{FF2B5EF4-FFF2-40B4-BE49-F238E27FC236}">
                  <a16:creationId xmlns:a16="http://schemas.microsoft.com/office/drawing/2014/main" id="{59593378-EBD1-080B-5352-24C014EE29C3}"/>
                </a:ext>
              </a:extLst>
            </p:cNvPr>
            <p:cNvSpPr/>
            <p:nvPr/>
          </p:nvSpPr>
          <p:spPr>
            <a:xfrm>
              <a:off x="4359858" y="2433383"/>
              <a:ext cx="2348367" cy="261000"/>
            </a:xfrm>
            <a:prstGeom prst="snip1Rect">
              <a:avLst>
                <a:gd name="adj" fmla="val 5000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4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同じ３種類のシンボル</a:t>
              </a:r>
            </a:p>
          </p:txBody>
        </p:sp>
        <p:sp>
          <p:nvSpPr>
            <p:cNvPr id="51" name="四角形: 1 つの角を切り取る 50">
              <a:extLst>
                <a:ext uri="{FF2B5EF4-FFF2-40B4-BE49-F238E27FC236}">
                  <a16:creationId xmlns:a16="http://schemas.microsoft.com/office/drawing/2014/main" id="{7B1BD2B9-00A3-1DA4-3439-7A0996551407}"/>
                </a:ext>
              </a:extLst>
            </p:cNvPr>
            <p:cNvSpPr/>
            <p:nvPr/>
          </p:nvSpPr>
          <p:spPr>
            <a:xfrm>
              <a:off x="4371294" y="4084091"/>
              <a:ext cx="2345630" cy="261000"/>
            </a:xfrm>
            <a:prstGeom prst="snip1Rect">
              <a:avLst>
                <a:gd name="adj" fmla="val 5000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4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すべてのシンボルがバー</a:t>
              </a:r>
            </a:p>
          </p:txBody>
        </p:sp>
        <p:sp>
          <p:nvSpPr>
            <p:cNvPr id="52" name="四角形: 1 つの角を切り取る 51">
              <a:extLst>
                <a:ext uri="{FF2B5EF4-FFF2-40B4-BE49-F238E27FC236}">
                  <a16:creationId xmlns:a16="http://schemas.microsoft.com/office/drawing/2014/main" id="{42F2E5AE-C500-607E-0AA3-1727A342C80F}"/>
                </a:ext>
              </a:extLst>
            </p:cNvPr>
            <p:cNvSpPr/>
            <p:nvPr/>
          </p:nvSpPr>
          <p:spPr>
            <a:xfrm>
              <a:off x="4359856" y="4804143"/>
              <a:ext cx="2348369" cy="261000"/>
            </a:xfrm>
            <a:prstGeom prst="snip1Rect">
              <a:avLst>
                <a:gd name="adj" fmla="val 5000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kumimoji="1" lang="ja-JP" altLang="en-US" sz="14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チェリーの数を数える</a:t>
              </a:r>
            </a:p>
          </p:txBody>
        </p:sp>
        <p:cxnSp>
          <p:nvCxnSpPr>
            <p:cNvPr id="97" name="直線矢印コネクタ 96">
              <a:extLst>
                <a:ext uri="{FF2B5EF4-FFF2-40B4-BE49-F238E27FC236}">
                  <a16:creationId xmlns:a16="http://schemas.microsoft.com/office/drawing/2014/main" id="{EA0B11C0-ADBF-CFE4-26A7-11FB32DD3ECA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4553874" y="2816451"/>
              <a:ext cx="8310" cy="1206905"/>
            </a:xfrm>
            <a:prstGeom prst="straightConnector1">
              <a:avLst/>
            </a:prstGeom>
            <a:ln w="57150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直線矢印コネクタ 99">
              <a:extLst>
                <a:ext uri="{FF2B5EF4-FFF2-40B4-BE49-F238E27FC236}">
                  <a16:creationId xmlns:a16="http://schemas.microsoft.com/office/drawing/2014/main" id="{6F52A7E9-09AB-48FF-290E-CB7A862BD967}"/>
                </a:ext>
              </a:extLst>
            </p:cNvPr>
            <p:cNvCxnSpPr>
              <a:cxnSpLocks/>
            </p:cNvCxnSpPr>
            <p:nvPr/>
          </p:nvCxnSpPr>
          <p:spPr>
            <a:xfrm>
              <a:off x="4540234" y="4405826"/>
              <a:ext cx="2618" cy="375083"/>
            </a:xfrm>
            <a:prstGeom prst="straightConnector1">
              <a:avLst/>
            </a:prstGeom>
            <a:ln w="57150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直線矢印コネクタ 101">
              <a:extLst>
                <a:ext uri="{FF2B5EF4-FFF2-40B4-BE49-F238E27FC236}">
                  <a16:creationId xmlns:a16="http://schemas.microsoft.com/office/drawing/2014/main" id="{66F8721C-69FE-1F28-5CE3-EC7BC1239CB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00397" y="2571265"/>
              <a:ext cx="529789" cy="2559"/>
            </a:xfrm>
            <a:prstGeom prst="straightConnector1">
              <a:avLst/>
            </a:prstGeom>
            <a:ln w="57150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直線矢印コネクタ 103">
              <a:extLst>
                <a:ext uri="{FF2B5EF4-FFF2-40B4-BE49-F238E27FC236}">
                  <a16:creationId xmlns:a16="http://schemas.microsoft.com/office/drawing/2014/main" id="{041CF31C-6322-64B4-41FA-EFD045D54EF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23455" y="4238462"/>
              <a:ext cx="529789" cy="2559"/>
            </a:xfrm>
            <a:prstGeom prst="straightConnector1">
              <a:avLst/>
            </a:prstGeom>
            <a:ln w="57150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直線矢印コネクタ 104">
              <a:extLst>
                <a:ext uri="{FF2B5EF4-FFF2-40B4-BE49-F238E27FC236}">
                  <a16:creationId xmlns:a16="http://schemas.microsoft.com/office/drawing/2014/main" id="{BF99CF8B-41ED-77F2-2B6F-734E2C77EA4A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13463" y="4986336"/>
              <a:ext cx="529789" cy="2559"/>
            </a:xfrm>
            <a:prstGeom prst="straightConnector1">
              <a:avLst/>
            </a:prstGeom>
            <a:ln w="57150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6" name="テキスト ボックス 105">
              <a:extLst>
                <a:ext uri="{FF2B5EF4-FFF2-40B4-BE49-F238E27FC236}">
                  <a16:creationId xmlns:a16="http://schemas.microsoft.com/office/drawing/2014/main" id="{E6D5B7F7-BD21-092E-7742-88B85C42F7FD}"/>
                </a:ext>
              </a:extLst>
            </p:cNvPr>
            <p:cNvSpPr txBox="1"/>
            <p:nvPr/>
          </p:nvSpPr>
          <p:spPr>
            <a:xfrm>
              <a:off x="6677799" y="2259326"/>
              <a:ext cx="85792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dirty="0">
                  <a:solidFill>
                    <a:schemeClr val="accent4">
                      <a:lumMod val="75000"/>
                    </a:schemeClr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TRUE</a:t>
              </a:r>
              <a:endParaRPr kumimoji="1" lang="ja-JP" altLang="en-US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107" name="テキスト ボックス 106">
              <a:extLst>
                <a:ext uri="{FF2B5EF4-FFF2-40B4-BE49-F238E27FC236}">
                  <a16:creationId xmlns:a16="http://schemas.microsoft.com/office/drawing/2014/main" id="{29A0DF6F-A6BC-DFF3-D078-E8A8BBADF463}"/>
                </a:ext>
              </a:extLst>
            </p:cNvPr>
            <p:cNvSpPr txBox="1"/>
            <p:nvPr/>
          </p:nvSpPr>
          <p:spPr>
            <a:xfrm>
              <a:off x="6675823" y="3920909"/>
              <a:ext cx="85792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dirty="0">
                  <a:solidFill>
                    <a:schemeClr val="accent4">
                      <a:lumMod val="75000"/>
                    </a:schemeClr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TRUE</a:t>
              </a:r>
              <a:endParaRPr kumimoji="1" lang="ja-JP" altLang="en-US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108" name="テキスト ボックス 107">
              <a:extLst>
                <a:ext uri="{FF2B5EF4-FFF2-40B4-BE49-F238E27FC236}">
                  <a16:creationId xmlns:a16="http://schemas.microsoft.com/office/drawing/2014/main" id="{76A9BC8B-2D81-E023-F505-F29343FD7744}"/>
                </a:ext>
              </a:extLst>
            </p:cNvPr>
            <p:cNvSpPr txBox="1"/>
            <p:nvPr/>
          </p:nvSpPr>
          <p:spPr>
            <a:xfrm>
              <a:off x="6670893" y="4682075"/>
              <a:ext cx="857927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dirty="0">
                  <a:solidFill>
                    <a:schemeClr val="accent4">
                      <a:lumMod val="75000"/>
                    </a:schemeClr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TRUE</a:t>
              </a:r>
              <a:endParaRPr kumimoji="1" lang="ja-JP" altLang="en-US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109" name="テキスト ボックス 108">
              <a:extLst>
                <a:ext uri="{FF2B5EF4-FFF2-40B4-BE49-F238E27FC236}">
                  <a16:creationId xmlns:a16="http://schemas.microsoft.com/office/drawing/2014/main" id="{A8E0598C-CFE7-FBB0-6BEC-CD5DBAF9FB47}"/>
                </a:ext>
              </a:extLst>
            </p:cNvPr>
            <p:cNvSpPr txBox="1"/>
            <p:nvPr/>
          </p:nvSpPr>
          <p:spPr>
            <a:xfrm>
              <a:off x="4591359" y="3208900"/>
              <a:ext cx="111809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dirty="0">
                  <a:solidFill>
                    <a:schemeClr val="accent4">
                      <a:lumMod val="75000"/>
                    </a:schemeClr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FALSE</a:t>
              </a:r>
              <a:endParaRPr kumimoji="1" lang="ja-JP" altLang="en-US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110" name="テキスト ボックス 109">
              <a:extLst>
                <a:ext uri="{FF2B5EF4-FFF2-40B4-BE49-F238E27FC236}">
                  <a16:creationId xmlns:a16="http://schemas.microsoft.com/office/drawing/2014/main" id="{7A539017-5764-E807-4912-E1DA64646604}"/>
                </a:ext>
              </a:extLst>
            </p:cNvPr>
            <p:cNvSpPr txBox="1"/>
            <p:nvPr/>
          </p:nvSpPr>
          <p:spPr>
            <a:xfrm>
              <a:off x="4594319" y="4459429"/>
              <a:ext cx="111809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en-US" altLang="ja-JP" dirty="0">
                  <a:solidFill>
                    <a:schemeClr val="accent4">
                      <a:lumMod val="75000"/>
                    </a:schemeClr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FALSE</a:t>
              </a:r>
              <a:endParaRPr kumimoji="1" lang="ja-JP" altLang="en-US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cxnSp>
          <p:nvCxnSpPr>
            <p:cNvPr id="122" name="直線矢印コネクタ 121">
              <a:extLst>
                <a:ext uri="{FF2B5EF4-FFF2-40B4-BE49-F238E27FC236}">
                  <a16:creationId xmlns:a16="http://schemas.microsoft.com/office/drawing/2014/main" id="{240C3EE4-AD19-09E5-D154-5DFEE63C07AF}"/>
                </a:ext>
              </a:extLst>
            </p:cNvPr>
            <p:cNvCxnSpPr>
              <a:cxnSpLocks/>
            </p:cNvCxnSpPr>
            <p:nvPr/>
          </p:nvCxnSpPr>
          <p:spPr>
            <a:xfrm>
              <a:off x="8096144" y="2591258"/>
              <a:ext cx="180000" cy="0"/>
            </a:xfrm>
            <a:prstGeom prst="straightConnector1">
              <a:avLst/>
            </a:prstGeom>
            <a:ln w="28575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直線矢印コネクタ 125">
              <a:extLst>
                <a:ext uri="{FF2B5EF4-FFF2-40B4-BE49-F238E27FC236}">
                  <a16:creationId xmlns:a16="http://schemas.microsoft.com/office/drawing/2014/main" id="{F5585D4F-DA0C-6F49-F18D-360EC3087463}"/>
                </a:ext>
              </a:extLst>
            </p:cNvPr>
            <p:cNvCxnSpPr>
              <a:cxnSpLocks/>
            </p:cNvCxnSpPr>
            <p:nvPr/>
          </p:nvCxnSpPr>
          <p:spPr>
            <a:xfrm>
              <a:off x="8096144" y="2760204"/>
              <a:ext cx="180000" cy="0"/>
            </a:xfrm>
            <a:prstGeom prst="straightConnector1">
              <a:avLst/>
            </a:prstGeom>
            <a:ln w="28575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直線矢印コネクタ 126">
              <a:extLst>
                <a:ext uri="{FF2B5EF4-FFF2-40B4-BE49-F238E27FC236}">
                  <a16:creationId xmlns:a16="http://schemas.microsoft.com/office/drawing/2014/main" id="{3DC7B329-5296-AE55-1297-529B023D5320}"/>
                </a:ext>
              </a:extLst>
            </p:cNvPr>
            <p:cNvCxnSpPr>
              <a:cxnSpLocks/>
            </p:cNvCxnSpPr>
            <p:nvPr/>
          </p:nvCxnSpPr>
          <p:spPr>
            <a:xfrm>
              <a:off x="8096144" y="2956005"/>
              <a:ext cx="180000" cy="0"/>
            </a:xfrm>
            <a:prstGeom prst="straightConnector1">
              <a:avLst/>
            </a:prstGeom>
            <a:ln w="28575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直線矢印コネクタ 127">
              <a:extLst>
                <a:ext uri="{FF2B5EF4-FFF2-40B4-BE49-F238E27FC236}">
                  <a16:creationId xmlns:a16="http://schemas.microsoft.com/office/drawing/2014/main" id="{2744118C-6BF2-6471-390B-9BFB8C1ADBC1}"/>
                </a:ext>
              </a:extLst>
            </p:cNvPr>
            <p:cNvCxnSpPr>
              <a:cxnSpLocks/>
            </p:cNvCxnSpPr>
            <p:nvPr/>
          </p:nvCxnSpPr>
          <p:spPr>
            <a:xfrm>
              <a:off x="8096144" y="3153269"/>
              <a:ext cx="180000" cy="0"/>
            </a:xfrm>
            <a:prstGeom prst="straightConnector1">
              <a:avLst/>
            </a:prstGeom>
            <a:ln w="28575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直線矢印コネクタ 128">
              <a:extLst>
                <a:ext uri="{FF2B5EF4-FFF2-40B4-BE49-F238E27FC236}">
                  <a16:creationId xmlns:a16="http://schemas.microsoft.com/office/drawing/2014/main" id="{5B845EA2-797A-F184-61AB-999F5FA8EDAC}"/>
                </a:ext>
              </a:extLst>
            </p:cNvPr>
            <p:cNvCxnSpPr>
              <a:cxnSpLocks/>
            </p:cNvCxnSpPr>
            <p:nvPr/>
          </p:nvCxnSpPr>
          <p:spPr>
            <a:xfrm>
              <a:off x="8098905" y="3363533"/>
              <a:ext cx="180000" cy="0"/>
            </a:xfrm>
            <a:prstGeom prst="straightConnector1">
              <a:avLst/>
            </a:prstGeom>
            <a:ln w="28575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直線矢印コネクタ 129">
              <a:extLst>
                <a:ext uri="{FF2B5EF4-FFF2-40B4-BE49-F238E27FC236}">
                  <a16:creationId xmlns:a16="http://schemas.microsoft.com/office/drawing/2014/main" id="{75B19D8F-A853-F782-A657-91A68CD25E92}"/>
                </a:ext>
              </a:extLst>
            </p:cNvPr>
            <p:cNvCxnSpPr>
              <a:cxnSpLocks/>
            </p:cNvCxnSpPr>
            <p:nvPr/>
          </p:nvCxnSpPr>
          <p:spPr>
            <a:xfrm>
              <a:off x="8096144" y="3541078"/>
              <a:ext cx="180000" cy="0"/>
            </a:xfrm>
            <a:prstGeom prst="straightConnector1">
              <a:avLst/>
            </a:prstGeom>
            <a:ln w="28575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直線矢印コネクタ 130">
              <a:extLst>
                <a:ext uri="{FF2B5EF4-FFF2-40B4-BE49-F238E27FC236}">
                  <a16:creationId xmlns:a16="http://schemas.microsoft.com/office/drawing/2014/main" id="{89193714-6379-E3F1-F5FE-53FD8E8BEC15}"/>
                </a:ext>
              </a:extLst>
            </p:cNvPr>
            <p:cNvCxnSpPr>
              <a:cxnSpLocks/>
            </p:cNvCxnSpPr>
            <p:nvPr/>
          </p:nvCxnSpPr>
          <p:spPr>
            <a:xfrm>
              <a:off x="8096144" y="3723391"/>
              <a:ext cx="180000" cy="0"/>
            </a:xfrm>
            <a:prstGeom prst="straightConnector1">
              <a:avLst/>
            </a:prstGeom>
            <a:ln w="28575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直線矢印コネクタ 131">
              <a:extLst>
                <a:ext uri="{FF2B5EF4-FFF2-40B4-BE49-F238E27FC236}">
                  <a16:creationId xmlns:a16="http://schemas.microsoft.com/office/drawing/2014/main" id="{40037088-D13E-4A1F-4A9D-B30D6B0B8FB1}"/>
                </a:ext>
              </a:extLst>
            </p:cNvPr>
            <p:cNvCxnSpPr>
              <a:cxnSpLocks/>
            </p:cNvCxnSpPr>
            <p:nvPr/>
          </p:nvCxnSpPr>
          <p:spPr>
            <a:xfrm>
              <a:off x="8134878" y="4835508"/>
              <a:ext cx="180000" cy="0"/>
            </a:xfrm>
            <a:prstGeom prst="straightConnector1">
              <a:avLst/>
            </a:prstGeom>
            <a:ln w="28575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直線矢印コネクタ 135">
              <a:extLst>
                <a:ext uri="{FF2B5EF4-FFF2-40B4-BE49-F238E27FC236}">
                  <a16:creationId xmlns:a16="http://schemas.microsoft.com/office/drawing/2014/main" id="{72F13DBA-A549-85F0-1AB8-5E7546DBA032}"/>
                </a:ext>
              </a:extLst>
            </p:cNvPr>
            <p:cNvCxnSpPr>
              <a:cxnSpLocks/>
            </p:cNvCxnSpPr>
            <p:nvPr/>
          </p:nvCxnSpPr>
          <p:spPr>
            <a:xfrm>
              <a:off x="8134878" y="5051407"/>
              <a:ext cx="180000" cy="0"/>
            </a:xfrm>
            <a:prstGeom prst="straightConnector1">
              <a:avLst/>
            </a:prstGeom>
            <a:ln w="28575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直線矢印コネクタ 136">
              <a:extLst>
                <a:ext uri="{FF2B5EF4-FFF2-40B4-BE49-F238E27FC236}">
                  <a16:creationId xmlns:a16="http://schemas.microsoft.com/office/drawing/2014/main" id="{EE30C1FD-0BD9-D125-1097-964BF1C731C8}"/>
                </a:ext>
              </a:extLst>
            </p:cNvPr>
            <p:cNvCxnSpPr>
              <a:cxnSpLocks/>
            </p:cNvCxnSpPr>
            <p:nvPr/>
          </p:nvCxnSpPr>
          <p:spPr>
            <a:xfrm>
              <a:off x="8134878" y="5267306"/>
              <a:ext cx="180000" cy="0"/>
            </a:xfrm>
            <a:prstGeom prst="straightConnector1">
              <a:avLst/>
            </a:prstGeom>
            <a:ln w="28575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ECEF5099-DD47-B065-F9A6-CD35412B43F5}"/>
                </a:ext>
              </a:extLst>
            </p:cNvPr>
            <p:cNvSpPr/>
            <p:nvPr/>
          </p:nvSpPr>
          <p:spPr>
            <a:xfrm>
              <a:off x="3656758" y="1927224"/>
              <a:ext cx="1066094" cy="335280"/>
            </a:xfrm>
            <a:prstGeom prst="rect">
              <a:avLst/>
            </a:prstGeom>
            <a:solidFill>
              <a:srgbClr val="FFFFFF"/>
            </a:solidFill>
            <a:ln>
              <a:solidFill>
                <a:schemeClr val="bg2">
                  <a:lumMod val="90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4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s</a:t>
              </a:r>
              <a:r>
                <a:rPr kumimoji="1" lang="en-US" altLang="ja-JP" sz="14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core()</a:t>
              </a:r>
              <a:endParaRPr kumimoji="1" lang="ja-JP" altLang="en-US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cxnSp>
          <p:nvCxnSpPr>
            <p:cNvPr id="10" name="直線矢印コネクタ 9">
              <a:extLst>
                <a:ext uri="{FF2B5EF4-FFF2-40B4-BE49-F238E27FC236}">
                  <a16:creationId xmlns:a16="http://schemas.microsoft.com/office/drawing/2014/main" id="{A3078BB2-F832-7AAE-9503-1DDA631D87E2}"/>
                </a:ext>
              </a:extLst>
            </p:cNvPr>
            <p:cNvCxnSpPr>
              <a:cxnSpLocks/>
            </p:cNvCxnSpPr>
            <p:nvPr/>
          </p:nvCxnSpPr>
          <p:spPr>
            <a:xfrm>
              <a:off x="2804751" y="1518417"/>
              <a:ext cx="857927" cy="0"/>
            </a:xfrm>
            <a:prstGeom prst="straightConnector1">
              <a:avLst/>
            </a:prstGeom>
            <a:ln w="57150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直線矢印コネクタ 12">
              <a:extLst>
                <a:ext uri="{FF2B5EF4-FFF2-40B4-BE49-F238E27FC236}">
                  <a16:creationId xmlns:a16="http://schemas.microsoft.com/office/drawing/2014/main" id="{A09A2A5F-22FD-BA74-5B8A-C59E07DBB625}"/>
                </a:ext>
              </a:extLst>
            </p:cNvPr>
            <p:cNvCxnSpPr>
              <a:cxnSpLocks/>
            </p:cNvCxnSpPr>
            <p:nvPr/>
          </p:nvCxnSpPr>
          <p:spPr>
            <a:xfrm>
              <a:off x="2767890" y="2007989"/>
              <a:ext cx="857927" cy="0"/>
            </a:xfrm>
            <a:prstGeom prst="straightConnector1">
              <a:avLst/>
            </a:prstGeom>
            <a:ln w="57150">
              <a:solidFill>
                <a:schemeClr val="accent4">
                  <a:lumMod val="75000"/>
                </a:schemeClr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6" name="直線コネクタ 155">
              <a:extLst>
                <a:ext uri="{FF2B5EF4-FFF2-40B4-BE49-F238E27FC236}">
                  <a16:creationId xmlns:a16="http://schemas.microsoft.com/office/drawing/2014/main" id="{7F0DAD43-2625-CD76-55F7-70784D853F01}"/>
                </a:ext>
              </a:extLst>
            </p:cNvPr>
            <p:cNvCxnSpPr>
              <a:cxnSpLocks/>
            </p:cNvCxnSpPr>
            <p:nvPr/>
          </p:nvCxnSpPr>
          <p:spPr>
            <a:xfrm>
              <a:off x="4359856" y="5507223"/>
              <a:ext cx="4358603" cy="0"/>
            </a:xfrm>
            <a:prstGeom prst="line">
              <a:avLst/>
            </a:prstGeom>
            <a:ln>
              <a:solidFill>
                <a:schemeClr val="accent4">
                  <a:lumMod val="75000"/>
                </a:schemeClr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58" name="四角形: 1 つの角を切り取る 157">
              <a:extLst>
                <a:ext uri="{FF2B5EF4-FFF2-40B4-BE49-F238E27FC236}">
                  <a16:creationId xmlns:a16="http://schemas.microsoft.com/office/drawing/2014/main" id="{80C7270A-4881-A2D8-A48F-2E19177E1C33}"/>
                </a:ext>
              </a:extLst>
            </p:cNvPr>
            <p:cNvSpPr/>
            <p:nvPr/>
          </p:nvSpPr>
          <p:spPr>
            <a:xfrm>
              <a:off x="4371294" y="5676687"/>
              <a:ext cx="2981950" cy="261000"/>
            </a:xfrm>
            <a:prstGeom prst="snip1Rect">
              <a:avLst>
                <a:gd name="adj" fmla="val 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4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DD</a:t>
              </a:r>
              <a:r>
                <a:rPr lang="ja-JP" altLang="en-US" sz="14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の個数分だけ点数を２倍する</a:t>
              </a:r>
              <a:endParaRPr kumimoji="1" lang="ja-JP" altLang="en-US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161" name="四角形: 1 つの角を切り取る 160">
              <a:extLst>
                <a:ext uri="{FF2B5EF4-FFF2-40B4-BE49-F238E27FC236}">
                  <a16:creationId xmlns:a16="http://schemas.microsoft.com/office/drawing/2014/main" id="{EE7D6A8B-9DE6-966B-0FE8-8ACF634F2936}"/>
                </a:ext>
              </a:extLst>
            </p:cNvPr>
            <p:cNvSpPr/>
            <p:nvPr/>
          </p:nvSpPr>
          <p:spPr>
            <a:xfrm>
              <a:off x="5709450" y="1467035"/>
              <a:ext cx="5140544" cy="297946"/>
            </a:xfrm>
            <a:prstGeom prst="snip1Rect">
              <a:avLst>
                <a:gd name="adj" fmla="val 0"/>
              </a:avLst>
            </a:prstGeom>
            <a:solidFill>
              <a:srgbClr val="FFFFFF"/>
            </a:solidFill>
            <a:ln>
              <a:solidFill>
                <a:schemeClr val="bg2">
                  <a:lumMod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ja-JP" sz="14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DD,7,BBB,BB,B,C,0</a:t>
              </a:r>
              <a:r>
                <a:rPr lang="ja-JP" altLang="en-US" sz="14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の中から３つの要素を選ぶ（重複あり）</a:t>
              </a:r>
              <a:endParaRPr kumimoji="1" lang="ja-JP" altLang="en-US" sz="14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162" name="テキスト ボックス 161">
              <a:extLst>
                <a:ext uri="{FF2B5EF4-FFF2-40B4-BE49-F238E27FC236}">
                  <a16:creationId xmlns:a16="http://schemas.microsoft.com/office/drawing/2014/main" id="{46850BCC-0C09-20C6-2E61-80E661485450}"/>
                </a:ext>
              </a:extLst>
            </p:cNvPr>
            <p:cNvSpPr txBox="1"/>
            <p:nvPr/>
          </p:nvSpPr>
          <p:spPr>
            <a:xfrm>
              <a:off x="8309508" y="1776297"/>
              <a:ext cx="3441138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400" dirty="0">
                  <a:solidFill>
                    <a:schemeClr val="accent4">
                      <a:lumMod val="75000"/>
                    </a:schemeClr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rPr>
                <a:t>それぞれが選ばれる確率を指定</a:t>
              </a:r>
            </a:p>
          </p:txBody>
        </p:sp>
      </p:grpSp>
      <p:sp>
        <p:nvSpPr>
          <p:cNvPr id="165" name="楕円 164">
            <a:extLst>
              <a:ext uri="{FF2B5EF4-FFF2-40B4-BE49-F238E27FC236}">
                <a16:creationId xmlns:a16="http://schemas.microsoft.com/office/drawing/2014/main" id="{97F35ACA-E5FF-CD39-9D95-2F9D1BBA72F6}"/>
              </a:ext>
            </a:extLst>
          </p:cNvPr>
          <p:cNvSpPr/>
          <p:nvPr/>
        </p:nvSpPr>
        <p:spPr>
          <a:xfrm>
            <a:off x="3705470" y="1402362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１</a:t>
            </a:r>
          </a:p>
        </p:txBody>
      </p:sp>
      <p:sp>
        <p:nvSpPr>
          <p:cNvPr id="166" name="楕円 165">
            <a:extLst>
              <a:ext uri="{FF2B5EF4-FFF2-40B4-BE49-F238E27FC236}">
                <a16:creationId xmlns:a16="http://schemas.microsoft.com/office/drawing/2014/main" id="{4989CE9E-6EFB-A294-F43B-2D7F7E6D96F8}"/>
              </a:ext>
            </a:extLst>
          </p:cNvPr>
          <p:cNvSpPr/>
          <p:nvPr/>
        </p:nvSpPr>
        <p:spPr>
          <a:xfrm>
            <a:off x="866144" y="1234722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２</a:t>
            </a:r>
          </a:p>
        </p:txBody>
      </p:sp>
      <p:sp>
        <p:nvSpPr>
          <p:cNvPr id="168" name="楕円 167">
            <a:extLst>
              <a:ext uri="{FF2B5EF4-FFF2-40B4-BE49-F238E27FC236}">
                <a16:creationId xmlns:a16="http://schemas.microsoft.com/office/drawing/2014/main" id="{C8BB56B9-AB2C-8796-A14F-309AA0F29180}"/>
              </a:ext>
            </a:extLst>
          </p:cNvPr>
          <p:cNvSpPr/>
          <p:nvPr/>
        </p:nvSpPr>
        <p:spPr>
          <a:xfrm>
            <a:off x="3596946" y="1993531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３</a:t>
            </a:r>
          </a:p>
        </p:txBody>
      </p:sp>
      <p:sp>
        <p:nvSpPr>
          <p:cNvPr id="169" name="楕円 168">
            <a:extLst>
              <a:ext uri="{FF2B5EF4-FFF2-40B4-BE49-F238E27FC236}">
                <a16:creationId xmlns:a16="http://schemas.microsoft.com/office/drawing/2014/main" id="{7669092E-424A-15C1-4C92-0FFD1F17AADF}"/>
              </a:ext>
            </a:extLst>
          </p:cNvPr>
          <p:cNvSpPr/>
          <p:nvPr/>
        </p:nvSpPr>
        <p:spPr>
          <a:xfrm>
            <a:off x="4061331" y="2424900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４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0" name="楕円 169">
            <a:extLst>
              <a:ext uri="{FF2B5EF4-FFF2-40B4-BE49-F238E27FC236}">
                <a16:creationId xmlns:a16="http://schemas.microsoft.com/office/drawing/2014/main" id="{989D2B90-7BD4-83EE-8219-61846835E032}"/>
              </a:ext>
            </a:extLst>
          </p:cNvPr>
          <p:cNvSpPr/>
          <p:nvPr/>
        </p:nvSpPr>
        <p:spPr>
          <a:xfrm>
            <a:off x="4067683" y="4134129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５</a:t>
            </a:r>
          </a:p>
        </p:txBody>
      </p:sp>
      <p:sp>
        <p:nvSpPr>
          <p:cNvPr id="171" name="楕円 170">
            <a:extLst>
              <a:ext uri="{FF2B5EF4-FFF2-40B4-BE49-F238E27FC236}">
                <a16:creationId xmlns:a16="http://schemas.microsoft.com/office/drawing/2014/main" id="{4D3BE0DC-40DA-440B-2929-E0E7DCC0FCDB}"/>
              </a:ext>
            </a:extLst>
          </p:cNvPr>
          <p:cNvSpPr/>
          <p:nvPr/>
        </p:nvSpPr>
        <p:spPr>
          <a:xfrm>
            <a:off x="7153337" y="3003089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６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2" name="楕円 171">
            <a:extLst>
              <a:ext uri="{FF2B5EF4-FFF2-40B4-BE49-F238E27FC236}">
                <a16:creationId xmlns:a16="http://schemas.microsoft.com/office/drawing/2014/main" id="{16BA31D8-F0AD-BEA0-8EC3-3D65A90E8287}"/>
              </a:ext>
            </a:extLst>
          </p:cNvPr>
          <p:cNvSpPr/>
          <p:nvPr/>
        </p:nvSpPr>
        <p:spPr>
          <a:xfrm>
            <a:off x="4083969" y="4819298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７</a:t>
            </a:r>
          </a:p>
        </p:txBody>
      </p:sp>
      <p:sp>
        <p:nvSpPr>
          <p:cNvPr id="173" name="楕円 172">
            <a:extLst>
              <a:ext uri="{FF2B5EF4-FFF2-40B4-BE49-F238E27FC236}">
                <a16:creationId xmlns:a16="http://schemas.microsoft.com/office/drawing/2014/main" id="{D94A88C7-A66D-98A1-D356-41C1F02A1A33}"/>
              </a:ext>
            </a:extLst>
          </p:cNvPr>
          <p:cNvSpPr/>
          <p:nvPr/>
        </p:nvSpPr>
        <p:spPr>
          <a:xfrm>
            <a:off x="7200216" y="5161382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８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74" name="楕円 173">
            <a:extLst>
              <a:ext uri="{FF2B5EF4-FFF2-40B4-BE49-F238E27FC236}">
                <a16:creationId xmlns:a16="http://schemas.microsoft.com/office/drawing/2014/main" id="{91D2AA4C-06B0-BAB0-4AD1-61EF1388297D}"/>
              </a:ext>
            </a:extLst>
          </p:cNvPr>
          <p:cNvSpPr/>
          <p:nvPr/>
        </p:nvSpPr>
        <p:spPr>
          <a:xfrm>
            <a:off x="4057848" y="5676687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９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43173992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kumimoji="1" lang="en-US" altLang="ja-JP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7</a:t>
            </a:r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章　プログラム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78782C7-6070-7C3A-DAB7-3101F4C6ED5C}"/>
              </a:ext>
            </a:extLst>
          </p:cNvPr>
          <p:cNvSpPr/>
          <p:nvPr/>
        </p:nvSpPr>
        <p:spPr>
          <a:xfrm>
            <a:off x="860050" y="1014608"/>
            <a:ext cx="9440262" cy="552895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F422FEA-2F34-70ED-56A9-01A65A2AD1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4440" y="1059656"/>
            <a:ext cx="9391483" cy="544628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＃＃スロットを回す</a:t>
            </a:r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関数名：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symbols</a:t>
            </a: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実行内容１：文字列のベクトル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(DD,7,BBB,BB,B,C,0)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を、変数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wheel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に代入する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kumimoji="1"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実行内容２：</a:t>
            </a:r>
            <a:r>
              <a:rPr kumimoji="1"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sample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で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wheel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から３つの値を抽出する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kumimoji="1"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kumimoji="1"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kumimoji="1"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＃＃ゲームを実行する</a:t>
            </a:r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kumimoji="1"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関数名：</a:t>
            </a:r>
            <a:r>
              <a:rPr kumimoji="1"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play</a:t>
            </a:r>
          </a:p>
          <a:p>
            <a:pPr algn="l"/>
            <a:r>
              <a:rPr kumimoji="1"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実行内容１：</a:t>
            </a:r>
            <a:r>
              <a:rPr kumimoji="1"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symbols</a:t>
            </a:r>
            <a:r>
              <a:rPr kumimoji="1"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でスロットを回す</a:t>
            </a:r>
            <a:endParaRPr kumimoji="1"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kumimoji="1"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実行内容２：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print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でスロットの結果を表示する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kumimoji="1"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実行内容３：</a:t>
            </a:r>
            <a:r>
              <a:rPr kumimoji="1"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score(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後に定義</a:t>
            </a:r>
            <a:r>
              <a:rPr kumimoji="1"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  <a:r>
              <a:rPr kumimoji="1"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で点数を計算・表示する</a:t>
            </a:r>
            <a:endParaRPr kumimoji="1"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kumimoji="1" lang="ja-JP" altLang="en-US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634991FC-5CF5-51A5-D820-EF02CFE3F6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6126" y="2367670"/>
            <a:ext cx="6311305" cy="1125411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913E5101-FF0C-F996-E1F8-8B0950C5BFF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56126" y="5434534"/>
            <a:ext cx="2067213" cy="943107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18" name="図 17">
            <a:extLst>
              <a:ext uri="{FF2B5EF4-FFF2-40B4-BE49-F238E27FC236}">
                <a16:creationId xmlns:a16="http://schemas.microsoft.com/office/drawing/2014/main" id="{F37C7821-C3D3-2351-EAE1-C2D443BF59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99526" y="2360132"/>
            <a:ext cx="1676634" cy="924054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27F719EA-26FB-EFB4-546B-B3AEF40BE8E1}"/>
              </a:ext>
            </a:extLst>
          </p:cNvPr>
          <p:cNvSpPr/>
          <p:nvPr/>
        </p:nvSpPr>
        <p:spPr>
          <a:xfrm>
            <a:off x="5580181" y="3801407"/>
            <a:ext cx="4352793" cy="132068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</a:t>
            </a:r>
            <a:r>
              <a:rPr kumimoji="1"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ample(</a:t>
            </a:r>
            <a:r>
              <a:rPr kumimoji="1" lang="en-US" altLang="ja-JP" sz="1000" dirty="0" err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x</a:t>
            </a:r>
            <a:r>
              <a:rPr lang="en-US" altLang="ja-JP" sz="1000" dirty="0" err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,</a:t>
            </a:r>
            <a:r>
              <a:rPr kumimoji="1" lang="en-US" altLang="ja-JP" sz="1000" dirty="0" err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size,replace</a:t>
            </a:r>
            <a:r>
              <a:rPr kumimoji="1"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=</a:t>
            </a:r>
            <a:r>
              <a:rPr kumimoji="1" lang="en-US" altLang="ja-JP" sz="1000" dirty="0" err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TRUE,prob</a:t>
            </a:r>
            <a:r>
              <a:rPr kumimoji="1"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=NULL)</a:t>
            </a:r>
          </a:p>
          <a:p>
            <a:endParaRPr kumimoji="1"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x: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サンプリング元のデータ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size: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サンプリング回数。指定しないと、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length(x)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回サンプリングする。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kumimoji="1"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replace: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同一の要素を繰り返しサンプリングするのを許容するかどうか。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kumimoji="1"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prob:</a:t>
            </a:r>
            <a:r>
              <a:rPr kumimoji="1"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サンプリングする際の重みづけを確立のベクトルで指定。合計が１でなくても可。</a:t>
            </a:r>
            <a:endParaRPr kumimoji="1"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22" name="直線矢印コネクタ 21">
            <a:extLst>
              <a:ext uri="{FF2B5EF4-FFF2-40B4-BE49-F238E27FC236}">
                <a16:creationId xmlns:a16="http://schemas.microsoft.com/office/drawing/2014/main" id="{93362CA4-F5A4-B2D5-6526-CE571E035549}"/>
              </a:ext>
            </a:extLst>
          </p:cNvPr>
          <p:cNvCxnSpPr>
            <a:cxnSpLocks/>
          </p:cNvCxnSpPr>
          <p:nvPr/>
        </p:nvCxnSpPr>
        <p:spPr>
          <a:xfrm>
            <a:off x="7505205" y="2897579"/>
            <a:ext cx="463138" cy="0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1" name="楕円 290">
            <a:extLst>
              <a:ext uri="{FF2B5EF4-FFF2-40B4-BE49-F238E27FC236}">
                <a16:creationId xmlns:a16="http://schemas.microsoft.com/office/drawing/2014/main" id="{E4FDA11A-1D1A-802A-CF0D-2C428E7208BA}"/>
              </a:ext>
            </a:extLst>
          </p:cNvPr>
          <p:cNvSpPr/>
          <p:nvPr/>
        </p:nvSpPr>
        <p:spPr>
          <a:xfrm>
            <a:off x="3351763" y="1059656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１</a:t>
            </a:r>
          </a:p>
        </p:txBody>
      </p:sp>
      <p:sp>
        <p:nvSpPr>
          <p:cNvPr id="292" name="楕円 291">
            <a:extLst>
              <a:ext uri="{FF2B5EF4-FFF2-40B4-BE49-F238E27FC236}">
                <a16:creationId xmlns:a16="http://schemas.microsoft.com/office/drawing/2014/main" id="{7B34FE9E-4B70-6223-7491-6CDD0D7C7996}"/>
              </a:ext>
            </a:extLst>
          </p:cNvPr>
          <p:cNvSpPr/>
          <p:nvPr/>
        </p:nvSpPr>
        <p:spPr>
          <a:xfrm>
            <a:off x="3596007" y="3801408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２</a:t>
            </a:r>
          </a:p>
        </p:txBody>
      </p:sp>
    </p:spTree>
    <p:extLst>
      <p:ext uri="{BB962C8B-B14F-4D97-AF65-F5344CB8AC3E}">
        <p14:creationId xmlns:p14="http://schemas.microsoft.com/office/powerpoint/2010/main" val="12191452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kumimoji="1" lang="en-US" altLang="ja-JP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7</a:t>
            </a:r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章　プログラム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78782C7-6070-7C3A-DAB7-3101F4C6ED5C}"/>
              </a:ext>
            </a:extLst>
          </p:cNvPr>
          <p:cNvSpPr/>
          <p:nvPr/>
        </p:nvSpPr>
        <p:spPr>
          <a:xfrm>
            <a:off x="658169" y="1098587"/>
            <a:ext cx="10540261" cy="552895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F0C4CB1-F083-E867-F352-7E25984AC542}"/>
              </a:ext>
            </a:extLst>
          </p:cNvPr>
          <p:cNvSpPr/>
          <p:nvPr/>
        </p:nvSpPr>
        <p:spPr>
          <a:xfrm>
            <a:off x="5598882" y="5832520"/>
            <a:ext cx="4352793" cy="651353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ja-JP" sz="1000" dirty="0">
                <a:solidFill>
                  <a:schemeClr val="tx1"/>
                </a:solidFill>
              </a:rPr>
              <a:t>&amp;&amp;</a:t>
            </a:r>
            <a:r>
              <a:rPr kumimoji="1" lang="ja-JP" altLang="en-US" sz="1000" dirty="0">
                <a:solidFill>
                  <a:schemeClr val="tx1"/>
                </a:solidFill>
              </a:rPr>
              <a:t>と</a:t>
            </a:r>
            <a:r>
              <a:rPr lang="en-US" altLang="ja-JP" sz="1000" dirty="0">
                <a:solidFill>
                  <a:schemeClr val="tx1"/>
                </a:solidFill>
              </a:rPr>
              <a:t>||</a:t>
            </a:r>
            <a:r>
              <a:rPr lang="ja-JP" altLang="en-US" sz="1000" dirty="0">
                <a:solidFill>
                  <a:schemeClr val="tx1"/>
                </a:solidFill>
              </a:rPr>
              <a:t>　</a:t>
            </a:r>
            <a:r>
              <a:rPr lang="en-US" altLang="ja-JP" sz="1000" dirty="0">
                <a:solidFill>
                  <a:schemeClr val="tx1"/>
                </a:solidFill>
              </a:rPr>
              <a:t>(</a:t>
            </a:r>
            <a:r>
              <a:rPr lang="ja-JP" altLang="en-US" sz="1000" dirty="0">
                <a:solidFill>
                  <a:schemeClr val="tx1"/>
                </a:solidFill>
              </a:rPr>
              <a:t>↔</a:t>
            </a:r>
            <a:r>
              <a:rPr lang="en-US" altLang="ja-JP" sz="1000" dirty="0">
                <a:solidFill>
                  <a:schemeClr val="tx1"/>
                </a:solidFill>
              </a:rPr>
              <a:t>&amp;</a:t>
            </a:r>
            <a:r>
              <a:rPr lang="ja-JP" altLang="en-US" sz="1000" dirty="0">
                <a:solidFill>
                  <a:schemeClr val="tx1"/>
                </a:solidFill>
              </a:rPr>
              <a:t>と</a:t>
            </a:r>
            <a:r>
              <a:rPr lang="en-US" altLang="ja-JP" sz="1000" dirty="0">
                <a:solidFill>
                  <a:schemeClr val="tx1"/>
                </a:solidFill>
              </a:rPr>
              <a:t>|)</a:t>
            </a:r>
          </a:p>
          <a:p>
            <a:r>
              <a:rPr lang="ja-JP" altLang="en-US" sz="1000" dirty="0">
                <a:solidFill>
                  <a:schemeClr val="tx1"/>
                </a:solidFill>
              </a:rPr>
              <a:t>左辺が</a:t>
            </a:r>
            <a:r>
              <a:rPr lang="en-US" altLang="ja-JP" sz="1000" dirty="0">
                <a:solidFill>
                  <a:schemeClr val="tx1"/>
                </a:solidFill>
              </a:rPr>
              <a:t>FALSE</a:t>
            </a:r>
            <a:r>
              <a:rPr lang="ja-JP" altLang="en-US" sz="1000" dirty="0">
                <a:solidFill>
                  <a:schemeClr val="tx1"/>
                </a:solidFill>
              </a:rPr>
              <a:t>の場合、右辺はスキップしてくれるので効率的</a:t>
            </a:r>
            <a:endParaRPr lang="en-US" altLang="ja-JP" sz="1000" dirty="0">
              <a:solidFill>
                <a:schemeClr val="tx1"/>
              </a:solidFill>
            </a:endParaRPr>
          </a:p>
          <a:p>
            <a:r>
              <a:rPr lang="ja-JP" altLang="en-US" sz="1000" dirty="0">
                <a:solidFill>
                  <a:schemeClr val="tx1"/>
                </a:solidFill>
              </a:rPr>
              <a:t>演算子の両辺に１つの論理テストがあるときのみ使用可</a:t>
            </a:r>
            <a:r>
              <a:rPr lang="en-US" altLang="ja-JP" sz="1000" dirty="0">
                <a:solidFill>
                  <a:schemeClr val="tx1"/>
                </a:solidFill>
              </a:rPr>
              <a:t>(</a:t>
            </a:r>
            <a:r>
              <a:rPr lang="ja-JP" altLang="en-US" sz="1000" dirty="0">
                <a:solidFill>
                  <a:schemeClr val="tx1"/>
                </a:solidFill>
              </a:rPr>
              <a:t>ベクトル非対応</a:t>
            </a:r>
            <a:r>
              <a:rPr lang="en-US" altLang="ja-JP" sz="1000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5CE81D2-C5EE-4E63-DA6F-4D50A6E33162}"/>
              </a:ext>
            </a:extLst>
          </p:cNvPr>
          <p:cNvSpPr/>
          <p:nvPr/>
        </p:nvSpPr>
        <p:spPr>
          <a:xfrm>
            <a:off x="5598881" y="5333505"/>
            <a:ext cx="4352793" cy="40599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u</a:t>
            </a:r>
            <a:r>
              <a:rPr kumimoji="1"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nique</a:t>
            </a:r>
            <a:r>
              <a:rPr kumimoji="1"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関数</a:t>
            </a:r>
            <a:endParaRPr kumimoji="1"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Vector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に含まれる異なる項をまとめたベクトル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F422FEA-2F34-70ED-56A9-01A65A2AD1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560" y="1143635"/>
            <a:ext cx="9391483" cy="544628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＃＃点数を計算する（下書き）</a:t>
            </a:r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実行内容：条件文で点数計算方法を場合分けする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kumimoji="1"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kumimoji="1"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kumimoji="1"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＃＃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場合分けの条件１</a:t>
            </a:r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変数名：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same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型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:</a:t>
            </a:r>
            <a:r>
              <a:rPr lang="en-US" altLang="ja-JP" sz="1200" dirty="0" err="1">
                <a:latin typeface="メイリオ" panose="020B0604030504040204" pitchFamily="50" charset="-128"/>
                <a:ea typeface="メイリオ" panose="020B0604030504040204" pitchFamily="50" charset="-128"/>
              </a:rPr>
              <a:t>boolean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条件内容：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symbols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の中身がすべて同じである</a:t>
            </a:r>
            <a:endParaRPr kumimoji="1"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kumimoji="1" lang="ja-JP" altLang="en-US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548069AB-69A2-19D5-CEF3-05EF75ED7A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246" y="5098993"/>
            <a:ext cx="3991532" cy="1467055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16" name="図 15">
            <a:extLst>
              <a:ext uri="{FF2B5EF4-FFF2-40B4-BE49-F238E27FC236}">
                <a16:creationId xmlns:a16="http://schemas.microsoft.com/office/drawing/2014/main" id="{655046BF-6659-3E35-9CB2-048FE3BB5D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0117" y="3830731"/>
            <a:ext cx="3019846" cy="1343212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92AB8497-24E1-1242-00CD-AA34D5F7D80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246" y="1836878"/>
            <a:ext cx="2753109" cy="2038635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DDA33241-75A9-C7A7-5FC3-7DABF8112A82}"/>
              </a:ext>
            </a:extLst>
          </p:cNvPr>
          <p:cNvSpPr/>
          <p:nvPr/>
        </p:nvSpPr>
        <p:spPr>
          <a:xfrm>
            <a:off x="5630117" y="1760651"/>
            <a:ext cx="3215922" cy="189484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else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文について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else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なし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		</a:t>
            </a:r>
          </a:p>
          <a:p>
            <a:r>
              <a:rPr kumimoji="1"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If(x=3) A()	</a:t>
            </a:r>
            <a:r>
              <a:rPr kumimoji="1"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　　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x=3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のとき、</a:t>
            </a:r>
            <a:endParaRPr kumimoji="1"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If(x=5) B()	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　　</a:t>
            </a:r>
            <a:r>
              <a:rPr kumimoji="1"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</a:t>
            </a:r>
            <a:r>
              <a:rPr kumimoji="1"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行目の</a:t>
            </a:r>
            <a:r>
              <a:rPr kumimoji="1"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if</a:t>
            </a:r>
            <a:r>
              <a:rPr kumimoji="1"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文もチェックする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kumimoji="1"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else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あり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		</a:t>
            </a:r>
          </a:p>
          <a:p>
            <a:r>
              <a:rPr kumimoji="1"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If(x=3){	</a:t>
            </a:r>
            <a:r>
              <a:rPr kumimoji="1"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　　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x=3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のとき、</a:t>
            </a:r>
            <a:endParaRPr kumimoji="1"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A()	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　　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3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行目の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if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文はスキップする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}else if(x=5){</a:t>
            </a:r>
          </a:p>
          <a:p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B()</a:t>
            </a:r>
          </a:p>
          <a:p>
            <a:r>
              <a:rPr kumimoji="1"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}</a:t>
            </a:r>
          </a:p>
        </p:txBody>
      </p: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74FF8975-518B-E7D8-023D-CCCCAEBC6F95}"/>
              </a:ext>
            </a:extLst>
          </p:cNvPr>
          <p:cNvCxnSpPr>
            <a:cxnSpLocks/>
          </p:cNvCxnSpPr>
          <p:nvPr/>
        </p:nvCxnSpPr>
        <p:spPr>
          <a:xfrm flipV="1">
            <a:off x="4925769" y="4885237"/>
            <a:ext cx="593121" cy="213756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楕円 6">
            <a:extLst>
              <a:ext uri="{FF2B5EF4-FFF2-40B4-BE49-F238E27FC236}">
                <a16:creationId xmlns:a16="http://schemas.microsoft.com/office/drawing/2014/main" id="{4EC35FEC-3C75-B0EF-9DC2-6F4B8ED68DFA}"/>
              </a:ext>
            </a:extLst>
          </p:cNvPr>
          <p:cNvSpPr/>
          <p:nvPr/>
        </p:nvSpPr>
        <p:spPr>
          <a:xfrm>
            <a:off x="4224008" y="1143635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３</a:t>
            </a:r>
          </a:p>
        </p:txBody>
      </p:sp>
      <p:sp>
        <p:nvSpPr>
          <p:cNvPr id="8" name="楕円 7">
            <a:extLst>
              <a:ext uri="{FF2B5EF4-FFF2-40B4-BE49-F238E27FC236}">
                <a16:creationId xmlns:a16="http://schemas.microsoft.com/office/drawing/2014/main" id="{A705F4AE-F440-E18C-0059-4ED176537C16}"/>
              </a:ext>
            </a:extLst>
          </p:cNvPr>
          <p:cNvSpPr/>
          <p:nvPr/>
        </p:nvSpPr>
        <p:spPr>
          <a:xfrm>
            <a:off x="3363111" y="4215289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４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94550132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kumimoji="1" lang="en-US" altLang="ja-JP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7</a:t>
            </a:r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章　プログラム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78782C7-6070-7C3A-DAB7-3101F4C6ED5C}"/>
              </a:ext>
            </a:extLst>
          </p:cNvPr>
          <p:cNvSpPr/>
          <p:nvPr/>
        </p:nvSpPr>
        <p:spPr>
          <a:xfrm>
            <a:off x="658169" y="1098587"/>
            <a:ext cx="10540261" cy="552895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CF0C4CB1-F083-E867-F352-7E25984AC542}"/>
              </a:ext>
            </a:extLst>
          </p:cNvPr>
          <p:cNvSpPr/>
          <p:nvPr/>
        </p:nvSpPr>
        <p:spPr>
          <a:xfrm>
            <a:off x="9720288" y="2794458"/>
            <a:ext cx="1176150" cy="77963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添字操作</a:t>
            </a:r>
          </a:p>
          <a:p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c(“A”=3,”B”=10)</a:t>
            </a:r>
          </a:p>
          <a:p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## A  B</a:t>
            </a:r>
          </a:p>
          <a:p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## 3  10</a:t>
            </a: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5CE81D2-C5EE-4E63-DA6F-4D50A6E33162}"/>
              </a:ext>
            </a:extLst>
          </p:cNvPr>
          <p:cNvSpPr/>
          <p:nvPr/>
        </p:nvSpPr>
        <p:spPr>
          <a:xfrm>
            <a:off x="8561647" y="1263081"/>
            <a:ext cx="2391170" cy="11836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%in% </a:t>
            </a:r>
            <a:r>
              <a:rPr kumimoji="1"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左辺が右辺を含むか判断する</a:t>
            </a:r>
            <a:endParaRPr kumimoji="1"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kumimoji="1"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List1 &lt;- c(A,B,C,D)</a:t>
            </a:r>
          </a:p>
          <a:p>
            <a:r>
              <a:rPr kumimoji="1"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List2 &lt;-c(C,E,B)</a:t>
            </a:r>
          </a:p>
          <a:p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kumimoji="1"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List1 %in% List2</a:t>
            </a:r>
          </a:p>
          <a:p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#FALSE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TRUE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TRUE FALSE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F422FEA-2F34-70ED-56A9-01A65A2AD1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560" y="1143635"/>
            <a:ext cx="9391483" cy="544628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＃</a:t>
            </a:r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場合分けの条件２</a:t>
            </a:r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変数名：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bars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型：</a:t>
            </a:r>
            <a:r>
              <a:rPr lang="en-US" altLang="ja-JP" sz="1200" dirty="0" err="1">
                <a:latin typeface="メイリオ" panose="020B0604030504040204" pitchFamily="50" charset="-128"/>
                <a:ea typeface="メイリオ" panose="020B0604030504040204" pitchFamily="50" charset="-128"/>
              </a:rPr>
              <a:t>boolean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条件内容：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symbols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がバーを含む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kumimoji="1"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kumimoji="1"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※symbols</a:t>
            </a:r>
            <a:r>
              <a:rPr kumimoji="1"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すべてがバーであってほしいので、実行時は</a:t>
            </a:r>
            <a:r>
              <a:rPr kumimoji="1"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all</a:t>
            </a:r>
            <a:r>
              <a:rPr kumimoji="1"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をつける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。</a:t>
            </a:r>
            <a:endParaRPr kumimoji="1"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kumimoji="1"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＃＃点数の計算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１</a:t>
            </a:r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変数名：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same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型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:</a:t>
            </a:r>
            <a:r>
              <a:rPr lang="en-US" altLang="ja-JP" sz="1200" dirty="0" err="1">
                <a:latin typeface="メイリオ" panose="020B0604030504040204" pitchFamily="50" charset="-128"/>
                <a:ea typeface="メイリオ" panose="020B0604030504040204" pitchFamily="50" charset="-128"/>
              </a:rPr>
              <a:t>boolean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 </a:t>
            </a: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条件内容：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symbols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の中身がすべて同じである</a:t>
            </a:r>
            <a:endParaRPr kumimoji="1"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＃点数を代入する</a:t>
            </a:r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変数名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:prize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　型：整数値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 条件１のとき、１要素目の得点を代入</a:t>
            </a:r>
            <a:endParaRPr kumimoji="1" lang="ja-JP" altLang="en-US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74FF8975-518B-E7D8-023D-CCCCAEBC6F95}"/>
              </a:ext>
            </a:extLst>
          </p:cNvPr>
          <p:cNvCxnSpPr>
            <a:cxnSpLocks/>
          </p:cNvCxnSpPr>
          <p:nvPr/>
        </p:nvCxnSpPr>
        <p:spPr>
          <a:xfrm>
            <a:off x="4001984" y="2298172"/>
            <a:ext cx="581891" cy="0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図 7">
            <a:extLst>
              <a:ext uri="{FF2B5EF4-FFF2-40B4-BE49-F238E27FC236}">
                <a16:creationId xmlns:a16="http://schemas.microsoft.com/office/drawing/2014/main" id="{43D9BC6F-D9A1-1207-8593-653B03AECD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19165" y="1263081"/>
            <a:ext cx="3200847" cy="1371791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9D575F3D-CCE5-CF73-C3DA-6790169349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7651" y="2098119"/>
            <a:ext cx="2981741" cy="400106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20" name="図 19">
            <a:extLst>
              <a:ext uri="{FF2B5EF4-FFF2-40B4-BE49-F238E27FC236}">
                <a16:creationId xmlns:a16="http://schemas.microsoft.com/office/drawing/2014/main" id="{E63407BA-FA48-FBB5-D05D-069BFB18CA0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56239" y="2794458"/>
            <a:ext cx="2172003" cy="1038370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22" name="図 21">
            <a:extLst>
              <a:ext uri="{FF2B5EF4-FFF2-40B4-BE49-F238E27FC236}">
                <a16:creationId xmlns:a16="http://schemas.microsoft.com/office/drawing/2014/main" id="{4256DFFB-E235-2610-3205-F45EEFE75B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7651" y="4310789"/>
            <a:ext cx="6192114" cy="390580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sp>
        <p:nvSpPr>
          <p:cNvPr id="23" name="正方形/長方形 22">
            <a:extLst>
              <a:ext uri="{FF2B5EF4-FFF2-40B4-BE49-F238E27FC236}">
                <a16:creationId xmlns:a16="http://schemas.microsoft.com/office/drawing/2014/main" id="{19CFE1A9-41FC-F4FC-C2A4-EE7DF09753E7}"/>
              </a:ext>
            </a:extLst>
          </p:cNvPr>
          <p:cNvSpPr/>
          <p:nvPr/>
        </p:nvSpPr>
        <p:spPr>
          <a:xfrm>
            <a:off x="9359384" y="4017941"/>
            <a:ext cx="2401239" cy="116644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ja-JP" sz="1000" dirty="0" err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unname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()      = ( names() &lt;- NULL)</a:t>
            </a:r>
          </a:p>
          <a:p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ベクトル・行列の名前を消して返す。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（行列のとき）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列名のみ消す：</a:t>
            </a:r>
            <a:r>
              <a:rPr lang="en-US" altLang="ja-JP" sz="1000" dirty="0" err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colnames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() &lt;- NULL</a:t>
            </a:r>
          </a:p>
          <a:p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行名のみ消す：</a:t>
            </a:r>
            <a:r>
              <a:rPr lang="en-US" altLang="ja-JP" sz="1000" dirty="0" err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rownames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() &lt;- NULL</a:t>
            </a:r>
          </a:p>
          <a:p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25" name="図 24">
            <a:extLst>
              <a:ext uri="{FF2B5EF4-FFF2-40B4-BE49-F238E27FC236}">
                <a16:creationId xmlns:a16="http://schemas.microsoft.com/office/drawing/2014/main" id="{5B05BFEA-621C-484A-6420-DD234BEB340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56239" y="4065573"/>
            <a:ext cx="1819529" cy="314369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6500F86D-80BD-F4B8-52B1-EE37F5E315D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56239" y="5222015"/>
            <a:ext cx="2305372" cy="924054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16" name="図 15">
            <a:extLst>
              <a:ext uri="{FF2B5EF4-FFF2-40B4-BE49-F238E27FC236}">
                <a16:creationId xmlns:a16="http://schemas.microsoft.com/office/drawing/2014/main" id="{ADB8024D-3C11-C52B-F41B-28D2769D5D19}"/>
              </a:ext>
            </a:extLst>
          </p:cNvPr>
          <p:cNvPicPr>
            <a:picLocks noChangeAspect="1"/>
          </p:cNvPicPr>
          <p:nvPr/>
        </p:nvPicPr>
        <p:blipFill rotWithShape="1">
          <a:blip r:embed="rId8"/>
          <a:srcRect t="44391" b="-1"/>
          <a:stretch/>
        </p:blipFill>
        <p:spPr>
          <a:xfrm>
            <a:off x="949897" y="6146069"/>
            <a:ext cx="6249272" cy="185413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sp>
        <p:nvSpPr>
          <p:cNvPr id="17" name="楕円 16">
            <a:extLst>
              <a:ext uri="{FF2B5EF4-FFF2-40B4-BE49-F238E27FC236}">
                <a16:creationId xmlns:a16="http://schemas.microsoft.com/office/drawing/2014/main" id="{81FA8E4C-B42F-95B1-EB56-2D23186D42B1}"/>
              </a:ext>
            </a:extLst>
          </p:cNvPr>
          <p:cNvSpPr/>
          <p:nvPr/>
        </p:nvSpPr>
        <p:spPr>
          <a:xfrm>
            <a:off x="3351763" y="1184050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５</a:t>
            </a:r>
          </a:p>
        </p:txBody>
      </p:sp>
      <p:sp>
        <p:nvSpPr>
          <p:cNvPr id="18" name="楕円 17">
            <a:extLst>
              <a:ext uri="{FF2B5EF4-FFF2-40B4-BE49-F238E27FC236}">
                <a16:creationId xmlns:a16="http://schemas.microsoft.com/office/drawing/2014/main" id="{DE7ED8C7-11EF-4FAA-D829-54110B060CB3}"/>
              </a:ext>
            </a:extLst>
          </p:cNvPr>
          <p:cNvSpPr/>
          <p:nvPr/>
        </p:nvSpPr>
        <p:spPr>
          <a:xfrm>
            <a:off x="2821969" y="3326445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６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9" name="楕円 18">
            <a:extLst>
              <a:ext uri="{FF2B5EF4-FFF2-40B4-BE49-F238E27FC236}">
                <a16:creationId xmlns:a16="http://schemas.microsoft.com/office/drawing/2014/main" id="{CADBD0AC-8D38-11DB-9BF3-C78EF8CEFB3A}"/>
              </a:ext>
            </a:extLst>
          </p:cNvPr>
          <p:cNvSpPr/>
          <p:nvPr/>
        </p:nvSpPr>
        <p:spPr>
          <a:xfrm>
            <a:off x="3144581" y="5103363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６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21" name="直線矢印コネクタ 20">
            <a:extLst>
              <a:ext uri="{FF2B5EF4-FFF2-40B4-BE49-F238E27FC236}">
                <a16:creationId xmlns:a16="http://schemas.microsoft.com/office/drawing/2014/main" id="{B2D8D670-3D58-2589-6A4F-9E2ADD754D02}"/>
              </a:ext>
            </a:extLst>
          </p:cNvPr>
          <p:cNvCxnSpPr>
            <a:cxnSpLocks/>
          </p:cNvCxnSpPr>
          <p:nvPr/>
        </p:nvCxnSpPr>
        <p:spPr>
          <a:xfrm flipV="1">
            <a:off x="6858000" y="3724507"/>
            <a:ext cx="490654" cy="498622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矢印コネクタ 26">
            <a:extLst>
              <a:ext uri="{FF2B5EF4-FFF2-40B4-BE49-F238E27FC236}">
                <a16:creationId xmlns:a16="http://schemas.microsoft.com/office/drawing/2014/main" id="{4CC293DC-9604-7AF9-7AB0-D429D3C1526F}"/>
              </a:ext>
            </a:extLst>
          </p:cNvPr>
          <p:cNvCxnSpPr>
            <a:cxnSpLocks/>
          </p:cNvCxnSpPr>
          <p:nvPr/>
        </p:nvCxnSpPr>
        <p:spPr>
          <a:xfrm flipV="1">
            <a:off x="6858000" y="5783278"/>
            <a:ext cx="489350" cy="204927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485164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281077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kumimoji="1" lang="en-US" altLang="ja-JP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7</a:t>
            </a:r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章　プログラム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78782C7-6070-7C3A-DAB7-3101F4C6ED5C}"/>
              </a:ext>
            </a:extLst>
          </p:cNvPr>
          <p:cNvSpPr/>
          <p:nvPr/>
        </p:nvSpPr>
        <p:spPr>
          <a:xfrm>
            <a:off x="682560" y="1143635"/>
            <a:ext cx="10540261" cy="552895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F422FEA-2F34-70ED-56A9-01A65A2AD1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560" y="1143635"/>
            <a:ext cx="9391483" cy="544628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＃</a:t>
            </a:r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チェリー・ダイヤモンドの数を数える</a:t>
            </a:r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実行内容：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symbols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が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C,DD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である要素を数える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kumimoji="1"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＃＃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チェリーの数に合わせて賞金計算</a:t>
            </a:r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実行内容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: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ルックアップテーブルを利用して場合分け・代入をする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en-US" altLang="ja-JP" sz="1200" dirty="0" err="1">
                <a:latin typeface="メイリオ" panose="020B0604030504040204" pitchFamily="50" charset="-128"/>
                <a:ea typeface="メイリオ" panose="020B0604030504040204" pitchFamily="50" charset="-128"/>
              </a:rPr>
              <a:t>cheries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 == 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０ のとき → 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prize &lt;-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０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		c(0,2,5)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 の１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(cherries+1)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番目の要素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en-US" altLang="ja-JP" sz="1200" dirty="0" err="1">
                <a:latin typeface="メイリオ" panose="020B0604030504040204" pitchFamily="50" charset="-128"/>
                <a:ea typeface="メイリオ" panose="020B0604030504040204" pitchFamily="50" charset="-128"/>
              </a:rPr>
              <a:t>cheries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 == 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１ のとき → 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prize &lt;- 2		c(0,2,5) 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の２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(cherries+1)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番目の要素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en-US" altLang="ja-JP" sz="1200" dirty="0" err="1">
                <a:latin typeface="メイリオ" panose="020B0604030504040204" pitchFamily="50" charset="-128"/>
                <a:ea typeface="メイリオ" panose="020B0604030504040204" pitchFamily="50" charset="-128"/>
              </a:rPr>
              <a:t>cheries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 == 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２ のとき → </a:t>
            </a:r>
            <a:r>
              <a:rPr lang="en-US" altLang="ja-JP" sz="1200" dirty="0" err="1">
                <a:latin typeface="メイリオ" panose="020B0604030504040204" pitchFamily="50" charset="-128"/>
                <a:ea typeface="メイリオ" panose="020B0604030504040204" pitchFamily="50" charset="-128"/>
              </a:rPr>
              <a:t>proze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 &lt;- 5		c(0,2,5) 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の２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(cherries+1)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番目の要素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＃ダイヤの数に合わせて賞金計算</a:t>
            </a:r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実行内容：ダイヤモンド１つあたり賞金２倍にする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	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→賞金に２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^</a:t>
            </a:r>
            <a:r>
              <a:rPr lang="en-US" altLang="ja-JP" sz="1200" dirty="0" err="1">
                <a:latin typeface="メイリオ" panose="020B0604030504040204" pitchFamily="50" charset="-128"/>
                <a:ea typeface="メイリオ" panose="020B0604030504040204" pitchFamily="50" charset="-128"/>
              </a:rPr>
              <a:t>daiamonds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をかける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74FF8975-518B-E7D8-023D-CCCCAEBC6F95}"/>
              </a:ext>
            </a:extLst>
          </p:cNvPr>
          <p:cNvCxnSpPr>
            <a:cxnSpLocks/>
          </p:cNvCxnSpPr>
          <p:nvPr/>
        </p:nvCxnSpPr>
        <p:spPr>
          <a:xfrm>
            <a:off x="3773384" y="2097371"/>
            <a:ext cx="581891" cy="0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1" name="図 10">
            <a:extLst>
              <a:ext uri="{FF2B5EF4-FFF2-40B4-BE49-F238E27FC236}">
                <a16:creationId xmlns:a16="http://schemas.microsoft.com/office/drawing/2014/main" id="{2B27AECC-8E7C-47CD-2977-B689E504B6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29155" y="1613784"/>
            <a:ext cx="2248214" cy="905001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4A97FC9F-9682-C1B4-9FC8-1265618F87C9}"/>
              </a:ext>
            </a:extLst>
          </p:cNvPr>
          <p:cNvSpPr/>
          <p:nvPr/>
        </p:nvSpPr>
        <p:spPr>
          <a:xfrm>
            <a:off x="7006285" y="1613784"/>
            <a:ext cx="2391170" cy="50131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sum()</a:t>
            </a:r>
          </a:p>
          <a:p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()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中身の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TRUE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をと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FALSE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を１と０に変換して合計する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26" name="図 25">
            <a:extLst>
              <a:ext uri="{FF2B5EF4-FFF2-40B4-BE49-F238E27FC236}">
                <a16:creationId xmlns:a16="http://schemas.microsoft.com/office/drawing/2014/main" id="{EA16A4A2-10E1-0777-6237-1FB6EDDE40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8934" y="2130799"/>
            <a:ext cx="2514951" cy="190527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28" name="図 27">
            <a:extLst>
              <a:ext uri="{FF2B5EF4-FFF2-40B4-BE49-F238E27FC236}">
                <a16:creationId xmlns:a16="http://schemas.microsoft.com/office/drawing/2014/main" id="{4CE016A1-AB5A-013D-B013-0A36AE93E91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8934" y="1913864"/>
            <a:ext cx="2429214" cy="152421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30" name="図 29">
            <a:extLst>
              <a:ext uri="{FF2B5EF4-FFF2-40B4-BE49-F238E27FC236}">
                <a16:creationId xmlns:a16="http://schemas.microsoft.com/office/drawing/2014/main" id="{A7C8B6A2-C3A7-61E4-12B3-16C0914A992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8934" y="4455701"/>
            <a:ext cx="2286319" cy="161948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sp>
        <p:nvSpPr>
          <p:cNvPr id="31" name="正方形/長方形 30">
            <a:extLst>
              <a:ext uri="{FF2B5EF4-FFF2-40B4-BE49-F238E27FC236}">
                <a16:creationId xmlns:a16="http://schemas.microsoft.com/office/drawing/2014/main" id="{3085FE81-175D-265A-BF00-484F1BA8AAC4}"/>
              </a:ext>
            </a:extLst>
          </p:cNvPr>
          <p:cNvSpPr/>
          <p:nvPr/>
        </p:nvSpPr>
        <p:spPr>
          <a:xfrm>
            <a:off x="7727923" y="2853023"/>
            <a:ext cx="3293415" cy="1151954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ルックアップテーブルと</a:t>
            </a:r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if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ツリーの使い分け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ルックアップテーブル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ツリー個々の分岐が異なる値を割り当てるとき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If</a:t>
            </a:r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ツリー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個々のツリーに対して異なる実行をするとき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E99328AF-B8D6-82EA-B526-1E2BA0C6A3A2}"/>
              </a:ext>
            </a:extLst>
          </p:cNvPr>
          <p:cNvSpPr/>
          <p:nvPr/>
        </p:nvSpPr>
        <p:spPr>
          <a:xfrm>
            <a:off x="7727924" y="4166924"/>
            <a:ext cx="3293415" cy="107729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ルックアップテーブルの使い方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割り当てる値をベクトルに格納する。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sz="10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条件が文字列を使う場合、ベクトルに名前を与え、名前に基づく添字操作を利用する。条件が整数なら、整数による添え字操作を利用する。</a:t>
            </a:r>
            <a:endParaRPr lang="en-US" altLang="ja-JP" sz="10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36" name="図 35">
            <a:extLst>
              <a:ext uri="{FF2B5EF4-FFF2-40B4-BE49-F238E27FC236}">
                <a16:creationId xmlns:a16="http://schemas.microsoft.com/office/drawing/2014/main" id="{8D818FA3-5D53-C66F-775B-5F387D726AB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06993" y="6288698"/>
            <a:ext cx="1276528" cy="209579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42" name="図 41">
            <a:extLst>
              <a:ext uri="{FF2B5EF4-FFF2-40B4-BE49-F238E27FC236}">
                <a16:creationId xmlns:a16="http://schemas.microsoft.com/office/drawing/2014/main" id="{9488A0E4-7736-597D-E525-88A7D7260093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955761" y="4580368"/>
            <a:ext cx="2772162" cy="1714739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cxnSp>
        <p:nvCxnSpPr>
          <p:cNvPr id="43" name="直線矢印コネクタ 42">
            <a:extLst>
              <a:ext uri="{FF2B5EF4-FFF2-40B4-BE49-F238E27FC236}">
                <a16:creationId xmlns:a16="http://schemas.microsoft.com/office/drawing/2014/main" id="{9B97C1CF-37FD-1B6B-A2BE-78686A17432C}"/>
              </a:ext>
            </a:extLst>
          </p:cNvPr>
          <p:cNvCxnSpPr>
            <a:cxnSpLocks/>
          </p:cNvCxnSpPr>
          <p:nvPr/>
        </p:nvCxnSpPr>
        <p:spPr>
          <a:xfrm>
            <a:off x="3773383" y="4589346"/>
            <a:ext cx="1027217" cy="274754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線矢印コネクタ 44">
            <a:extLst>
              <a:ext uri="{FF2B5EF4-FFF2-40B4-BE49-F238E27FC236}">
                <a16:creationId xmlns:a16="http://schemas.microsoft.com/office/drawing/2014/main" id="{3228B8E2-63C8-0C04-807D-12FF03CC7B70}"/>
              </a:ext>
            </a:extLst>
          </p:cNvPr>
          <p:cNvCxnSpPr>
            <a:cxnSpLocks/>
          </p:cNvCxnSpPr>
          <p:nvPr/>
        </p:nvCxnSpPr>
        <p:spPr>
          <a:xfrm flipV="1">
            <a:off x="3684482" y="6146800"/>
            <a:ext cx="1116118" cy="246688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" name="正方形/長方形 46">
            <a:extLst>
              <a:ext uri="{FF2B5EF4-FFF2-40B4-BE49-F238E27FC236}">
                <a16:creationId xmlns:a16="http://schemas.microsoft.com/office/drawing/2014/main" id="{CBFB3501-E5E6-622F-2025-1E8B027A9173}"/>
              </a:ext>
            </a:extLst>
          </p:cNvPr>
          <p:cNvSpPr/>
          <p:nvPr/>
        </p:nvSpPr>
        <p:spPr>
          <a:xfrm>
            <a:off x="1545257" y="6543565"/>
            <a:ext cx="2119725" cy="190527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ja-JP" altLang="en-US" sz="1000" dirty="0">
                <a:solidFill>
                  <a:schemeClr val="tx1"/>
                </a:solidFill>
              </a:rPr>
              <a:t>最後の計算結果が戻り値となる</a:t>
            </a:r>
            <a:endParaRPr lang="en-US" altLang="ja-JP" sz="1000" dirty="0">
              <a:solidFill>
                <a:schemeClr val="tx1"/>
              </a:solidFill>
            </a:endParaRPr>
          </a:p>
        </p:txBody>
      </p:sp>
      <p:sp>
        <p:nvSpPr>
          <p:cNvPr id="48" name="楕円 47">
            <a:extLst>
              <a:ext uri="{FF2B5EF4-FFF2-40B4-BE49-F238E27FC236}">
                <a16:creationId xmlns:a16="http://schemas.microsoft.com/office/drawing/2014/main" id="{B08AA567-2D08-2D6D-609E-8626A875A9DC}"/>
              </a:ext>
            </a:extLst>
          </p:cNvPr>
          <p:cNvSpPr/>
          <p:nvPr/>
        </p:nvSpPr>
        <p:spPr>
          <a:xfrm>
            <a:off x="5653262" y="1195943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７</a:t>
            </a:r>
          </a:p>
        </p:txBody>
      </p:sp>
      <p:sp>
        <p:nvSpPr>
          <p:cNvPr id="49" name="楕円 48">
            <a:extLst>
              <a:ext uri="{FF2B5EF4-FFF2-40B4-BE49-F238E27FC236}">
                <a16:creationId xmlns:a16="http://schemas.microsoft.com/office/drawing/2014/main" id="{C98A928A-0A72-F61A-D728-CD239F85EC95}"/>
              </a:ext>
            </a:extLst>
          </p:cNvPr>
          <p:cNvSpPr/>
          <p:nvPr/>
        </p:nvSpPr>
        <p:spPr>
          <a:xfrm>
            <a:off x="5973878" y="1210034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kumimoji="1" lang="ja-JP" altLang="en-US">
                <a:latin typeface="メイリオ" panose="020B0604030504040204" pitchFamily="50" charset="-128"/>
                <a:ea typeface="メイリオ" panose="020B0604030504040204" pitchFamily="50" charset="-128"/>
              </a:rPr>
              <a:t>９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50" name="楕円 49">
            <a:extLst>
              <a:ext uri="{FF2B5EF4-FFF2-40B4-BE49-F238E27FC236}">
                <a16:creationId xmlns:a16="http://schemas.microsoft.com/office/drawing/2014/main" id="{C42E325D-BFB1-9EDC-E3AD-5794A46F700C}"/>
              </a:ext>
            </a:extLst>
          </p:cNvPr>
          <p:cNvSpPr/>
          <p:nvPr/>
        </p:nvSpPr>
        <p:spPr>
          <a:xfrm>
            <a:off x="5256179" y="2872879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kumimoji="1" lang="en-US" altLang="ja-JP" dirty="0">
                <a:latin typeface="メイリオ" panose="020B0604030504040204" pitchFamily="50" charset="-128"/>
                <a:ea typeface="メイリオ" panose="020B0604030504040204" pitchFamily="50" charset="-128"/>
              </a:rPr>
              <a:t>8</a:t>
            </a:r>
          </a:p>
        </p:txBody>
      </p:sp>
      <p:sp>
        <p:nvSpPr>
          <p:cNvPr id="51" name="楕円 50">
            <a:extLst>
              <a:ext uri="{FF2B5EF4-FFF2-40B4-BE49-F238E27FC236}">
                <a16:creationId xmlns:a16="http://schemas.microsoft.com/office/drawing/2014/main" id="{977B9171-A7E3-1BF1-0AD7-5B7A799625A7}"/>
              </a:ext>
            </a:extLst>
          </p:cNvPr>
          <p:cNvSpPr/>
          <p:nvPr/>
        </p:nvSpPr>
        <p:spPr>
          <a:xfrm>
            <a:off x="4633937" y="5482256"/>
            <a:ext cx="244244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kumimoji="1" lang="ja-JP" altLang="en-US">
                <a:latin typeface="メイリオ" panose="020B0604030504040204" pitchFamily="50" charset="-128"/>
                <a:ea typeface="メイリオ" panose="020B0604030504040204" pitchFamily="50" charset="-128"/>
              </a:rPr>
              <a:t>９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16565601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kumimoji="1" lang="en-US" altLang="ja-JP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7</a:t>
            </a:r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章　プログラム　</a:t>
            </a:r>
            <a:r>
              <a:rPr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最終コード</a:t>
            </a:r>
            <a:endParaRPr kumimoji="1" lang="ja-JP" altLang="en-US" sz="30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661A3A95-316A-208D-1006-9B4CAF8277CA}"/>
              </a:ext>
            </a:extLst>
          </p:cNvPr>
          <p:cNvSpPr/>
          <p:nvPr/>
        </p:nvSpPr>
        <p:spPr>
          <a:xfrm>
            <a:off x="528181" y="892099"/>
            <a:ext cx="11135638" cy="596590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1F24A9A6-5DDE-E357-2FFA-F33E60C5B76D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b="5194"/>
          <a:stretch/>
        </p:blipFill>
        <p:spPr>
          <a:xfrm>
            <a:off x="969179" y="986417"/>
            <a:ext cx="6601746" cy="5843392"/>
          </a:xfrm>
          <a:prstGeom prst="rect">
            <a:avLst/>
          </a:prstGeom>
          <a:ln>
            <a:solidFill>
              <a:schemeClr val="accent4">
                <a:lumMod val="75000"/>
              </a:schemeClr>
            </a:solidFill>
          </a:ln>
        </p:spPr>
      </p:pic>
      <p:pic>
        <p:nvPicPr>
          <p:cNvPr id="16" name="図 15">
            <a:extLst>
              <a:ext uri="{FF2B5EF4-FFF2-40B4-BE49-F238E27FC236}">
                <a16:creationId xmlns:a16="http://schemas.microsoft.com/office/drawing/2014/main" id="{218FBA66-A5A7-9CAA-B246-CE0F79645A6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7459"/>
          <a:stretch/>
        </p:blipFill>
        <p:spPr>
          <a:xfrm>
            <a:off x="9249096" y="986417"/>
            <a:ext cx="1499661" cy="5660657"/>
          </a:xfrm>
          <a:prstGeom prst="rect">
            <a:avLst/>
          </a:prstGeom>
          <a:ln>
            <a:solidFill>
              <a:schemeClr val="accent4">
                <a:lumMod val="75000"/>
              </a:schemeClr>
            </a:solidFill>
          </a:ln>
        </p:spPr>
      </p:pic>
      <p:cxnSp>
        <p:nvCxnSpPr>
          <p:cNvPr id="18" name="直線矢印コネクタ 17">
            <a:extLst>
              <a:ext uri="{FF2B5EF4-FFF2-40B4-BE49-F238E27FC236}">
                <a16:creationId xmlns:a16="http://schemas.microsoft.com/office/drawing/2014/main" id="{2C5E4660-7186-CB5E-419A-17884A25EC39}"/>
              </a:ext>
            </a:extLst>
          </p:cNvPr>
          <p:cNvCxnSpPr>
            <a:cxnSpLocks/>
          </p:cNvCxnSpPr>
          <p:nvPr/>
        </p:nvCxnSpPr>
        <p:spPr>
          <a:xfrm>
            <a:off x="8017727" y="3777488"/>
            <a:ext cx="950436" cy="0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3195DA3D-9113-A7B9-1EE6-AABD19DE6625}"/>
              </a:ext>
            </a:extLst>
          </p:cNvPr>
          <p:cNvSpPr txBox="1"/>
          <p:nvPr/>
        </p:nvSpPr>
        <p:spPr>
          <a:xfrm>
            <a:off x="7923514" y="3385471"/>
            <a:ext cx="118511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実行結果</a:t>
            </a:r>
          </a:p>
        </p:txBody>
      </p:sp>
    </p:spTree>
    <p:extLst>
      <p:ext uri="{BB962C8B-B14F-4D97-AF65-F5344CB8AC3E}">
        <p14:creationId xmlns:p14="http://schemas.microsoft.com/office/powerpoint/2010/main" val="310644091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８</a:t>
            </a:r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章　</a:t>
            </a:r>
            <a:r>
              <a:rPr kumimoji="1" lang="en-US" altLang="ja-JP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</a:t>
            </a:r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３　フローチャート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78782C7-6070-7C3A-DAB7-3101F4C6ED5C}"/>
              </a:ext>
            </a:extLst>
          </p:cNvPr>
          <p:cNvSpPr/>
          <p:nvPr/>
        </p:nvSpPr>
        <p:spPr>
          <a:xfrm>
            <a:off x="884439" y="1097282"/>
            <a:ext cx="10613447" cy="552895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## </a:t>
            </a:r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７章の問題点</a:t>
            </a:r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ja-JP" altLang="en-US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・</a:t>
            </a:r>
            <a:r>
              <a:rPr lang="en-US" altLang="ja-JP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symbol</a:t>
            </a:r>
            <a:r>
              <a:rPr lang="ja-JP" altLang="en-US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の出力が文字列のままになっている</a:t>
            </a:r>
            <a:endParaRPr lang="en-US" altLang="ja-JP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kumimoji="1" lang="en-US" altLang="ja-JP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endParaRPr lang="en-US" altLang="ja-JP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kumimoji="1" lang="ja-JP" altLang="en-US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・</a:t>
            </a:r>
            <a:r>
              <a:rPr kumimoji="1" lang="en-US" altLang="ja-JP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play()</a:t>
            </a:r>
            <a:r>
              <a:rPr kumimoji="1" lang="ja-JP" altLang="en-US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の中で</a:t>
            </a:r>
            <a:r>
              <a:rPr kumimoji="1" lang="en-US" altLang="ja-JP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print</a:t>
            </a:r>
            <a:r>
              <a:rPr kumimoji="1" lang="ja-JP" altLang="en-US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を呼び出しているため賞金しか保存されない</a:t>
            </a:r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CA97A842-D302-F886-A16D-C10AA16B1B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1988" y="1991463"/>
            <a:ext cx="1228896" cy="466790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14" name="図 13">
            <a:extLst>
              <a:ext uri="{FF2B5EF4-FFF2-40B4-BE49-F238E27FC236}">
                <a16:creationId xmlns:a16="http://schemas.microsoft.com/office/drawing/2014/main" id="{342DD4E0-15BD-13B2-F9AB-331C495C3C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01988" y="3252075"/>
            <a:ext cx="1771897" cy="609685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179089896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８</a:t>
            </a:r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章　</a:t>
            </a:r>
            <a:r>
              <a:rPr kumimoji="1" lang="en-US" altLang="ja-JP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S3</a:t>
            </a:r>
            <a:endParaRPr kumimoji="1" lang="ja-JP" altLang="en-US" sz="30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78782C7-6070-7C3A-DAB7-3101F4C6ED5C}"/>
              </a:ext>
            </a:extLst>
          </p:cNvPr>
          <p:cNvSpPr/>
          <p:nvPr/>
        </p:nvSpPr>
        <p:spPr>
          <a:xfrm>
            <a:off x="658169" y="1098587"/>
            <a:ext cx="10540261" cy="552895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5CE81D2-C5EE-4E63-DA6F-4D50A6E33162}"/>
              </a:ext>
            </a:extLst>
          </p:cNvPr>
          <p:cNvSpPr/>
          <p:nvPr/>
        </p:nvSpPr>
        <p:spPr>
          <a:xfrm>
            <a:off x="8561647" y="1263081"/>
            <a:ext cx="2391170" cy="11836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en-US" altLang="ja-JP" sz="1000" dirty="0">
              <a:solidFill>
                <a:schemeClr val="tx1"/>
              </a:solidFill>
            </a:endParaRP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F422FEA-2F34-70ED-56A9-01A65A2AD1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560" y="1143635"/>
            <a:ext cx="9391483" cy="544628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＃</a:t>
            </a:r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</a:t>
            </a:r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変数名：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74FF8975-518B-E7D8-023D-CCCCAEBC6F95}"/>
              </a:ext>
            </a:extLst>
          </p:cNvPr>
          <p:cNvCxnSpPr>
            <a:cxnSpLocks/>
          </p:cNvCxnSpPr>
          <p:nvPr/>
        </p:nvCxnSpPr>
        <p:spPr>
          <a:xfrm>
            <a:off x="4548393" y="1472982"/>
            <a:ext cx="581891" cy="0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752345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８章　</a:t>
            </a:r>
            <a:r>
              <a:rPr kumimoji="1" lang="en-US" altLang="ja-JP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</a:t>
            </a:r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３　</a:t>
            </a:r>
            <a:r>
              <a:rPr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最終コード</a:t>
            </a:r>
            <a:endParaRPr kumimoji="1" lang="ja-JP" altLang="en-US" sz="30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661A3A95-316A-208D-1006-9B4CAF8277CA}"/>
              </a:ext>
            </a:extLst>
          </p:cNvPr>
          <p:cNvSpPr/>
          <p:nvPr/>
        </p:nvSpPr>
        <p:spPr>
          <a:xfrm>
            <a:off x="528181" y="892099"/>
            <a:ext cx="11135638" cy="596590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780539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kumimoji="1" lang="en-US" altLang="ja-JP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9</a:t>
            </a:r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章　</a:t>
            </a:r>
            <a:r>
              <a:rPr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ループ　フローチャート</a:t>
            </a:r>
            <a:endParaRPr kumimoji="1" lang="ja-JP" altLang="en-US" sz="30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78782C7-6070-7C3A-DAB7-3101F4C6ED5C}"/>
              </a:ext>
            </a:extLst>
          </p:cNvPr>
          <p:cNvSpPr/>
          <p:nvPr/>
        </p:nvSpPr>
        <p:spPr>
          <a:xfrm>
            <a:off x="789276" y="1014608"/>
            <a:ext cx="10613447" cy="552895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＃＃スロットマシンの払戻率</a:t>
            </a:r>
            <a:r>
              <a:rPr kumimoji="1" lang="en-US" altLang="ja-JP" b="1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(</a:t>
            </a:r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期待値</a:t>
            </a:r>
            <a:r>
              <a:rPr kumimoji="1" lang="en-US" altLang="ja-JP" b="1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  <a:r>
              <a:rPr kumimoji="1" lang="ja-JP" altLang="en-US" b="1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を計算する</a:t>
            </a:r>
            <a:endParaRPr kumimoji="1" lang="en-US" altLang="ja-JP" b="1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grpSp>
        <p:nvGrpSpPr>
          <p:cNvPr id="15" name="グループ化 14">
            <a:extLst>
              <a:ext uri="{FF2B5EF4-FFF2-40B4-BE49-F238E27FC236}">
                <a16:creationId xmlns:a16="http://schemas.microsoft.com/office/drawing/2014/main" id="{81F87E62-FE98-AD0F-8513-D49DDA134022}"/>
              </a:ext>
            </a:extLst>
          </p:cNvPr>
          <p:cNvGrpSpPr/>
          <p:nvPr/>
        </p:nvGrpSpPr>
        <p:grpSpPr>
          <a:xfrm>
            <a:off x="1413496" y="1690477"/>
            <a:ext cx="3917578" cy="2481371"/>
            <a:chOff x="1413496" y="1690477"/>
            <a:chExt cx="3917578" cy="2481371"/>
          </a:xfrm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3" name="正方形/長方形 2">
                  <a:extLst>
                    <a:ext uri="{FF2B5EF4-FFF2-40B4-BE49-F238E27FC236}">
                      <a16:creationId xmlns:a16="http://schemas.microsoft.com/office/drawing/2014/main" id="{4A70EA27-BE83-22C7-C007-EDDA72064008}"/>
                    </a:ext>
                  </a:extLst>
                </p:cNvPr>
                <p:cNvSpPr/>
                <p:nvPr/>
              </p:nvSpPr>
              <p:spPr>
                <a:xfrm>
                  <a:off x="1413496" y="1690477"/>
                  <a:ext cx="3917578" cy="2481371"/>
                </a:xfrm>
                <a:prstGeom prst="rect">
                  <a:avLst/>
                </a:prstGeom>
                <a:solidFill>
                  <a:srgbClr val="FFFFFF"/>
                </a:solidFill>
                <a:ln>
                  <a:solidFill>
                    <a:schemeClr val="bg2">
                      <a:lumMod val="90000"/>
                    </a:schemeClr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t"/>
                <a:lstStyle/>
                <a:p>
                  <a:r>
                    <a:rPr kumimoji="1" lang="ja-JP" altLang="en-US" sz="1500" dirty="0">
                      <a:solidFill>
                        <a:schemeClr val="tx1"/>
                      </a:solidFill>
                      <a:latin typeface="メイリオ" panose="020B0604030504040204" pitchFamily="50" charset="-128"/>
                      <a:ea typeface="メイリオ" panose="020B0604030504040204" pitchFamily="50" charset="-128"/>
                    </a:rPr>
                    <a:t>期待値を求める手順</a:t>
                  </a:r>
                  <a:endParaRPr kumimoji="1" lang="en-US" altLang="ja-JP" sz="1500" dirty="0">
                    <a:solidFill>
                      <a:schemeClr val="tx1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</a:endParaRPr>
                </a:p>
                <a:p>
                  <a:endParaRPr kumimoji="1" lang="en-US" altLang="ja-JP" sz="1500" dirty="0">
                    <a:solidFill>
                      <a:schemeClr val="tx1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</a:endParaRPr>
                </a:p>
                <a:p>
                  <a:r>
                    <a:rPr lang="ja-JP" altLang="en-US" sz="1500" dirty="0">
                      <a:solidFill>
                        <a:schemeClr val="tx1"/>
                      </a:solidFill>
                      <a:latin typeface="メイリオ" panose="020B0604030504040204" pitchFamily="50" charset="-128"/>
                      <a:ea typeface="メイリオ" panose="020B0604030504040204" pitchFamily="50" charset="-128"/>
                    </a:rPr>
                    <a:t>　　組み合わせをリストにする</a:t>
                  </a:r>
                  <a:endParaRPr lang="en-US" altLang="ja-JP" sz="1500" dirty="0">
                    <a:solidFill>
                      <a:schemeClr val="tx1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</a:endParaRPr>
                </a:p>
                <a:p>
                  <a:endParaRPr lang="en-US" altLang="ja-JP" sz="1500" dirty="0">
                    <a:solidFill>
                      <a:schemeClr val="tx1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</a:endParaRPr>
                </a:p>
                <a:p>
                  <a:r>
                    <a:rPr lang="ja-JP" altLang="en-US" sz="1500" dirty="0">
                      <a:solidFill>
                        <a:schemeClr val="tx1"/>
                      </a:solidFill>
                      <a:latin typeface="メイリオ" panose="020B0604030504040204" pitchFamily="50" charset="-128"/>
                      <a:ea typeface="メイリオ" panose="020B0604030504040204" pitchFamily="50" charset="-128"/>
                    </a:rPr>
                    <a:t>　　</a:t>
                  </a:r>
                  <a:r>
                    <a:rPr lang="en-US" altLang="ja-JP" sz="1500" dirty="0">
                      <a:solidFill>
                        <a:schemeClr val="tx1"/>
                      </a:solidFill>
                      <a:latin typeface="メイリオ" panose="020B0604030504040204" pitchFamily="50" charset="-128"/>
                      <a:ea typeface="メイリオ" panose="020B0604030504040204" pitchFamily="50" charset="-128"/>
                    </a:rPr>
                    <a:t>P(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ja-JP" sz="15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メイリオ" panose="020B0604030504040204" pitchFamily="50" charset="-128"/>
                            </a:rPr>
                          </m:ctrlPr>
                        </m:sSubPr>
                        <m:e>
                          <m:r>
                            <a:rPr lang="en-US" altLang="ja-JP" sz="15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メイリオ" panose="020B0604030504040204" pitchFamily="50" charset="-128"/>
                            </a:rPr>
                            <m:t>𝑥</m:t>
                          </m:r>
                        </m:e>
                        <m:sub>
                          <m:r>
                            <a:rPr lang="en-US" altLang="ja-JP" sz="15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メイリオ" panose="020B0604030504040204" pitchFamily="50" charset="-128"/>
                            </a:rPr>
                            <m:t>𝑖</m:t>
                          </m:r>
                        </m:sub>
                      </m:sSub>
                    </m:oMath>
                  </a14:m>
                  <a:r>
                    <a:rPr lang="en-US" altLang="ja-JP" sz="1500" dirty="0">
                      <a:solidFill>
                        <a:schemeClr val="tx1"/>
                      </a:solidFill>
                      <a:latin typeface="メイリオ" panose="020B0604030504040204" pitchFamily="50" charset="-128"/>
                      <a:ea typeface="メイリオ" panose="020B0604030504040204" pitchFamily="50" charset="-128"/>
                    </a:rPr>
                    <a:t>) </a:t>
                  </a:r>
                  <a:r>
                    <a:rPr lang="ja-JP" altLang="en-US" sz="1500" dirty="0">
                      <a:solidFill>
                        <a:schemeClr val="tx1"/>
                      </a:solidFill>
                      <a:latin typeface="メイリオ" panose="020B0604030504040204" pitchFamily="50" charset="-128"/>
                      <a:ea typeface="メイリオ" panose="020B0604030504040204" pitchFamily="50" charset="-128"/>
                    </a:rPr>
                    <a:t>「個々の確率」を追加</a:t>
                  </a:r>
                  <a:r>
                    <a:rPr lang="en-US" altLang="ja-JP" sz="1500" dirty="0">
                      <a:solidFill>
                        <a:schemeClr val="tx1"/>
                      </a:solidFill>
                      <a:latin typeface="メイリオ" panose="020B0604030504040204" pitchFamily="50" charset="-128"/>
                      <a:ea typeface="メイリオ" panose="020B0604030504040204" pitchFamily="50" charset="-128"/>
                    </a:rPr>
                    <a:t> (prob)</a:t>
                  </a:r>
                </a:p>
                <a:p>
                  <a:endParaRPr lang="en-US" altLang="ja-JP" sz="1500" dirty="0">
                    <a:solidFill>
                      <a:schemeClr val="tx1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</a:endParaRPr>
                </a:p>
                <a:p>
                  <a:r>
                    <a:rPr lang="ja-JP" altLang="en-US" sz="1500" dirty="0">
                      <a:solidFill>
                        <a:schemeClr val="tx1"/>
                      </a:solidFill>
                      <a:ea typeface="メイリオ" panose="020B0604030504040204" pitchFamily="50" charset="-128"/>
                    </a:rPr>
                    <a:t>　　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ja-JP" sz="150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メイリオ" panose="020B0604030504040204" pitchFamily="50" charset="-128"/>
                            </a:rPr>
                          </m:ctrlPr>
                        </m:sSubPr>
                        <m:e>
                          <m:r>
                            <a:rPr lang="en-US" altLang="ja-JP" sz="15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メイリオ" panose="020B0604030504040204" pitchFamily="50" charset="-128"/>
                            </a:rPr>
                            <m:t>𝑥</m:t>
                          </m:r>
                        </m:e>
                        <m:sub>
                          <m:r>
                            <a:rPr lang="en-US" altLang="ja-JP" sz="15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メイリオ" panose="020B0604030504040204" pitchFamily="50" charset="-128"/>
                            </a:rPr>
                            <m:t>𝑖</m:t>
                          </m:r>
                        </m:sub>
                      </m:sSub>
                      <m:r>
                        <a:rPr lang="en-US" altLang="ja-JP" sz="15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メイリオ" panose="020B0604030504040204" pitchFamily="50" charset="-128"/>
                        </a:rPr>
                        <m:t>      </m:t>
                      </m:r>
                      <m:r>
                        <a:rPr lang="ja-JP" altLang="en-US" sz="1500" i="1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  <a:ea typeface="メイリオ" panose="020B0604030504040204" pitchFamily="50" charset="-128"/>
                        </a:rPr>
                        <m:t>「</m:t>
                      </m:r>
                    </m:oMath>
                  </a14:m>
                  <a:r>
                    <a:rPr lang="ja-JP" altLang="en-US" sz="1500" dirty="0">
                      <a:solidFill>
                        <a:schemeClr val="tx1"/>
                      </a:solidFill>
                      <a:latin typeface="メイリオ" panose="020B0604030504040204" pitchFamily="50" charset="-128"/>
                      <a:ea typeface="メイリオ" panose="020B0604030504040204" pitchFamily="50" charset="-128"/>
                    </a:rPr>
                    <a:t>個々の賞金」を追加 </a:t>
                  </a:r>
                  <a:r>
                    <a:rPr lang="en-US" altLang="ja-JP" sz="1500" dirty="0">
                      <a:solidFill>
                        <a:schemeClr val="tx1"/>
                      </a:solidFill>
                      <a:latin typeface="メイリオ" panose="020B0604030504040204" pitchFamily="50" charset="-128"/>
                      <a:ea typeface="メイリオ" panose="020B0604030504040204" pitchFamily="50" charset="-128"/>
                    </a:rPr>
                    <a:t>(prize)</a:t>
                  </a:r>
                </a:p>
                <a:p>
                  <a:pPr marL="342900" indent="-342900">
                    <a:buAutoNum type="arabicPeriod" startAt="3"/>
                  </a:pPr>
                  <a:endParaRPr lang="en-US" altLang="ja-JP" sz="1500" dirty="0">
                    <a:solidFill>
                      <a:schemeClr val="tx1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</a:endParaRPr>
                </a:p>
                <a:p>
                  <a:r>
                    <a:rPr lang="ja-JP" altLang="en-US" sz="1500" dirty="0">
                      <a:solidFill>
                        <a:schemeClr val="tx1"/>
                      </a:solidFill>
                      <a:latin typeface="メイリオ" panose="020B0604030504040204" pitchFamily="50" charset="-128"/>
                      <a:ea typeface="メイリオ" panose="020B0604030504040204" pitchFamily="50" charset="-128"/>
                    </a:rPr>
                    <a:t>　　</a:t>
                  </a:r>
                  <a:r>
                    <a:rPr lang="en-US" altLang="ja-JP" sz="1500" dirty="0">
                      <a:solidFill>
                        <a:schemeClr val="tx1"/>
                      </a:solidFill>
                      <a:latin typeface="メイリオ" panose="020B0604030504040204" pitchFamily="50" charset="-128"/>
                      <a:ea typeface="メイリオ" panose="020B0604030504040204" pitchFamily="50" charset="-128"/>
                    </a:rPr>
                    <a:t>E(x)  </a:t>
                  </a:r>
                  <a:r>
                    <a:rPr lang="ja-JP" altLang="en-US" sz="1500" dirty="0">
                      <a:solidFill>
                        <a:schemeClr val="tx1"/>
                      </a:solidFill>
                      <a:latin typeface="メイリオ" panose="020B0604030504040204" pitchFamily="50" charset="-128"/>
                      <a:ea typeface="メイリオ" panose="020B0604030504040204" pitchFamily="50" charset="-128"/>
                    </a:rPr>
                    <a:t>「期待値」</a:t>
                  </a:r>
                  <a:endParaRPr lang="en-US" altLang="ja-JP" sz="1500" dirty="0">
                    <a:solidFill>
                      <a:schemeClr val="tx1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</a:endParaRPr>
                </a:p>
              </p:txBody>
            </p:sp>
          </mc:Choice>
          <mc:Fallback>
            <p:sp>
              <p:nvSpPr>
                <p:cNvPr id="3" name="正方形/長方形 2">
                  <a:extLst>
                    <a:ext uri="{FF2B5EF4-FFF2-40B4-BE49-F238E27FC236}">
                      <a16:creationId xmlns:a16="http://schemas.microsoft.com/office/drawing/2014/main" id="{4A70EA27-BE83-22C7-C007-EDDA72064008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413496" y="1690477"/>
                  <a:ext cx="3917578" cy="2481371"/>
                </a:xfrm>
                <a:prstGeom prst="rect">
                  <a:avLst/>
                </a:prstGeom>
                <a:blipFill>
                  <a:blip r:embed="rId2"/>
                  <a:stretch>
                    <a:fillRect l="-465"/>
                  </a:stretch>
                </a:blipFill>
                <a:ln>
                  <a:solidFill>
                    <a:schemeClr val="bg2">
                      <a:lumMod val="90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ja-JP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7" name="楕円 6">
              <a:extLst>
                <a:ext uri="{FF2B5EF4-FFF2-40B4-BE49-F238E27FC236}">
                  <a16:creationId xmlns:a16="http://schemas.microsoft.com/office/drawing/2014/main" id="{28BB8CD2-4C1D-A6B0-3CFE-5DFAC41ED353}"/>
                </a:ext>
              </a:extLst>
            </p:cNvPr>
            <p:cNvSpPr/>
            <p:nvPr/>
          </p:nvSpPr>
          <p:spPr>
            <a:xfrm>
              <a:off x="1562701" y="2190297"/>
              <a:ext cx="206220" cy="232109"/>
            </a:xfrm>
            <a:prstGeom prst="ellipse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rtlCol="0" anchor="ctr"/>
            <a:lstStyle/>
            <a:p>
              <a:pPr algn="ctr"/>
              <a:r>
                <a:rPr kumimoji="1" lang="ja-JP" altLang="en-US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１</a:t>
              </a:r>
            </a:p>
          </p:txBody>
        </p:sp>
        <p:sp>
          <p:nvSpPr>
            <p:cNvPr id="8" name="楕円 7">
              <a:extLst>
                <a:ext uri="{FF2B5EF4-FFF2-40B4-BE49-F238E27FC236}">
                  <a16:creationId xmlns:a16="http://schemas.microsoft.com/office/drawing/2014/main" id="{9F574DB6-9FAE-E3D0-25B7-830B8F8E4152}"/>
                </a:ext>
              </a:extLst>
            </p:cNvPr>
            <p:cNvSpPr/>
            <p:nvPr/>
          </p:nvSpPr>
          <p:spPr>
            <a:xfrm>
              <a:off x="1562701" y="2676579"/>
              <a:ext cx="206220" cy="232109"/>
            </a:xfrm>
            <a:prstGeom prst="ellipse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rtlCol="0" anchor="ctr"/>
            <a:lstStyle/>
            <a:p>
              <a:pPr algn="ctr"/>
              <a:r>
                <a:rPr lang="en-US" altLang="ja-JP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2</a:t>
              </a:r>
              <a:endPara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9" name="楕円 8">
              <a:extLst>
                <a:ext uri="{FF2B5EF4-FFF2-40B4-BE49-F238E27FC236}">
                  <a16:creationId xmlns:a16="http://schemas.microsoft.com/office/drawing/2014/main" id="{EE91F29C-A4B0-8094-5318-C969088D25D7}"/>
                </a:ext>
              </a:extLst>
            </p:cNvPr>
            <p:cNvSpPr/>
            <p:nvPr/>
          </p:nvSpPr>
          <p:spPr>
            <a:xfrm>
              <a:off x="1562701" y="3122579"/>
              <a:ext cx="206220" cy="232109"/>
            </a:xfrm>
            <a:prstGeom prst="ellipse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rtlCol="0" anchor="ctr"/>
            <a:lstStyle/>
            <a:p>
              <a:pPr algn="ctr"/>
              <a:r>
                <a:rPr kumimoji="1" lang="en-US" altLang="ja-JP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3</a:t>
              </a:r>
            </a:p>
          </p:txBody>
        </p:sp>
        <p:sp>
          <p:nvSpPr>
            <p:cNvPr id="10" name="楕円 9">
              <a:extLst>
                <a:ext uri="{FF2B5EF4-FFF2-40B4-BE49-F238E27FC236}">
                  <a16:creationId xmlns:a16="http://schemas.microsoft.com/office/drawing/2014/main" id="{C0980DBD-9550-9C9A-38FD-3C778DFE5707}"/>
                </a:ext>
              </a:extLst>
            </p:cNvPr>
            <p:cNvSpPr/>
            <p:nvPr/>
          </p:nvSpPr>
          <p:spPr>
            <a:xfrm>
              <a:off x="1562701" y="3555041"/>
              <a:ext cx="206220" cy="232109"/>
            </a:xfrm>
            <a:prstGeom prst="ellipse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rtlCol="0" anchor="ctr"/>
            <a:lstStyle/>
            <a:p>
              <a:pPr algn="ctr"/>
              <a:r>
                <a:rPr kumimoji="1" lang="en-US" altLang="ja-JP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4</a:t>
              </a:r>
            </a:p>
          </p:txBody>
        </p:sp>
      </p:grpSp>
      <p:grpSp>
        <p:nvGrpSpPr>
          <p:cNvPr id="16" name="グループ化 15">
            <a:extLst>
              <a:ext uri="{FF2B5EF4-FFF2-40B4-BE49-F238E27FC236}">
                <a16:creationId xmlns:a16="http://schemas.microsoft.com/office/drawing/2014/main" id="{845ABC1E-FFA8-E070-A92B-61C3A98A097E}"/>
              </a:ext>
            </a:extLst>
          </p:cNvPr>
          <p:cNvGrpSpPr/>
          <p:nvPr/>
        </p:nvGrpSpPr>
        <p:grpSpPr>
          <a:xfrm>
            <a:off x="5639977" y="1714781"/>
            <a:ext cx="2441901" cy="1238703"/>
            <a:chOff x="5955294" y="2422406"/>
            <a:chExt cx="2441901" cy="1238703"/>
          </a:xfrm>
        </p:grpSpPr>
        <p:grpSp>
          <p:nvGrpSpPr>
            <p:cNvPr id="19" name="グループ化 18">
              <a:extLst>
                <a:ext uri="{FF2B5EF4-FFF2-40B4-BE49-F238E27FC236}">
                  <a16:creationId xmlns:a16="http://schemas.microsoft.com/office/drawing/2014/main" id="{C6851C2C-4387-1630-E98C-F3095ED2077A}"/>
                </a:ext>
              </a:extLst>
            </p:cNvPr>
            <p:cNvGrpSpPr/>
            <p:nvPr/>
          </p:nvGrpSpPr>
          <p:grpSpPr>
            <a:xfrm>
              <a:off x="5955294" y="2422406"/>
              <a:ext cx="2441901" cy="1226867"/>
              <a:chOff x="8536877" y="1219843"/>
              <a:chExt cx="2441901" cy="1226867"/>
            </a:xfrm>
          </p:grpSpPr>
          <p:sp>
            <p:nvSpPr>
              <p:cNvPr id="6" name="正方形/長方形 5">
                <a:extLst>
                  <a:ext uri="{FF2B5EF4-FFF2-40B4-BE49-F238E27FC236}">
                    <a16:creationId xmlns:a16="http://schemas.microsoft.com/office/drawing/2014/main" id="{75CE81D2-C5EE-4E63-DA6F-4D50A6E33162}"/>
                  </a:ext>
                </a:extLst>
              </p:cNvPr>
              <p:cNvSpPr/>
              <p:nvPr/>
            </p:nvSpPr>
            <p:spPr>
              <a:xfrm>
                <a:off x="8536877" y="1219843"/>
                <a:ext cx="2391170" cy="1183629"/>
              </a:xfrm>
              <a:prstGeom prst="rect">
                <a:avLst/>
              </a:prstGeom>
              <a:solidFill>
                <a:schemeClr val="accent2">
                  <a:lumMod val="40000"/>
                  <a:lumOff val="6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t"/>
              <a:lstStyle/>
              <a:p>
                <a:r>
                  <a:rPr lang="ja-JP" altLang="en-US" sz="2000" dirty="0">
                    <a:solidFill>
                      <a:schemeClr val="tx1"/>
                    </a:solidFill>
                    <a:latin typeface="メイリオ" panose="020B0604030504040204" pitchFamily="50" charset="-128"/>
                    <a:ea typeface="メイリオ" panose="020B0604030504040204" pitchFamily="50" charset="-128"/>
                  </a:rPr>
                  <a:t>期待値</a:t>
                </a:r>
                <a:endParaRPr lang="en-US" altLang="ja-JP" sz="2000" dirty="0">
                  <a:solidFill>
                    <a:schemeClr val="tx1"/>
                  </a:solidFill>
                  <a:latin typeface="メイリオ" panose="020B0604030504040204" pitchFamily="50" charset="-128"/>
                  <a:ea typeface="メイリオ" panose="020B0604030504040204" pitchFamily="50" charset="-128"/>
                </a:endParaRPr>
              </a:p>
              <a:p>
                <a:endParaRPr lang="en-US" altLang="ja-JP" sz="1000" dirty="0">
                  <a:solidFill>
                    <a:schemeClr val="tx1"/>
                  </a:solidFill>
                </a:endParaRPr>
              </a:p>
              <a:p>
                <a:endParaRPr lang="en-US" altLang="ja-JP" sz="1050" dirty="0">
                  <a:solidFill>
                    <a:schemeClr val="tx1"/>
                  </a:solidFill>
                </a:endParaRPr>
              </a:p>
              <a:p>
                <a:r>
                  <a:rPr lang="en-US" altLang="ja-JP" sz="2000" dirty="0">
                    <a:solidFill>
                      <a:schemeClr val="tx1"/>
                    </a:solidFill>
                  </a:rPr>
                  <a:t>E(x) =</a:t>
                </a:r>
                <a:r>
                  <a:rPr lang="en-US" altLang="ja-JP" sz="1000" dirty="0">
                    <a:solidFill>
                      <a:schemeClr val="tx1"/>
                    </a:solidFill>
                  </a:rPr>
                  <a:t> </a:t>
                </a:r>
              </a:p>
            </p:txBody>
          </p:sp>
          <mc:AlternateContent xmlns:mc="http://schemas.openxmlformats.org/markup-compatibility/2006">
            <mc:Choice xmlns:a14="http://schemas.microsoft.com/office/drawing/2010/main" Requires="a14">
              <p:sp>
                <p:nvSpPr>
                  <p:cNvPr id="5" name="テキスト ボックス 4">
                    <a:extLst>
                      <a:ext uri="{FF2B5EF4-FFF2-40B4-BE49-F238E27FC236}">
                        <a16:creationId xmlns:a16="http://schemas.microsoft.com/office/drawing/2014/main" id="{EFD6AF95-37D7-5BF7-F732-2732C17EE5DF}"/>
                      </a:ext>
                    </a:extLst>
                  </p:cNvPr>
                  <p:cNvSpPr txBox="1"/>
                  <p:nvPr/>
                </p:nvSpPr>
                <p:spPr>
                  <a:xfrm>
                    <a:off x="9451565" y="1690477"/>
                    <a:ext cx="1527213" cy="756233"/>
                  </a:xfrm>
                  <a:prstGeom prst="rect">
                    <a:avLst/>
                  </a:prstGeom>
                  <a:noFill/>
                </p:spPr>
                <p:txBody>
                  <a:bodyPr wrap="none" lIns="0" tIns="0" rIns="0" bIns="0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nary>
                            <m:naryPr>
                              <m:chr m:val="∑"/>
                              <m:limLoc m:val="undOvr"/>
                              <m:grow m:val="on"/>
                              <m:ctrlPr>
                                <a:rPr kumimoji="1" lang="ja-JP" altLang="en-US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kumimoji="1" lang="ja-JP" altLang="en-US" i="1">
                                  <a:latin typeface="Cambria Math" panose="02040503050406030204" pitchFamily="18" charset="0"/>
                                </a:rPr>
                                <m:t>𝑖</m:t>
                              </m:r>
                              <m:r>
                                <a:rPr kumimoji="1" lang="ja-JP" altLang="en-US" i="0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kumimoji="1" lang="ja-JP" altLang="en-US" i="1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kumimoji="1" lang="en-US" altLang="ja-JP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kumimoji="1" lang="en-US" altLang="ja-JP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ja-JP" altLang="en-US" i="1">
                                  <a:latin typeface="Cambria Math" panose="02040503050406030204" pitchFamily="18" charset="0"/>
                                </a:rPr>
                                <m:t>・</m:t>
                              </m:r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𝑃</m:t>
                              </m:r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ja-JP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sub>
                              </m:sSub>
                              <m:r>
                                <a:rPr lang="en-US" altLang="ja-JP" b="0" i="1" smtClean="0">
                                  <a:latin typeface="Cambria Math" panose="02040503050406030204" pitchFamily="18" charset="0"/>
                                </a:rPr>
                                <m:t>))</m:t>
                              </m:r>
                            </m:e>
                          </m:nary>
                        </m:oMath>
                      </m:oMathPara>
                    </a14:m>
                    <a:endParaRPr kumimoji="1" lang="ja-JP" altLang="en-US" dirty="0"/>
                  </a:p>
                </p:txBody>
              </p:sp>
            </mc:Choice>
            <mc:Fallback>
              <p:sp>
                <p:nvSpPr>
                  <p:cNvPr id="5" name="テキスト ボックス 4">
                    <a:extLst>
                      <a:ext uri="{FF2B5EF4-FFF2-40B4-BE49-F238E27FC236}">
                        <a16:creationId xmlns:a16="http://schemas.microsoft.com/office/drawing/2014/main" id="{EFD6AF95-37D7-5BF7-F732-2732C17EE5D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9451565" y="1690477"/>
                    <a:ext cx="1527213" cy="756233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ja-JP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12" name="楕円 11">
              <a:extLst>
                <a:ext uri="{FF2B5EF4-FFF2-40B4-BE49-F238E27FC236}">
                  <a16:creationId xmlns:a16="http://schemas.microsoft.com/office/drawing/2014/main" id="{9FB3D0C6-6659-7664-B270-AA193A0A303A}"/>
                </a:ext>
              </a:extLst>
            </p:cNvPr>
            <p:cNvSpPr/>
            <p:nvPr/>
          </p:nvSpPr>
          <p:spPr>
            <a:xfrm>
              <a:off x="7912701" y="3395545"/>
              <a:ext cx="206220" cy="232109"/>
            </a:xfrm>
            <a:prstGeom prst="ellipse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rtlCol="0" anchor="ctr"/>
            <a:lstStyle/>
            <a:p>
              <a:pPr algn="ctr"/>
              <a:r>
                <a:rPr lang="en-US" altLang="ja-JP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2</a:t>
              </a:r>
              <a:endPara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endParaRPr>
            </a:p>
          </p:txBody>
        </p:sp>
        <p:sp>
          <p:nvSpPr>
            <p:cNvPr id="13" name="楕円 12">
              <a:extLst>
                <a:ext uri="{FF2B5EF4-FFF2-40B4-BE49-F238E27FC236}">
                  <a16:creationId xmlns:a16="http://schemas.microsoft.com/office/drawing/2014/main" id="{2966C088-F302-B3FF-A349-002F880B9943}"/>
                </a:ext>
              </a:extLst>
            </p:cNvPr>
            <p:cNvSpPr/>
            <p:nvPr/>
          </p:nvSpPr>
          <p:spPr>
            <a:xfrm>
              <a:off x="7288232" y="3429000"/>
              <a:ext cx="206220" cy="232109"/>
            </a:xfrm>
            <a:prstGeom prst="ellipse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rtlCol="0" anchor="ctr"/>
            <a:lstStyle/>
            <a:p>
              <a:pPr algn="ctr"/>
              <a:r>
                <a:rPr kumimoji="1" lang="en-US" altLang="ja-JP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3</a:t>
              </a:r>
            </a:p>
          </p:txBody>
        </p:sp>
        <p:sp>
          <p:nvSpPr>
            <p:cNvPr id="14" name="楕円 13">
              <a:extLst>
                <a:ext uri="{FF2B5EF4-FFF2-40B4-BE49-F238E27FC236}">
                  <a16:creationId xmlns:a16="http://schemas.microsoft.com/office/drawing/2014/main" id="{956A384D-F90E-7A51-543D-33E1A82470AB}"/>
                </a:ext>
              </a:extLst>
            </p:cNvPr>
            <p:cNvSpPr/>
            <p:nvPr/>
          </p:nvSpPr>
          <p:spPr>
            <a:xfrm>
              <a:off x="6142403" y="3428999"/>
              <a:ext cx="206220" cy="232109"/>
            </a:xfrm>
            <a:prstGeom prst="ellipse">
              <a:avLst/>
            </a:prstGeom>
            <a:solidFill>
              <a:schemeClr val="accent4">
                <a:lumMod val="75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tIns="90000" rtlCol="0" anchor="ctr"/>
            <a:lstStyle/>
            <a:p>
              <a:pPr algn="ctr"/>
              <a:r>
                <a:rPr kumimoji="1" lang="en-US" altLang="ja-JP" dirty="0">
                  <a:latin typeface="メイリオ" panose="020B0604030504040204" pitchFamily="50" charset="-128"/>
                  <a:ea typeface="メイリオ" panose="020B0604030504040204" pitchFamily="50" charset="-128"/>
                </a:rPr>
                <a:t>4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9676336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９章　ループ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78782C7-6070-7C3A-DAB7-3101F4C6ED5C}"/>
              </a:ext>
            </a:extLst>
          </p:cNvPr>
          <p:cNvSpPr/>
          <p:nvPr/>
        </p:nvSpPr>
        <p:spPr>
          <a:xfrm>
            <a:off x="682560" y="1066273"/>
            <a:ext cx="10540261" cy="5528957"/>
          </a:xfrm>
          <a:prstGeom prst="rect">
            <a:avLst/>
          </a:prstGeom>
          <a:solidFill>
            <a:schemeClr val="bg1"/>
          </a:solidFill>
          <a:ln w="57150">
            <a:solidFill>
              <a:schemeClr val="accent4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F422FEA-2F34-70ED-56A9-01A65A2AD1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560" y="1143635"/>
            <a:ext cx="9391483" cy="5446283"/>
          </a:xfrm>
        </p:spPr>
        <p:txBody>
          <a:bodyPr>
            <a:normAutofit/>
          </a:bodyPr>
          <a:lstStyle/>
          <a:p>
            <a:pPr algn="l"/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##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練習</a:t>
            </a:r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＃</a:t>
            </a:r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ウェイトのかかったさいころの期待値を計算する</a:t>
            </a:r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15" name="図 14">
            <a:extLst>
              <a:ext uri="{FF2B5EF4-FFF2-40B4-BE49-F238E27FC236}">
                <a16:creationId xmlns:a16="http://schemas.microsoft.com/office/drawing/2014/main" id="{2756502C-8C1E-B65D-2253-EC4888CCCE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850" y="2037498"/>
            <a:ext cx="5735714" cy="3992057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037E4005-37C7-F190-4FE3-D78BB0567FC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5820" r="76118"/>
          <a:stretch/>
        </p:blipFill>
        <p:spPr>
          <a:xfrm>
            <a:off x="4697220" y="6148830"/>
            <a:ext cx="2238944" cy="254442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74FF8975-518B-E7D8-023D-CCCCAEBC6F95}"/>
              </a:ext>
            </a:extLst>
          </p:cNvPr>
          <p:cNvCxnSpPr>
            <a:cxnSpLocks/>
          </p:cNvCxnSpPr>
          <p:nvPr/>
        </p:nvCxnSpPr>
        <p:spPr>
          <a:xfrm>
            <a:off x="3093558" y="3029030"/>
            <a:ext cx="4457700" cy="0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" name="図 19">
            <a:extLst>
              <a:ext uri="{FF2B5EF4-FFF2-40B4-BE49-F238E27FC236}">
                <a16:creationId xmlns:a16="http://schemas.microsoft.com/office/drawing/2014/main" id="{7DF4726D-09AD-20A1-84D0-1F7051028D94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10520" r="86549" b="78424"/>
          <a:stretch/>
        </p:blipFill>
        <p:spPr>
          <a:xfrm>
            <a:off x="7744625" y="2692561"/>
            <a:ext cx="1261044" cy="672939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pic>
        <p:nvPicPr>
          <p:cNvPr id="21" name="図 20">
            <a:extLst>
              <a:ext uri="{FF2B5EF4-FFF2-40B4-BE49-F238E27FC236}">
                <a16:creationId xmlns:a16="http://schemas.microsoft.com/office/drawing/2014/main" id="{99A74E32-60BC-5E0A-5150-F7D9C90CFAA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26375" r="73545" b="66729"/>
          <a:stretch/>
        </p:blipFill>
        <p:spPr>
          <a:xfrm>
            <a:off x="7736403" y="3379946"/>
            <a:ext cx="2480244" cy="419735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C9ECE7B1-66E5-FF30-6682-D63E9631F145}"/>
              </a:ext>
            </a:extLst>
          </p:cNvPr>
          <p:cNvCxnSpPr>
            <a:cxnSpLocks/>
          </p:cNvCxnSpPr>
          <p:nvPr/>
        </p:nvCxnSpPr>
        <p:spPr>
          <a:xfrm>
            <a:off x="2179158" y="3589813"/>
            <a:ext cx="5372100" cy="0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5" name="図 24">
            <a:extLst>
              <a:ext uri="{FF2B5EF4-FFF2-40B4-BE49-F238E27FC236}">
                <a16:creationId xmlns:a16="http://schemas.microsoft.com/office/drawing/2014/main" id="{7EC5E597-8A41-FF1C-481F-0F6923510EB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50580" r="82214" b="38760"/>
          <a:stretch/>
        </p:blipFill>
        <p:spPr>
          <a:xfrm>
            <a:off x="7736403" y="3923138"/>
            <a:ext cx="1667444" cy="648920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C457D67A-4C59-DDCE-374F-6A06D71FF0A8}"/>
              </a:ext>
            </a:extLst>
          </p:cNvPr>
          <p:cNvCxnSpPr>
            <a:cxnSpLocks/>
          </p:cNvCxnSpPr>
          <p:nvPr/>
        </p:nvCxnSpPr>
        <p:spPr>
          <a:xfrm>
            <a:off x="3003047" y="4529671"/>
            <a:ext cx="4548211" cy="0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8" name="図 27">
            <a:extLst>
              <a:ext uri="{FF2B5EF4-FFF2-40B4-BE49-F238E27FC236}">
                <a16:creationId xmlns:a16="http://schemas.microsoft.com/office/drawing/2014/main" id="{A914C37A-323E-A073-0ED3-6E8505B52953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66797" r="78286" b="22541"/>
          <a:stretch/>
        </p:blipFill>
        <p:spPr>
          <a:xfrm>
            <a:off x="7736403" y="4730181"/>
            <a:ext cx="2035744" cy="648921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cxnSp>
        <p:nvCxnSpPr>
          <p:cNvPr id="29" name="直線矢印コネクタ 28">
            <a:extLst>
              <a:ext uri="{FF2B5EF4-FFF2-40B4-BE49-F238E27FC236}">
                <a16:creationId xmlns:a16="http://schemas.microsoft.com/office/drawing/2014/main" id="{0E38F840-0398-BB90-C4CE-27B499FA4F44}"/>
              </a:ext>
            </a:extLst>
          </p:cNvPr>
          <p:cNvCxnSpPr>
            <a:cxnSpLocks/>
          </p:cNvCxnSpPr>
          <p:nvPr/>
        </p:nvCxnSpPr>
        <p:spPr>
          <a:xfrm>
            <a:off x="3003046" y="5054641"/>
            <a:ext cx="4548211" cy="0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0" name="図 29">
            <a:extLst>
              <a:ext uri="{FF2B5EF4-FFF2-40B4-BE49-F238E27FC236}">
                <a16:creationId xmlns:a16="http://schemas.microsoft.com/office/drawing/2014/main" id="{42C00B05-61D0-4A2F-7B10-4EA961A126C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82493" r="71783" b="6684"/>
          <a:stretch/>
        </p:blipFill>
        <p:spPr>
          <a:xfrm>
            <a:off x="7744625" y="5463081"/>
            <a:ext cx="2645344" cy="658737"/>
          </a:xfrm>
          <a:prstGeom prst="rect">
            <a:avLst/>
          </a:prstGeom>
          <a:ln>
            <a:solidFill>
              <a:schemeClr val="bg2">
                <a:lumMod val="90000"/>
              </a:schemeClr>
            </a:solidFill>
          </a:ln>
        </p:spPr>
      </p:pic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566A23AA-F880-FACC-3334-376B9079DE5B}"/>
              </a:ext>
            </a:extLst>
          </p:cNvPr>
          <p:cNvCxnSpPr>
            <a:cxnSpLocks/>
          </p:cNvCxnSpPr>
          <p:nvPr/>
        </p:nvCxnSpPr>
        <p:spPr>
          <a:xfrm>
            <a:off x="3003046" y="5588041"/>
            <a:ext cx="4548211" cy="0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線矢印コネクタ 32">
            <a:extLst>
              <a:ext uri="{FF2B5EF4-FFF2-40B4-BE49-F238E27FC236}">
                <a16:creationId xmlns:a16="http://schemas.microsoft.com/office/drawing/2014/main" id="{C1BBC8DC-6FEB-734C-3E44-02FCEC8545C6}"/>
              </a:ext>
            </a:extLst>
          </p:cNvPr>
          <p:cNvCxnSpPr>
            <a:cxnSpLocks/>
          </p:cNvCxnSpPr>
          <p:nvPr/>
        </p:nvCxnSpPr>
        <p:spPr>
          <a:xfrm>
            <a:off x="4382095" y="6148830"/>
            <a:ext cx="255612" cy="115682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3207842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９章　ループ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78782C7-6070-7C3A-DAB7-3101F4C6ED5C}"/>
              </a:ext>
            </a:extLst>
          </p:cNvPr>
          <p:cNvSpPr/>
          <p:nvPr/>
        </p:nvSpPr>
        <p:spPr>
          <a:xfrm>
            <a:off x="528181" y="1102297"/>
            <a:ext cx="10540261" cy="552895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F422FEA-2F34-70ED-56A9-01A65A2AD1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560" y="1143635"/>
            <a:ext cx="9391483" cy="544628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＃</a:t>
            </a:r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スロットマシンの</a:t>
            </a:r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期待値を求める</a:t>
            </a:r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##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スロットマシンのリストを作る</a:t>
            </a:r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実行内容：</a:t>
            </a:r>
            <a:r>
              <a:rPr lang="en-US" altLang="ja-JP" sz="1200" dirty="0" err="1">
                <a:latin typeface="メイリオ" panose="020B0604030504040204" pitchFamily="50" charset="-128"/>
                <a:ea typeface="メイリオ" panose="020B0604030504040204" pitchFamily="50" charset="-128"/>
              </a:rPr>
              <a:t>expand.grid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を使って３つの組み合わせのリストを作る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##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確率のルックアップテーブルを作る</a:t>
            </a:r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##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それぞれの確率を追加する</a:t>
            </a:r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74FF8975-518B-E7D8-023D-CCCCAEBC6F95}"/>
              </a:ext>
            </a:extLst>
          </p:cNvPr>
          <p:cNvCxnSpPr>
            <a:cxnSpLocks/>
          </p:cNvCxnSpPr>
          <p:nvPr/>
        </p:nvCxnSpPr>
        <p:spPr>
          <a:xfrm>
            <a:off x="4522993" y="677003"/>
            <a:ext cx="581891" cy="0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E325EE49-CC21-FA2A-9628-F197D866B664}"/>
              </a:ext>
            </a:extLst>
          </p:cNvPr>
          <p:cNvSpPr/>
          <p:nvPr/>
        </p:nvSpPr>
        <p:spPr>
          <a:xfrm>
            <a:off x="8210455" y="1014608"/>
            <a:ext cx="2391170" cy="3951092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ja-JP" sz="1200" dirty="0" err="1">
                <a:solidFill>
                  <a:schemeClr val="tx1"/>
                </a:solidFill>
              </a:rPr>
              <a:t>stringsAsFactors</a:t>
            </a:r>
            <a:r>
              <a:rPr lang="en-US" altLang="ja-JP" sz="1200" dirty="0">
                <a:solidFill>
                  <a:schemeClr val="tx1"/>
                </a:solidFill>
              </a:rPr>
              <a:t> = FALSE</a:t>
            </a:r>
          </a:p>
          <a:p>
            <a:endParaRPr lang="en-US" altLang="ja-JP" sz="1200" dirty="0">
              <a:solidFill>
                <a:schemeClr val="tx1"/>
              </a:solidFill>
            </a:endParaRPr>
          </a:p>
          <a:p>
            <a:r>
              <a:rPr lang="en-US" altLang="ja-JP" sz="1200" dirty="0">
                <a:solidFill>
                  <a:schemeClr val="tx1"/>
                </a:solidFill>
              </a:rPr>
              <a:t>https://nakazakimasahito.wordpress.com/2020/06/01/r-stringsasfactors-false%E3%81%AB%E3%81%A4%E3%81%84%E3%81%A6%E3%80%80/</a:t>
            </a:r>
            <a:endParaRPr lang="en-US" altLang="ja-JP" sz="1050" dirty="0">
              <a:solidFill>
                <a:schemeClr val="tx1"/>
              </a:solidFill>
            </a:endParaRPr>
          </a:p>
        </p:txBody>
      </p:sp>
      <p:pic>
        <p:nvPicPr>
          <p:cNvPr id="17" name="図 16">
            <a:extLst>
              <a:ext uri="{FF2B5EF4-FFF2-40B4-BE49-F238E27FC236}">
                <a16:creationId xmlns:a16="http://schemas.microsoft.com/office/drawing/2014/main" id="{E54533DD-62F6-CB97-1E4D-863931614F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9179" y="3790553"/>
            <a:ext cx="7421011" cy="314369"/>
          </a:xfrm>
          <a:prstGeom prst="rect">
            <a:avLst/>
          </a:prstGeom>
        </p:spPr>
      </p:pic>
      <p:pic>
        <p:nvPicPr>
          <p:cNvPr id="19" name="図 18">
            <a:extLst>
              <a:ext uri="{FF2B5EF4-FFF2-40B4-BE49-F238E27FC236}">
                <a16:creationId xmlns:a16="http://schemas.microsoft.com/office/drawing/2014/main" id="{52B92D81-993D-8414-49B8-57B484E9FA5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9179" y="4725370"/>
            <a:ext cx="3200847" cy="743054"/>
          </a:xfrm>
          <a:prstGeom prst="rect">
            <a:avLst/>
          </a:prstGeom>
        </p:spPr>
      </p:pic>
      <p:pic>
        <p:nvPicPr>
          <p:cNvPr id="23" name="図 22">
            <a:extLst>
              <a:ext uri="{FF2B5EF4-FFF2-40B4-BE49-F238E27FC236}">
                <a16:creationId xmlns:a16="http://schemas.microsoft.com/office/drawing/2014/main" id="{04C06689-A0F7-4E54-4F6F-1E8E8DAC27B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4171" y="2306583"/>
            <a:ext cx="5039428" cy="838317"/>
          </a:xfrm>
          <a:prstGeom prst="rect">
            <a:avLst/>
          </a:prstGeom>
        </p:spPr>
      </p:pic>
      <p:pic>
        <p:nvPicPr>
          <p:cNvPr id="27" name="図 26">
            <a:extLst>
              <a:ext uri="{FF2B5EF4-FFF2-40B4-BE49-F238E27FC236}">
                <a16:creationId xmlns:a16="http://schemas.microsoft.com/office/drawing/2014/main" id="{27A4ED25-3A06-AD1A-6CE7-6F0BE3404F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67583" y="4750575"/>
            <a:ext cx="2695951" cy="762106"/>
          </a:xfrm>
          <a:prstGeom prst="rect">
            <a:avLst/>
          </a:prstGeom>
        </p:spPr>
      </p:pic>
      <p:pic>
        <p:nvPicPr>
          <p:cNvPr id="29" name="図 28">
            <a:extLst>
              <a:ext uri="{FF2B5EF4-FFF2-40B4-BE49-F238E27FC236}">
                <a16:creationId xmlns:a16="http://schemas.microsoft.com/office/drawing/2014/main" id="{F4E1C010-FA1E-8AD6-1807-55C5A1C3F3B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19187" y="2294157"/>
            <a:ext cx="1314633" cy="838317"/>
          </a:xfrm>
          <a:prstGeom prst="rect">
            <a:avLst/>
          </a:prstGeom>
        </p:spPr>
      </p:pic>
      <p:sp>
        <p:nvSpPr>
          <p:cNvPr id="30" name="楕円 29">
            <a:extLst>
              <a:ext uri="{FF2B5EF4-FFF2-40B4-BE49-F238E27FC236}">
                <a16:creationId xmlns:a16="http://schemas.microsoft.com/office/drawing/2014/main" id="{2E718A86-7618-47AE-D950-428871DB5AE2}"/>
              </a:ext>
            </a:extLst>
          </p:cNvPr>
          <p:cNvSpPr/>
          <p:nvPr/>
        </p:nvSpPr>
        <p:spPr>
          <a:xfrm>
            <a:off x="4813938" y="1606422"/>
            <a:ext cx="206220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kumimoji="1" lang="ja-JP" altLang="en-US" dirty="0">
                <a:latin typeface="メイリオ" panose="020B0604030504040204" pitchFamily="50" charset="-128"/>
                <a:ea typeface="メイリオ" panose="020B0604030504040204" pitchFamily="50" charset="-128"/>
              </a:rPr>
              <a:t>１</a:t>
            </a:r>
          </a:p>
        </p:txBody>
      </p:sp>
      <p:sp>
        <p:nvSpPr>
          <p:cNvPr id="31" name="楕円 30">
            <a:extLst>
              <a:ext uri="{FF2B5EF4-FFF2-40B4-BE49-F238E27FC236}">
                <a16:creationId xmlns:a16="http://schemas.microsoft.com/office/drawing/2014/main" id="{6B6C97F1-BE62-D3FE-5FE8-D0778B7FF8C0}"/>
              </a:ext>
            </a:extLst>
          </p:cNvPr>
          <p:cNvSpPr/>
          <p:nvPr/>
        </p:nvSpPr>
        <p:spPr>
          <a:xfrm>
            <a:off x="5275191" y="3404792"/>
            <a:ext cx="206220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lang="en-US" altLang="ja-JP" dirty="0">
                <a:latin typeface="メイリオ" panose="020B0604030504040204" pitchFamily="50" charset="-128"/>
                <a:ea typeface="メイリオ" panose="020B0604030504040204" pitchFamily="50" charset="-128"/>
              </a:rPr>
              <a:t>2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2" name="楕円 31">
            <a:extLst>
              <a:ext uri="{FF2B5EF4-FFF2-40B4-BE49-F238E27FC236}">
                <a16:creationId xmlns:a16="http://schemas.microsoft.com/office/drawing/2014/main" id="{248E5353-0E3F-A56E-D541-FA0B63C2717E}"/>
              </a:ext>
            </a:extLst>
          </p:cNvPr>
          <p:cNvSpPr/>
          <p:nvPr/>
        </p:nvSpPr>
        <p:spPr>
          <a:xfrm>
            <a:off x="4419883" y="4479336"/>
            <a:ext cx="206220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lang="en-US" altLang="ja-JP" dirty="0">
                <a:latin typeface="メイリオ" panose="020B0604030504040204" pitchFamily="50" charset="-128"/>
                <a:ea typeface="メイリオ" panose="020B0604030504040204" pitchFamily="50" charset="-128"/>
              </a:rPr>
              <a:t>2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35255629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９章　ループ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78782C7-6070-7C3A-DAB7-3101F4C6ED5C}"/>
              </a:ext>
            </a:extLst>
          </p:cNvPr>
          <p:cNvSpPr/>
          <p:nvPr/>
        </p:nvSpPr>
        <p:spPr>
          <a:xfrm>
            <a:off x="388481" y="1060961"/>
            <a:ext cx="10540261" cy="552895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F422FEA-2F34-70ED-56A9-01A65A2AD1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560" y="1143635"/>
            <a:ext cx="9391483" cy="5446283"/>
          </a:xfrm>
        </p:spPr>
        <p:txBody>
          <a:bodyPr>
            <a:normAutofit/>
          </a:bodyPr>
          <a:lstStyle/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74FF8975-518B-E7D8-023D-CCCCAEBC6F95}"/>
              </a:ext>
            </a:extLst>
          </p:cNvPr>
          <p:cNvCxnSpPr>
            <a:cxnSpLocks/>
          </p:cNvCxnSpPr>
          <p:nvPr/>
        </p:nvCxnSpPr>
        <p:spPr>
          <a:xfrm>
            <a:off x="4522993" y="677003"/>
            <a:ext cx="581891" cy="0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E325EE49-CC21-FA2A-9628-F197D866B664}"/>
              </a:ext>
            </a:extLst>
          </p:cNvPr>
          <p:cNvSpPr/>
          <p:nvPr/>
        </p:nvSpPr>
        <p:spPr>
          <a:xfrm>
            <a:off x="682560" y="1097282"/>
            <a:ext cx="10246182" cy="5231765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ja-JP" sz="1200" dirty="0" err="1">
                <a:solidFill>
                  <a:schemeClr val="tx1"/>
                </a:solidFill>
              </a:rPr>
              <a:t>stringsAsFactors</a:t>
            </a:r>
            <a:r>
              <a:rPr lang="en-US" altLang="ja-JP" sz="1200" dirty="0">
                <a:solidFill>
                  <a:schemeClr val="tx1"/>
                </a:solidFill>
              </a:rPr>
              <a:t> = FALSE</a:t>
            </a:r>
            <a:r>
              <a:rPr lang="ja-JP" altLang="en-US" sz="1200" dirty="0">
                <a:solidFill>
                  <a:schemeClr val="tx1"/>
                </a:solidFill>
              </a:rPr>
              <a:t>　について</a:t>
            </a:r>
            <a:endParaRPr lang="en-US" altLang="ja-JP" sz="1200" dirty="0">
              <a:solidFill>
                <a:schemeClr val="tx1"/>
              </a:solidFill>
            </a:endParaRPr>
          </a:p>
          <a:p>
            <a:endParaRPr lang="en-US" altLang="ja-JP" sz="1200" dirty="0">
              <a:solidFill>
                <a:schemeClr val="tx1"/>
              </a:solidFill>
            </a:endParaRPr>
          </a:p>
          <a:p>
            <a:r>
              <a:rPr lang="en-US" altLang="ja-JP" sz="1200" dirty="0">
                <a:solidFill>
                  <a:schemeClr val="tx1"/>
                </a:solidFill>
              </a:rPr>
              <a:t>https://nakazakimasahito.wordpress.com/2020/06/01/r-stringsasfactors-false%E3%81%AB%E3%81%A4%E3%81%84%E3%81%A6%E3%80%80/</a:t>
            </a:r>
            <a:endParaRPr lang="en-US" altLang="ja-JP" sz="105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568698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９章　ループ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78782C7-6070-7C3A-DAB7-3101F4C6ED5C}"/>
              </a:ext>
            </a:extLst>
          </p:cNvPr>
          <p:cNvSpPr/>
          <p:nvPr/>
        </p:nvSpPr>
        <p:spPr>
          <a:xfrm>
            <a:off x="682560" y="1060961"/>
            <a:ext cx="10540261" cy="552895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F422FEA-2F34-70ED-56A9-01A65A2AD1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560" y="1143635"/>
            <a:ext cx="9391483" cy="5446283"/>
          </a:xfrm>
        </p:spPr>
        <p:txBody>
          <a:bodyPr>
            <a:normAutofit/>
          </a:bodyPr>
          <a:lstStyle/>
          <a:p>
            <a:pPr algn="l"/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##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各組の確率を追加する</a:t>
            </a:r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実行内容：</a:t>
            </a:r>
            <a:r>
              <a:rPr lang="en-US" altLang="ja-JP" sz="1200" dirty="0" err="1">
                <a:latin typeface="メイリオ" panose="020B0604030504040204" pitchFamily="50" charset="-128"/>
                <a:ea typeface="メイリオ" panose="020B0604030504040204" pitchFamily="50" charset="-128"/>
              </a:rPr>
              <a:t>expand.grid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を使って３つの組み合わせのリストを作る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##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確率の検算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##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賞金を代入する</a:t>
            </a:r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実行内容：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for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文を使って各行の賞金を</a:t>
            </a:r>
            <a:r>
              <a:rPr lang="en-US" altLang="ja-JP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prize</a:t>
            </a:r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に代入する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##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期待値を出す</a:t>
            </a:r>
            <a:endParaRPr lang="en-US" altLang="ja-JP" sz="20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74FF8975-518B-E7D8-023D-CCCCAEBC6F95}"/>
              </a:ext>
            </a:extLst>
          </p:cNvPr>
          <p:cNvCxnSpPr>
            <a:cxnSpLocks/>
          </p:cNvCxnSpPr>
          <p:nvPr/>
        </p:nvCxnSpPr>
        <p:spPr>
          <a:xfrm>
            <a:off x="4522993" y="677003"/>
            <a:ext cx="581891" cy="0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>
            <a:extLst>
              <a:ext uri="{FF2B5EF4-FFF2-40B4-BE49-F238E27FC236}">
                <a16:creationId xmlns:a16="http://schemas.microsoft.com/office/drawing/2014/main" id="{E325EE49-CC21-FA2A-9628-F197D866B664}"/>
              </a:ext>
            </a:extLst>
          </p:cNvPr>
          <p:cNvSpPr/>
          <p:nvPr/>
        </p:nvSpPr>
        <p:spPr>
          <a:xfrm>
            <a:off x="8730051" y="580650"/>
            <a:ext cx="2391170" cy="11836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r>
              <a:rPr lang="en-US" altLang="ja-JP" sz="1050" dirty="0">
                <a:solidFill>
                  <a:schemeClr val="tx1"/>
                </a:solidFill>
              </a:rPr>
              <a:t>for</a:t>
            </a:r>
            <a:r>
              <a:rPr lang="ja-JP" altLang="en-US" sz="1050" dirty="0">
                <a:solidFill>
                  <a:schemeClr val="tx1"/>
                </a:solidFill>
              </a:rPr>
              <a:t>文</a:t>
            </a:r>
            <a:endParaRPr lang="en-US" altLang="ja-JP" sz="1050" dirty="0">
              <a:solidFill>
                <a:schemeClr val="tx1"/>
              </a:solidFill>
            </a:endParaRP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809D787F-CA4F-19FA-04BC-3C3E047A35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44724" y="1945789"/>
            <a:ext cx="4458322" cy="504895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641E52A4-9998-E71B-3932-5B896B6C4ED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4724" y="3119426"/>
            <a:ext cx="2657846" cy="390580"/>
          </a:xfrm>
          <a:prstGeom prst="rect">
            <a:avLst/>
          </a:prstGeom>
        </p:spPr>
      </p:pic>
      <p:pic>
        <p:nvPicPr>
          <p:cNvPr id="16" name="図 15">
            <a:extLst>
              <a:ext uri="{FF2B5EF4-FFF2-40B4-BE49-F238E27FC236}">
                <a16:creationId xmlns:a16="http://schemas.microsoft.com/office/drawing/2014/main" id="{C189FA43-7CC0-8CC1-7B5F-D95ACB86534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2704" y="3157531"/>
            <a:ext cx="1428949" cy="314369"/>
          </a:xfrm>
          <a:prstGeom prst="rect">
            <a:avLst/>
          </a:prstGeom>
        </p:spPr>
      </p:pic>
      <p:pic>
        <p:nvPicPr>
          <p:cNvPr id="20" name="図 19">
            <a:extLst>
              <a:ext uri="{FF2B5EF4-FFF2-40B4-BE49-F238E27FC236}">
                <a16:creationId xmlns:a16="http://schemas.microsoft.com/office/drawing/2014/main" id="{86820E7E-A84E-BEA5-F223-070846854A3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44724" y="4054888"/>
            <a:ext cx="2419688" cy="323895"/>
          </a:xfrm>
          <a:prstGeom prst="rect">
            <a:avLst/>
          </a:prstGeom>
        </p:spPr>
      </p:pic>
      <p:pic>
        <p:nvPicPr>
          <p:cNvPr id="22" name="図 21">
            <a:extLst>
              <a:ext uri="{FF2B5EF4-FFF2-40B4-BE49-F238E27FC236}">
                <a16:creationId xmlns:a16="http://schemas.microsoft.com/office/drawing/2014/main" id="{7BE6346A-62B0-A051-0E3E-EDDC90BF55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44724" y="4754198"/>
            <a:ext cx="3962953" cy="905001"/>
          </a:xfrm>
          <a:prstGeom prst="rect">
            <a:avLst/>
          </a:prstGeom>
        </p:spPr>
      </p:pic>
      <p:pic>
        <p:nvPicPr>
          <p:cNvPr id="28" name="図 27">
            <a:extLst>
              <a:ext uri="{FF2B5EF4-FFF2-40B4-BE49-F238E27FC236}">
                <a16:creationId xmlns:a16="http://schemas.microsoft.com/office/drawing/2014/main" id="{2C1D8B83-00F3-9BB2-5763-21958A71E8F4}"/>
              </a:ext>
            </a:extLst>
          </p:cNvPr>
          <p:cNvPicPr>
            <a:picLocks noChangeAspect="1"/>
          </p:cNvPicPr>
          <p:nvPr/>
        </p:nvPicPr>
        <p:blipFill rotWithShape="1">
          <a:blip r:embed="rId7"/>
          <a:srcRect t="2299" b="-1"/>
          <a:stretch/>
        </p:blipFill>
        <p:spPr>
          <a:xfrm>
            <a:off x="6229430" y="1650342"/>
            <a:ext cx="3362794" cy="809738"/>
          </a:xfrm>
          <a:prstGeom prst="rect">
            <a:avLst/>
          </a:prstGeom>
        </p:spPr>
      </p:pic>
      <p:pic>
        <p:nvPicPr>
          <p:cNvPr id="30" name="図 29">
            <a:extLst>
              <a:ext uri="{FF2B5EF4-FFF2-40B4-BE49-F238E27FC236}">
                <a16:creationId xmlns:a16="http://schemas.microsoft.com/office/drawing/2014/main" id="{FFCE45BA-D329-2260-F5F5-F38305B0272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29430" y="4650107"/>
            <a:ext cx="3829584" cy="809738"/>
          </a:xfrm>
          <a:prstGeom prst="rect">
            <a:avLst/>
          </a:prstGeom>
        </p:spPr>
      </p:pic>
      <p:pic>
        <p:nvPicPr>
          <p:cNvPr id="32" name="図 31">
            <a:extLst>
              <a:ext uri="{FF2B5EF4-FFF2-40B4-BE49-F238E27FC236}">
                <a16:creationId xmlns:a16="http://schemas.microsoft.com/office/drawing/2014/main" id="{2DB46570-E869-15E2-D7E9-58134A8377A9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229430" y="6000459"/>
            <a:ext cx="2629267" cy="314369"/>
          </a:xfrm>
          <a:prstGeom prst="rect">
            <a:avLst/>
          </a:prstGeom>
        </p:spPr>
      </p:pic>
      <p:pic>
        <p:nvPicPr>
          <p:cNvPr id="34" name="図 33">
            <a:extLst>
              <a:ext uri="{FF2B5EF4-FFF2-40B4-BE49-F238E27FC236}">
                <a16:creationId xmlns:a16="http://schemas.microsoft.com/office/drawing/2014/main" id="{4434E629-8BDE-B460-72BE-95CBE364C0AA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44724" y="6207341"/>
            <a:ext cx="2457793" cy="352474"/>
          </a:xfrm>
          <a:prstGeom prst="rect">
            <a:avLst/>
          </a:prstGeom>
        </p:spPr>
      </p:pic>
      <p:sp>
        <p:nvSpPr>
          <p:cNvPr id="35" name="楕円 34">
            <a:extLst>
              <a:ext uri="{FF2B5EF4-FFF2-40B4-BE49-F238E27FC236}">
                <a16:creationId xmlns:a16="http://schemas.microsoft.com/office/drawing/2014/main" id="{7FFF4DFE-08AA-6C7B-0EB3-1A5CDBA024E2}"/>
              </a:ext>
            </a:extLst>
          </p:cNvPr>
          <p:cNvSpPr/>
          <p:nvPr/>
        </p:nvSpPr>
        <p:spPr>
          <a:xfrm>
            <a:off x="3902570" y="1160992"/>
            <a:ext cx="206220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lang="en-US" altLang="ja-JP" dirty="0">
                <a:latin typeface="メイリオ" panose="020B0604030504040204" pitchFamily="50" charset="-128"/>
                <a:ea typeface="メイリオ" panose="020B0604030504040204" pitchFamily="50" charset="-128"/>
              </a:rPr>
              <a:t>2</a:t>
            </a:r>
            <a:endParaRPr kumimoji="1" lang="ja-JP" altLang="en-US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36" name="楕円 35">
            <a:extLst>
              <a:ext uri="{FF2B5EF4-FFF2-40B4-BE49-F238E27FC236}">
                <a16:creationId xmlns:a16="http://schemas.microsoft.com/office/drawing/2014/main" id="{1DEB8852-D701-E552-27B0-9ACA2888A3D1}"/>
              </a:ext>
            </a:extLst>
          </p:cNvPr>
          <p:cNvSpPr/>
          <p:nvPr/>
        </p:nvSpPr>
        <p:spPr>
          <a:xfrm>
            <a:off x="3019980" y="3709384"/>
            <a:ext cx="206220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kumimoji="1" lang="en-US" altLang="ja-JP" dirty="0">
                <a:latin typeface="メイリオ" panose="020B0604030504040204" pitchFamily="50" charset="-128"/>
                <a:ea typeface="メイリオ" panose="020B0604030504040204" pitchFamily="50" charset="-128"/>
              </a:rPr>
              <a:t>3</a:t>
            </a:r>
          </a:p>
        </p:txBody>
      </p:sp>
      <p:sp>
        <p:nvSpPr>
          <p:cNvPr id="37" name="楕円 36">
            <a:extLst>
              <a:ext uri="{FF2B5EF4-FFF2-40B4-BE49-F238E27FC236}">
                <a16:creationId xmlns:a16="http://schemas.microsoft.com/office/drawing/2014/main" id="{D3BC0CAF-6DCD-5A11-1050-71180B3D58F9}"/>
              </a:ext>
            </a:extLst>
          </p:cNvPr>
          <p:cNvSpPr/>
          <p:nvPr/>
        </p:nvSpPr>
        <p:spPr>
          <a:xfrm>
            <a:off x="2813760" y="5892449"/>
            <a:ext cx="206220" cy="232109"/>
          </a:xfrm>
          <a:prstGeom prst="ellipse">
            <a:avLst/>
          </a:prstGeom>
          <a:solidFill>
            <a:schemeClr val="accent4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90000" rtlCol="0" anchor="ctr"/>
          <a:lstStyle/>
          <a:p>
            <a:pPr algn="ctr"/>
            <a:r>
              <a:rPr kumimoji="1" lang="en-US" altLang="ja-JP" dirty="0">
                <a:latin typeface="メイリオ" panose="020B0604030504040204" pitchFamily="50" charset="-128"/>
                <a:ea typeface="メイリオ" panose="020B0604030504040204" pitchFamily="50" charset="-128"/>
              </a:rPr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56235297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９章　ループ　最終コード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661A3A95-316A-208D-1006-9B4CAF8277CA}"/>
              </a:ext>
            </a:extLst>
          </p:cNvPr>
          <p:cNvSpPr/>
          <p:nvPr/>
        </p:nvSpPr>
        <p:spPr>
          <a:xfrm>
            <a:off x="528181" y="892099"/>
            <a:ext cx="11135638" cy="596590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51032347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 fontScale="90000"/>
          </a:bodyPr>
          <a:lstStyle/>
          <a:p>
            <a:pPr algn="l"/>
            <a:r>
              <a:rPr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１０</a:t>
            </a:r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章　スピード</a:t>
            </a:r>
            <a:r>
              <a:rPr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　フローチャート</a:t>
            </a:r>
            <a:endParaRPr kumimoji="1" lang="ja-JP" altLang="en-US" sz="30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78782C7-6070-7C3A-DAB7-3101F4C6ED5C}"/>
              </a:ext>
            </a:extLst>
          </p:cNvPr>
          <p:cNvSpPr/>
          <p:nvPr/>
        </p:nvSpPr>
        <p:spPr>
          <a:xfrm>
            <a:off x="884439" y="1097282"/>
            <a:ext cx="10613447" cy="552895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97539557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１０</a:t>
            </a:r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章　</a:t>
            </a:r>
            <a:r>
              <a:rPr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スピード</a:t>
            </a:r>
            <a:endParaRPr kumimoji="1" lang="ja-JP" altLang="en-US" sz="3000" b="1" dirty="0">
              <a:solidFill>
                <a:schemeClr val="tx1">
                  <a:lumMod val="65000"/>
                  <a:lumOff val="3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78782C7-6070-7C3A-DAB7-3101F4C6ED5C}"/>
              </a:ext>
            </a:extLst>
          </p:cNvPr>
          <p:cNvSpPr/>
          <p:nvPr/>
        </p:nvSpPr>
        <p:spPr>
          <a:xfrm>
            <a:off x="658169" y="1098587"/>
            <a:ext cx="10540261" cy="552895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75CE81D2-C5EE-4E63-DA6F-4D50A6E33162}"/>
              </a:ext>
            </a:extLst>
          </p:cNvPr>
          <p:cNvSpPr/>
          <p:nvPr/>
        </p:nvSpPr>
        <p:spPr>
          <a:xfrm>
            <a:off x="8561647" y="1263081"/>
            <a:ext cx="2391170" cy="1183629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lang="en-US" altLang="ja-JP" sz="1000" dirty="0">
              <a:solidFill>
                <a:schemeClr val="tx1"/>
              </a:solidFill>
            </a:endParaRP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F422FEA-2F34-70ED-56A9-01A65A2AD1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82560" y="1143635"/>
            <a:ext cx="9391483" cy="544628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＃</a:t>
            </a:r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#</a:t>
            </a:r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ja-JP" altLang="en-US" sz="12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変数名：</a:t>
            </a:r>
            <a:endParaRPr lang="en-US" altLang="ja-JP" sz="12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13" name="直線矢印コネクタ 12">
            <a:extLst>
              <a:ext uri="{FF2B5EF4-FFF2-40B4-BE49-F238E27FC236}">
                <a16:creationId xmlns:a16="http://schemas.microsoft.com/office/drawing/2014/main" id="{74FF8975-518B-E7D8-023D-CCCCAEBC6F95}"/>
              </a:ext>
            </a:extLst>
          </p:cNvPr>
          <p:cNvCxnSpPr>
            <a:cxnSpLocks/>
          </p:cNvCxnSpPr>
          <p:nvPr/>
        </p:nvCxnSpPr>
        <p:spPr>
          <a:xfrm>
            <a:off x="4548393" y="1472982"/>
            <a:ext cx="581891" cy="0"/>
          </a:xfrm>
          <a:prstGeom prst="straightConnector1">
            <a:avLst/>
          </a:prstGeom>
          <a:ln w="57150">
            <a:solidFill>
              <a:schemeClr val="accent4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8839311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１０</a:t>
            </a:r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章　スピード　最終コード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661A3A95-316A-208D-1006-9B4CAF8277CA}"/>
              </a:ext>
            </a:extLst>
          </p:cNvPr>
          <p:cNvSpPr/>
          <p:nvPr/>
        </p:nvSpPr>
        <p:spPr>
          <a:xfrm>
            <a:off x="528181" y="892099"/>
            <a:ext cx="11135638" cy="596590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13468597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疑問点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78782C7-6070-7C3A-DAB7-3101F4C6ED5C}"/>
              </a:ext>
            </a:extLst>
          </p:cNvPr>
          <p:cNvSpPr/>
          <p:nvPr/>
        </p:nvSpPr>
        <p:spPr>
          <a:xfrm>
            <a:off x="884439" y="1109610"/>
            <a:ext cx="9440262" cy="552895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F422FEA-2F34-70ED-56A9-01A65A2AD1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4439" y="1097282"/>
            <a:ext cx="9391483" cy="544628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配列の順番が０からではない理由</a:t>
            </a:r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kumimoji="1" lang="en-US" altLang="ja-JP" sz="2000" dirty="0" err="1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R,Python</a:t>
            </a:r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が肩を宣言する必要がない共通点に関して</a:t>
            </a:r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kumimoji="1"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A,B,C </a:t>
            </a:r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と</a:t>
            </a:r>
            <a:r>
              <a:rPr kumimoji="1"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B,A</a:t>
            </a:r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,C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が出てくるが、これを一つにまとめる方法はないのか。（後で考える）</a:t>
            </a:r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kumimoji="1"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kumimoji="1" lang="ja-JP" altLang="en-US" sz="2000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あとで！！！</a:t>
            </a:r>
            <a:r>
              <a:rPr kumimoji="1" lang="en-US" altLang="ja-JP" sz="2000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Factor</a:t>
            </a:r>
            <a:r>
              <a:rPr kumimoji="1" lang="ja-JP" altLang="en-US" sz="2000" dirty="0">
                <a:solidFill>
                  <a:srgbClr val="C00000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！！！絶対調べる！！！！</a:t>
            </a:r>
            <a:endParaRPr kumimoji="1" lang="en-US" altLang="ja-JP" sz="2000" dirty="0">
              <a:solidFill>
                <a:srgbClr val="C00000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13524381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感想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78782C7-6070-7C3A-DAB7-3101F4C6ED5C}"/>
              </a:ext>
            </a:extLst>
          </p:cNvPr>
          <p:cNvSpPr/>
          <p:nvPr/>
        </p:nvSpPr>
        <p:spPr>
          <a:xfrm>
            <a:off x="884439" y="1109610"/>
            <a:ext cx="9440262" cy="552895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F422FEA-2F34-70ED-56A9-01A65A2AD1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4439" y="1097282"/>
            <a:ext cx="9391483" cy="5446283"/>
          </a:xfrm>
        </p:spPr>
        <p:txBody>
          <a:bodyPr>
            <a:normAutofit/>
          </a:bodyPr>
          <a:lstStyle/>
          <a:p>
            <a:pPr algn="l"/>
            <a:r>
              <a:rPr kumimoji="1"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Cherries</a:t>
            </a:r>
            <a:r>
              <a:rPr kumimoji="1"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の点数を場合分けする際、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添字操作を利用して、７行の</a:t>
            </a:r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if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文を１行に短縮できたことに感動した。</a:t>
            </a:r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endParaRPr lang="en-US" altLang="ja-JP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pPr algn="l"/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218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行目 確率が起こるときの項目</a:t>
            </a:r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DD,BB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などを指定しておくと、あとから</a:t>
            </a:r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combos$prob1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に代入するときに、</a:t>
            </a:r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prob[combos$Var1]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のように取り出せるのはすごいと思った。配列の</a:t>
            </a:r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0,1,2,…</a:t>
            </a:r>
            <a:r>
              <a:rPr lang="ja-JP" altLang="en-US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が</a:t>
            </a:r>
            <a:r>
              <a:rPr lang="en-US" altLang="ja-JP" sz="2000" dirty="0">
                <a:solidFill>
                  <a:schemeClr val="accent4">
                    <a:lumMod val="7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DD,7,BBB</a:t>
            </a:r>
          </a:p>
          <a:p>
            <a:pPr algn="l"/>
            <a:endParaRPr kumimoji="1" lang="ja-JP" altLang="en-US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878594590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F92D15D-6ED6-F1E2-415D-C5D0D0CAAC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28181" y="314435"/>
            <a:ext cx="5891408" cy="700173"/>
          </a:xfrm>
        </p:spPr>
        <p:txBody>
          <a:bodyPr>
            <a:normAutofit/>
          </a:bodyPr>
          <a:lstStyle/>
          <a:p>
            <a:pPr algn="l"/>
            <a:r>
              <a:rPr kumimoji="1" lang="ja-JP" altLang="en-US" sz="3000" b="1" dirty="0">
                <a:solidFill>
                  <a:schemeClr val="tx1">
                    <a:lumMod val="65000"/>
                    <a:lumOff val="3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参考文献</a:t>
            </a:r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78782C7-6070-7C3A-DAB7-3101F4C6ED5C}"/>
              </a:ext>
            </a:extLst>
          </p:cNvPr>
          <p:cNvSpPr/>
          <p:nvPr/>
        </p:nvSpPr>
        <p:spPr>
          <a:xfrm>
            <a:off x="884439" y="1109610"/>
            <a:ext cx="9440262" cy="552895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F422FEA-2F34-70ED-56A9-01A65A2AD14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4439" y="1097282"/>
            <a:ext cx="9391483" cy="5446283"/>
          </a:xfrm>
        </p:spPr>
        <p:txBody>
          <a:bodyPr>
            <a:normAutofit/>
          </a:bodyPr>
          <a:lstStyle/>
          <a:p>
            <a:pPr algn="l"/>
            <a:endParaRPr kumimoji="1" lang="ja-JP" altLang="en-US" sz="2000" dirty="0">
              <a:solidFill>
                <a:schemeClr val="accent4">
                  <a:lumMod val="7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56A009C1-7937-731F-2798-87A92781A584}"/>
              </a:ext>
            </a:extLst>
          </p:cNvPr>
          <p:cNvSpPr txBox="1"/>
          <p:nvPr/>
        </p:nvSpPr>
        <p:spPr>
          <a:xfrm>
            <a:off x="3048000" y="2828836"/>
            <a:ext cx="609600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 dirty="0">
                <a:hlinkClick r:id="rId2"/>
              </a:rPr>
              <a:t>https://nakazakimasahito.wordpress.com/2020/06/01/r-stringsasfactors-false%E3%81%AB%E3%81%A4%E3%81%84%E3%81%A6%E3%80%80/</a:t>
            </a:r>
            <a:endParaRPr lang="en-US" altLang="ja-JP" dirty="0"/>
          </a:p>
          <a:p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2349665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625</TotalTime>
  <Words>1467</Words>
  <Application>Microsoft Office PowerPoint</Application>
  <PresentationFormat>ワイド画面</PresentationFormat>
  <Paragraphs>280</Paragraphs>
  <Slides>22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22</vt:i4>
      </vt:variant>
    </vt:vector>
  </HeadingPairs>
  <TitlesOfParts>
    <vt:vector size="28" baseType="lpstr">
      <vt:lpstr>メイリオ</vt:lpstr>
      <vt:lpstr>游ゴシック</vt:lpstr>
      <vt:lpstr>游ゴシック Light</vt:lpstr>
      <vt:lpstr>Arial</vt:lpstr>
      <vt:lpstr>Cambria Math</vt:lpstr>
      <vt:lpstr>Office テーマ</vt:lpstr>
      <vt:lpstr>「RStudioではじめる Rプログラミング入門」Ⅲ演習</vt:lpstr>
      <vt:lpstr>7章　プログラム　フローチャート</vt:lpstr>
      <vt:lpstr>7章　プログラム</vt:lpstr>
      <vt:lpstr>7章　プログラム</vt:lpstr>
      <vt:lpstr>7章　プログラム</vt:lpstr>
      <vt:lpstr>7章　プログラム</vt:lpstr>
      <vt:lpstr>7章　プログラム　最終コード</vt:lpstr>
      <vt:lpstr>８章　S３　フローチャート</vt:lpstr>
      <vt:lpstr>８章　S3</vt:lpstr>
      <vt:lpstr>８章　S３　最終コード</vt:lpstr>
      <vt:lpstr>9章　ループ　フローチャート</vt:lpstr>
      <vt:lpstr>９章　ループ</vt:lpstr>
      <vt:lpstr>９章　ループ</vt:lpstr>
      <vt:lpstr>９章　ループ</vt:lpstr>
      <vt:lpstr>９章　ループ</vt:lpstr>
      <vt:lpstr>９章　ループ　最終コード</vt:lpstr>
      <vt:lpstr>１０章　スピード　フローチャート</vt:lpstr>
      <vt:lpstr>１０章　スピード</vt:lpstr>
      <vt:lpstr>１０章　スピード　最終コード</vt:lpstr>
      <vt:lpstr>疑問点</vt:lpstr>
      <vt:lpstr>感想</vt:lpstr>
      <vt:lpstr>参考文献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「RStudioではじめる Rプログラミング入門」Ⅲ演習</dc:title>
  <dc:creator>mei nagai</dc:creator>
  <cp:lastModifiedBy>mei nagai</cp:lastModifiedBy>
  <cp:revision>15</cp:revision>
  <dcterms:created xsi:type="dcterms:W3CDTF">2026-08-03T02:31:57Z</dcterms:created>
  <dcterms:modified xsi:type="dcterms:W3CDTF">2026-08-12T07:23:17Z</dcterms:modified>
</cp:coreProperties>
</file>