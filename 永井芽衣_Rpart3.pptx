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sldIdLst>
    <p:sldId id="256" r:id="rId2"/>
    <p:sldId id="257" r:id="rId3"/>
    <p:sldId id="260" r:id="rId4"/>
    <p:sldId id="258" r:id="rId5"/>
    <p:sldId id="259" r:id="rId6"/>
    <p:sldId id="263" r:id="rId7"/>
    <p:sldId id="265" r:id="rId8"/>
    <p:sldId id="266" r:id="rId9"/>
    <p:sldId id="268" r:id="rId10"/>
    <p:sldId id="279" r:id="rId11"/>
    <p:sldId id="280" r:id="rId12"/>
    <p:sldId id="267" r:id="rId13"/>
    <p:sldId id="269" r:id="rId14"/>
    <p:sldId id="270" r:id="rId15"/>
    <p:sldId id="275" r:id="rId16"/>
    <p:sldId id="276" r:id="rId17"/>
    <p:sldId id="277" r:id="rId18"/>
    <p:sldId id="278" r:id="rId19"/>
    <p:sldId id="271" r:id="rId20"/>
    <p:sldId id="272" r:id="rId21"/>
    <p:sldId id="273" r:id="rId22"/>
    <p:sldId id="274" r:id="rId23"/>
    <p:sldId id="261" r:id="rId24"/>
    <p:sldId id="264" r:id="rId25"/>
    <p:sldId id="262" r:id="rId2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6D507C53-DDBA-4C39-810F-79174E2C0A1E}">
          <p14:sldIdLst>
            <p14:sldId id="256"/>
          </p14:sldIdLst>
        </p14:section>
        <p14:section name="７章　プログラム" id="{1C115149-0D30-4BF1-9951-0DACCA2449E7}">
          <p14:sldIdLst>
            <p14:sldId id="257"/>
            <p14:sldId id="260"/>
            <p14:sldId id="258"/>
            <p14:sldId id="259"/>
            <p14:sldId id="263"/>
            <p14:sldId id="265"/>
          </p14:sldIdLst>
        </p14:section>
        <p14:section name="８章　S3" id="{F58F4005-9CC6-4E48-B815-3BF56D9DF4E6}">
          <p14:sldIdLst>
            <p14:sldId id="266"/>
            <p14:sldId id="268"/>
            <p14:sldId id="279"/>
            <p14:sldId id="280"/>
            <p14:sldId id="267"/>
          </p14:sldIdLst>
        </p14:section>
        <p14:section name="９章　ループ" id="{6DA1671D-0978-45D5-BADC-53BD7A010EA2}">
          <p14:sldIdLst>
            <p14:sldId id="269"/>
            <p14:sldId id="270"/>
            <p14:sldId id="275"/>
            <p14:sldId id="276"/>
            <p14:sldId id="277"/>
            <p14:sldId id="278"/>
            <p14:sldId id="271"/>
          </p14:sldIdLst>
        </p14:section>
        <p14:section name="１０章　スピード" id="{EEBD476B-CC6C-4DDA-A2C9-186ED5188789}">
          <p14:sldIdLst>
            <p14:sldId id="272"/>
            <p14:sldId id="273"/>
            <p14:sldId id="274"/>
          </p14:sldIdLst>
        </p14:section>
        <p14:section name="まとめ" id="{FBAA46CE-E25C-4925-91C3-D8C76579CAEF}">
          <p14:sldIdLst>
            <p14:sldId id="261"/>
            <p14:sldId id="264"/>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133" autoAdjust="0"/>
    <p:restoredTop sz="93849" autoAdjust="0"/>
  </p:normalViewPr>
  <p:slideViewPr>
    <p:cSldViewPr snapToGrid="0">
      <p:cViewPr>
        <p:scale>
          <a:sx n="77" d="100"/>
          <a:sy n="77" d="100"/>
        </p:scale>
        <p:origin x="612" y="1734"/>
      </p:cViewPr>
      <p:guideLst/>
    </p:cSldViewPr>
  </p:slideViewPr>
  <p:notesTextViewPr>
    <p:cViewPr>
      <p:scale>
        <a:sx n="1" d="1"/>
        <a:sy n="1" d="1"/>
      </p:scale>
      <p:origin x="0" y="0"/>
    </p:cViewPr>
  </p:notesTextViewPr>
  <p:sorterViewPr>
    <p:cViewPr>
      <p:scale>
        <a:sx n="164" d="100"/>
        <a:sy n="164" d="100"/>
      </p:scale>
      <p:origin x="0" y="-593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4812308-7085-464E-BFE5-814F883FC684}" type="datetimeFigureOut">
              <a:rPr kumimoji="1" lang="ja-JP" altLang="en-US" smtClean="0"/>
              <a:t>2026/8/15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FFF96F-E18D-48CF-A9C6-76063F48C151}" type="slidenum">
              <a:rPr kumimoji="1" lang="ja-JP" altLang="en-US" smtClean="0"/>
              <a:t>‹#›</a:t>
            </a:fld>
            <a:endParaRPr kumimoji="1" lang="ja-JP" altLang="en-US"/>
          </a:p>
        </p:txBody>
      </p:sp>
    </p:spTree>
    <p:extLst>
      <p:ext uri="{BB962C8B-B14F-4D97-AF65-F5344CB8AC3E}">
        <p14:creationId xmlns:p14="http://schemas.microsoft.com/office/powerpoint/2010/main" val="2203510421"/>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6FFF96F-E18D-48CF-A9C6-76063F48C151}" type="slidenum">
              <a:rPr kumimoji="1" lang="ja-JP" altLang="en-US" smtClean="0"/>
              <a:t>2</a:t>
            </a:fld>
            <a:endParaRPr kumimoji="1" lang="ja-JP" altLang="en-US"/>
          </a:p>
        </p:txBody>
      </p:sp>
    </p:spTree>
    <p:extLst>
      <p:ext uri="{BB962C8B-B14F-4D97-AF65-F5344CB8AC3E}">
        <p14:creationId xmlns:p14="http://schemas.microsoft.com/office/powerpoint/2010/main" val="33196014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6FFF96F-E18D-48CF-A9C6-76063F48C151}" type="slidenum">
              <a:rPr kumimoji="1" lang="ja-JP" altLang="en-US" smtClean="0"/>
              <a:t>9</a:t>
            </a:fld>
            <a:endParaRPr kumimoji="1" lang="ja-JP" altLang="en-US"/>
          </a:p>
        </p:txBody>
      </p:sp>
    </p:spTree>
    <p:extLst>
      <p:ext uri="{BB962C8B-B14F-4D97-AF65-F5344CB8AC3E}">
        <p14:creationId xmlns:p14="http://schemas.microsoft.com/office/powerpoint/2010/main" val="14802771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6FFF96F-E18D-48CF-A9C6-76063F48C151}" type="slidenum">
              <a:rPr kumimoji="1" lang="ja-JP" altLang="en-US" smtClean="0"/>
              <a:t>10</a:t>
            </a:fld>
            <a:endParaRPr kumimoji="1" lang="ja-JP" altLang="en-US"/>
          </a:p>
        </p:txBody>
      </p:sp>
    </p:spTree>
    <p:extLst>
      <p:ext uri="{BB962C8B-B14F-4D97-AF65-F5344CB8AC3E}">
        <p14:creationId xmlns:p14="http://schemas.microsoft.com/office/powerpoint/2010/main" val="26680165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6FFF96F-E18D-48CF-A9C6-76063F48C151}" type="slidenum">
              <a:rPr kumimoji="1" lang="ja-JP" altLang="en-US" smtClean="0"/>
              <a:t>11</a:t>
            </a:fld>
            <a:endParaRPr kumimoji="1" lang="ja-JP" altLang="en-US"/>
          </a:p>
        </p:txBody>
      </p:sp>
    </p:spTree>
    <p:extLst>
      <p:ext uri="{BB962C8B-B14F-4D97-AF65-F5344CB8AC3E}">
        <p14:creationId xmlns:p14="http://schemas.microsoft.com/office/powerpoint/2010/main" val="16913910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6FFF96F-E18D-48CF-A9C6-76063F48C151}" type="slidenum">
              <a:rPr kumimoji="1" lang="ja-JP" altLang="en-US" smtClean="0"/>
              <a:t>17</a:t>
            </a:fld>
            <a:endParaRPr kumimoji="1" lang="ja-JP" altLang="en-US"/>
          </a:p>
        </p:txBody>
      </p:sp>
    </p:spTree>
    <p:extLst>
      <p:ext uri="{BB962C8B-B14F-4D97-AF65-F5344CB8AC3E}">
        <p14:creationId xmlns:p14="http://schemas.microsoft.com/office/powerpoint/2010/main" val="11782688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6FFF96F-E18D-48CF-A9C6-76063F48C151}" type="slidenum">
              <a:rPr kumimoji="1" lang="ja-JP" altLang="en-US" smtClean="0"/>
              <a:t>18</a:t>
            </a:fld>
            <a:endParaRPr kumimoji="1" lang="ja-JP" altLang="en-US"/>
          </a:p>
        </p:txBody>
      </p:sp>
    </p:spTree>
    <p:extLst>
      <p:ext uri="{BB962C8B-B14F-4D97-AF65-F5344CB8AC3E}">
        <p14:creationId xmlns:p14="http://schemas.microsoft.com/office/powerpoint/2010/main" val="23807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C95164B-C763-DBA9-DE69-78DE524DD79A}"/>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6F2EB9C5-381D-FA83-EB7C-1ADD7FE551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83B2D98-F07C-3CE9-3B42-866CE48EA24D}"/>
              </a:ext>
            </a:extLst>
          </p:cNvPr>
          <p:cNvSpPr>
            <a:spLocks noGrp="1"/>
          </p:cNvSpPr>
          <p:nvPr>
            <p:ph type="dt" sz="half" idx="10"/>
          </p:nvPr>
        </p:nvSpPr>
        <p:spPr/>
        <p:txBody>
          <a:bodyPr/>
          <a:lstStyle/>
          <a:p>
            <a:fld id="{41BDD009-2AE7-4B3F-8458-2328013CE102}" type="datetimeFigureOut">
              <a:rPr kumimoji="1" lang="ja-JP" altLang="en-US" smtClean="0"/>
              <a:t>2026/8/15</a:t>
            </a:fld>
            <a:endParaRPr kumimoji="1" lang="ja-JP" altLang="en-US"/>
          </a:p>
        </p:txBody>
      </p:sp>
      <p:sp>
        <p:nvSpPr>
          <p:cNvPr id="5" name="フッター プレースホルダー 4">
            <a:extLst>
              <a:ext uri="{FF2B5EF4-FFF2-40B4-BE49-F238E27FC236}">
                <a16:creationId xmlns:a16="http://schemas.microsoft.com/office/drawing/2014/main" id="{0259B47D-F1AF-7353-AA72-A9C94A14A82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8DE972C-24C9-5FCD-D8AC-890AA19EE083}"/>
              </a:ext>
            </a:extLst>
          </p:cNvPr>
          <p:cNvSpPr>
            <a:spLocks noGrp="1"/>
          </p:cNvSpPr>
          <p:nvPr>
            <p:ph type="sldNum" sz="quarter" idx="12"/>
          </p:nvPr>
        </p:nvSpPr>
        <p:spPr/>
        <p:txBody>
          <a:bodyPr/>
          <a:lstStyle/>
          <a:p>
            <a:fld id="{D369B12B-6A69-4839-B4D5-36194E6D15C4}" type="slidenum">
              <a:rPr kumimoji="1" lang="ja-JP" altLang="en-US" smtClean="0"/>
              <a:t>‹#›</a:t>
            </a:fld>
            <a:endParaRPr kumimoji="1" lang="ja-JP" altLang="en-US"/>
          </a:p>
        </p:txBody>
      </p:sp>
    </p:spTree>
    <p:extLst>
      <p:ext uri="{BB962C8B-B14F-4D97-AF65-F5344CB8AC3E}">
        <p14:creationId xmlns:p14="http://schemas.microsoft.com/office/powerpoint/2010/main" val="37278810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AA02C59-7727-9C38-05CC-4977FD79A548}"/>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07EED459-33FA-CEB2-B4F6-90A71E513797}"/>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D80AE2A-639A-AE85-323A-32D5D4B17B08}"/>
              </a:ext>
            </a:extLst>
          </p:cNvPr>
          <p:cNvSpPr>
            <a:spLocks noGrp="1"/>
          </p:cNvSpPr>
          <p:nvPr>
            <p:ph type="dt" sz="half" idx="10"/>
          </p:nvPr>
        </p:nvSpPr>
        <p:spPr/>
        <p:txBody>
          <a:bodyPr/>
          <a:lstStyle/>
          <a:p>
            <a:fld id="{41BDD009-2AE7-4B3F-8458-2328013CE102}" type="datetimeFigureOut">
              <a:rPr kumimoji="1" lang="ja-JP" altLang="en-US" smtClean="0"/>
              <a:t>2026/8/15</a:t>
            </a:fld>
            <a:endParaRPr kumimoji="1" lang="ja-JP" altLang="en-US"/>
          </a:p>
        </p:txBody>
      </p:sp>
      <p:sp>
        <p:nvSpPr>
          <p:cNvPr id="5" name="フッター プレースホルダー 4">
            <a:extLst>
              <a:ext uri="{FF2B5EF4-FFF2-40B4-BE49-F238E27FC236}">
                <a16:creationId xmlns:a16="http://schemas.microsoft.com/office/drawing/2014/main" id="{E0C8A0C1-A0FF-039D-805D-8AADC61162A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835065F-486C-7108-FB41-C1E028ECD6F3}"/>
              </a:ext>
            </a:extLst>
          </p:cNvPr>
          <p:cNvSpPr>
            <a:spLocks noGrp="1"/>
          </p:cNvSpPr>
          <p:nvPr>
            <p:ph type="sldNum" sz="quarter" idx="12"/>
          </p:nvPr>
        </p:nvSpPr>
        <p:spPr/>
        <p:txBody>
          <a:bodyPr/>
          <a:lstStyle/>
          <a:p>
            <a:fld id="{D369B12B-6A69-4839-B4D5-36194E6D15C4}" type="slidenum">
              <a:rPr kumimoji="1" lang="ja-JP" altLang="en-US" smtClean="0"/>
              <a:t>‹#›</a:t>
            </a:fld>
            <a:endParaRPr kumimoji="1" lang="ja-JP" altLang="en-US"/>
          </a:p>
        </p:txBody>
      </p:sp>
    </p:spTree>
    <p:extLst>
      <p:ext uri="{BB962C8B-B14F-4D97-AF65-F5344CB8AC3E}">
        <p14:creationId xmlns:p14="http://schemas.microsoft.com/office/powerpoint/2010/main" val="2808293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1339C5C-9616-05D5-7416-29818F71B9FD}"/>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359BBDE-0951-59A3-16CB-A704EB2D075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3D6E68FA-490B-D598-0384-B6A022FF4C80}"/>
              </a:ext>
            </a:extLst>
          </p:cNvPr>
          <p:cNvSpPr>
            <a:spLocks noGrp="1"/>
          </p:cNvSpPr>
          <p:nvPr>
            <p:ph type="dt" sz="half" idx="10"/>
          </p:nvPr>
        </p:nvSpPr>
        <p:spPr/>
        <p:txBody>
          <a:bodyPr/>
          <a:lstStyle/>
          <a:p>
            <a:fld id="{41BDD009-2AE7-4B3F-8458-2328013CE102}" type="datetimeFigureOut">
              <a:rPr kumimoji="1" lang="ja-JP" altLang="en-US" smtClean="0"/>
              <a:t>2026/8/15</a:t>
            </a:fld>
            <a:endParaRPr kumimoji="1" lang="ja-JP" altLang="en-US"/>
          </a:p>
        </p:txBody>
      </p:sp>
      <p:sp>
        <p:nvSpPr>
          <p:cNvPr id="5" name="フッター プレースホルダー 4">
            <a:extLst>
              <a:ext uri="{FF2B5EF4-FFF2-40B4-BE49-F238E27FC236}">
                <a16:creationId xmlns:a16="http://schemas.microsoft.com/office/drawing/2014/main" id="{A98D0ED9-1133-6BFD-18EC-6902543AD4F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6552386-2AA1-E343-88B7-CA30605C149F}"/>
              </a:ext>
            </a:extLst>
          </p:cNvPr>
          <p:cNvSpPr>
            <a:spLocks noGrp="1"/>
          </p:cNvSpPr>
          <p:nvPr>
            <p:ph type="sldNum" sz="quarter" idx="12"/>
          </p:nvPr>
        </p:nvSpPr>
        <p:spPr/>
        <p:txBody>
          <a:bodyPr/>
          <a:lstStyle/>
          <a:p>
            <a:fld id="{D369B12B-6A69-4839-B4D5-36194E6D15C4}" type="slidenum">
              <a:rPr kumimoji="1" lang="ja-JP" altLang="en-US" smtClean="0"/>
              <a:t>‹#›</a:t>
            </a:fld>
            <a:endParaRPr kumimoji="1" lang="ja-JP" altLang="en-US"/>
          </a:p>
        </p:txBody>
      </p:sp>
    </p:spTree>
    <p:extLst>
      <p:ext uri="{BB962C8B-B14F-4D97-AF65-F5344CB8AC3E}">
        <p14:creationId xmlns:p14="http://schemas.microsoft.com/office/powerpoint/2010/main" val="17606324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030750-43FC-AA30-A279-099CA6055D4E}"/>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3194D061-C28C-3335-0003-B94FE633C5F6}"/>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2E61442-EBDB-1E8D-5649-ACBF6EF1D7E0}"/>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779DB4A4-3004-F76D-6C99-0BAF7D4224C8}"/>
              </a:ext>
            </a:extLst>
          </p:cNvPr>
          <p:cNvSpPr>
            <a:spLocks noGrp="1"/>
          </p:cNvSpPr>
          <p:nvPr>
            <p:ph type="dt" sz="half" idx="10"/>
          </p:nvPr>
        </p:nvSpPr>
        <p:spPr/>
        <p:txBody>
          <a:bodyPr/>
          <a:lstStyle/>
          <a:p>
            <a:fld id="{41BDD009-2AE7-4B3F-8458-2328013CE102}" type="datetimeFigureOut">
              <a:rPr kumimoji="1" lang="ja-JP" altLang="en-US" smtClean="0"/>
              <a:t>2026/8/15</a:t>
            </a:fld>
            <a:endParaRPr kumimoji="1" lang="ja-JP" altLang="en-US"/>
          </a:p>
        </p:txBody>
      </p:sp>
      <p:sp>
        <p:nvSpPr>
          <p:cNvPr id="6" name="フッター プレースホルダー 5">
            <a:extLst>
              <a:ext uri="{FF2B5EF4-FFF2-40B4-BE49-F238E27FC236}">
                <a16:creationId xmlns:a16="http://schemas.microsoft.com/office/drawing/2014/main" id="{567A4462-5925-8253-4398-C882D296E84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D4B1DD9-3EB8-4053-F415-E807741F907E}"/>
              </a:ext>
            </a:extLst>
          </p:cNvPr>
          <p:cNvSpPr>
            <a:spLocks noGrp="1"/>
          </p:cNvSpPr>
          <p:nvPr>
            <p:ph type="sldNum" sz="quarter" idx="12"/>
          </p:nvPr>
        </p:nvSpPr>
        <p:spPr/>
        <p:txBody>
          <a:bodyPr/>
          <a:lstStyle/>
          <a:p>
            <a:fld id="{D369B12B-6A69-4839-B4D5-36194E6D15C4}" type="slidenum">
              <a:rPr kumimoji="1" lang="ja-JP" altLang="en-US" smtClean="0"/>
              <a:t>‹#›</a:t>
            </a:fld>
            <a:endParaRPr kumimoji="1" lang="ja-JP" altLang="en-US"/>
          </a:p>
        </p:txBody>
      </p:sp>
    </p:spTree>
    <p:extLst>
      <p:ext uri="{BB962C8B-B14F-4D97-AF65-F5344CB8AC3E}">
        <p14:creationId xmlns:p14="http://schemas.microsoft.com/office/powerpoint/2010/main" val="13022675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F4AE025-5C0D-EB3D-0089-18802715976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42827F8-8221-D75A-88D1-0332E70598D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E2C79D26-4D1B-34A0-2477-03C169AB878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A9EA6E93-556B-1344-75C5-359F3BB7BE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FB7FA50B-F860-1761-074A-38EEC1B229C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830CFF49-C9BE-B228-A222-74631F5E306E}"/>
              </a:ext>
            </a:extLst>
          </p:cNvPr>
          <p:cNvSpPr>
            <a:spLocks noGrp="1"/>
          </p:cNvSpPr>
          <p:nvPr>
            <p:ph type="dt" sz="half" idx="10"/>
          </p:nvPr>
        </p:nvSpPr>
        <p:spPr/>
        <p:txBody>
          <a:bodyPr/>
          <a:lstStyle/>
          <a:p>
            <a:fld id="{41BDD009-2AE7-4B3F-8458-2328013CE102}" type="datetimeFigureOut">
              <a:rPr kumimoji="1" lang="ja-JP" altLang="en-US" smtClean="0"/>
              <a:t>2026/8/15</a:t>
            </a:fld>
            <a:endParaRPr kumimoji="1" lang="ja-JP" altLang="en-US"/>
          </a:p>
        </p:txBody>
      </p:sp>
      <p:sp>
        <p:nvSpPr>
          <p:cNvPr id="8" name="フッター プレースホルダー 7">
            <a:extLst>
              <a:ext uri="{FF2B5EF4-FFF2-40B4-BE49-F238E27FC236}">
                <a16:creationId xmlns:a16="http://schemas.microsoft.com/office/drawing/2014/main" id="{F1DEBBC9-3C54-0AEC-088A-9D9FE8C658C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AD405117-3220-1B8E-F5B6-88419E5A9254}"/>
              </a:ext>
            </a:extLst>
          </p:cNvPr>
          <p:cNvSpPr>
            <a:spLocks noGrp="1"/>
          </p:cNvSpPr>
          <p:nvPr>
            <p:ph type="sldNum" sz="quarter" idx="12"/>
          </p:nvPr>
        </p:nvSpPr>
        <p:spPr/>
        <p:txBody>
          <a:bodyPr/>
          <a:lstStyle/>
          <a:p>
            <a:fld id="{D369B12B-6A69-4839-B4D5-36194E6D15C4}" type="slidenum">
              <a:rPr kumimoji="1" lang="ja-JP" altLang="en-US" smtClean="0"/>
              <a:t>‹#›</a:t>
            </a:fld>
            <a:endParaRPr kumimoji="1" lang="ja-JP" altLang="en-US"/>
          </a:p>
        </p:txBody>
      </p:sp>
    </p:spTree>
    <p:extLst>
      <p:ext uri="{BB962C8B-B14F-4D97-AF65-F5344CB8AC3E}">
        <p14:creationId xmlns:p14="http://schemas.microsoft.com/office/powerpoint/2010/main" val="34597972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FAE3AD-7CED-E038-FF8C-4DA5D5F3B44C}"/>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A34324C5-2B67-891A-4D84-3BFB578B6605}"/>
              </a:ext>
            </a:extLst>
          </p:cNvPr>
          <p:cNvSpPr>
            <a:spLocks noGrp="1"/>
          </p:cNvSpPr>
          <p:nvPr>
            <p:ph type="dt" sz="half" idx="10"/>
          </p:nvPr>
        </p:nvSpPr>
        <p:spPr/>
        <p:txBody>
          <a:bodyPr/>
          <a:lstStyle/>
          <a:p>
            <a:fld id="{41BDD009-2AE7-4B3F-8458-2328013CE102}" type="datetimeFigureOut">
              <a:rPr kumimoji="1" lang="ja-JP" altLang="en-US" smtClean="0"/>
              <a:t>2026/8/15</a:t>
            </a:fld>
            <a:endParaRPr kumimoji="1" lang="ja-JP" altLang="en-US"/>
          </a:p>
        </p:txBody>
      </p:sp>
      <p:sp>
        <p:nvSpPr>
          <p:cNvPr id="4" name="フッター プレースホルダー 3">
            <a:extLst>
              <a:ext uri="{FF2B5EF4-FFF2-40B4-BE49-F238E27FC236}">
                <a16:creationId xmlns:a16="http://schemas.microsoft.com/office/drawing/2014/main" id="{831A5FF0-F4A3-2C35-8823-792C7C52841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4473FEFE-942A-119C-027A-8425A9DAEA58}"/>
              </a:ext>
            </a:extLst>
          </p:cNvPr>
          <p:cNvSpPr>
            <a:spLocks noGrp="1"/>
          </p:cNvSpPr>
          <p:nvPr>
            <p:ph type="sldNum" sz="quarter" idx="12"/>
          </p:nvPr>
        </p:nvSpPr>
        <p:spPr/>
        <p:txBody>
          <a:bodyPr/>
          <a:lstStyle/>
          <a:p>
            <a:fld id="{D369B12B-6A69-4839-B4D5-36194E6D15C4}" type="slidenum">
              <a:rPr kumimoji="1" lang="ja-JP" altLang="en-US" smtClean="0"/>
              <a:t>‹#›</a:t>
            </a:fld>
            <a:endParaRPr kumimoji="1" lang="ja-JP" altLang="en-US"/>
          </a:p>
        </p:txBody>
      </p:sp>
    </p:spTree>
    <p:extLst>
      <p:ext uri="{BB962C8B-B14F-4D97-AF65-F5344CB8AC3E}">
        <p14:creationId xmlns:p14="http://schemas.microsoft.com/office/powerpoint/2010/main" val="31000492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DD5DCE37-95ED-C935-46A5-CA1C5F70DA01}"/>
              </a:ext>
            </a:extLst>
          </p:cNvPr>
          <p:cNvSpPr>
            <a:spLocks noGrp="1"/>
          </p:cNvSpPr>
          <p:nvPr>
            <p:ph type="dt" sz="half" idx="10"/>
          </p:nvPr>
        </p:nvSpPr>
        <p:spPr/>
        <p:txBody>
          <a:bodyPr/>
          <a:lstStyle/>
          <a:p>
            <a:fld id="{41BDD009-2AE7-4B3F-8458-2328013CE102}" type="datetimeFigureOut">
              <a:rPr kumimoji="1" lang="ja-JP" altLang="en-US" smtClean="0"/>
              <a:t>2026/8/15</a:t>
            </a:fld>
            <a:endParaRPr kumimoji="1" lang="ja-JP" altLang="en-US"/>
          </a:p>
        </p:txBody>
      </p:sp>
      <p:sp>
        <p:nvSpPr>
          <p:cNvPr id="3" name="フッター プレースホルダー 2">
            <a:extLst>
              <a:ext uri="{FF2B5EF4-FFF2-40B4-BE49-F238E27FC236}">
                <a16:creationId xmlns:a16="http://schemas.microsoft.com/office/drawing/2014/main" id="{00D41F61-66C6-0F38-88FF-6160A6E1F671}"/>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9C710793-E8FF-2EAC-87C6-52A1B001BC57}"/>
              </a:ext>
            </a:extLst>
          </p:cNvPr>
          <p:cNvSpPr>
            <a:spLocks noGrp="1"/>
          </p:cNvSpPr>
          <p:nvPr>
            <p:ph type="sldNum" sz="quarter" idx="12"/>
          </p:nvPr>
        </p:nvSpPr>
        <p:spPr/>
        <p:txBody>
          <a:bodyPr/>
          <a:lstStyle/>
          <a:p>
            <a:fld id="{D369B12B-6A69-4839-B4D5-36194E6D15C4}" type="slidenum">
              <a:rPr kumimoji="1" lang="ja-JP" altLang="en-US" smtClean="0"/>
              <a:t>‹#›</a:t>
            </a:fld>
            <a:endParaRPr kumimoji="1" lang="ja-JP" altLang="en-US"/>
          </a:p>
        </p:txBody>
      </p:sp>
    </p:spTree>
    <p:extLst>
      <p:ext uri="{BB962C8B-B14F-4D97-AF65-F5344CB8AC3E}">
        <p14:creationId xmlns:p14="http://schemas.microsoft.com/office/powerpoint/2010/main" val="11798662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C45BA7-7251-BF9D-9D77-01367C505426}"/>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915D0C7-EAB4-987B-17F2-DDA8FE7D3C2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2DF15169-BC4F-2874-5ACE-178792E6532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FB45DF4-A38A-07B7-6EAF-ED4DEE66811A}"/>
              </a:ext>
            </a:extLst>
          </p:cNvPr>
          <p:cNvSpPr>
            <a:spLocks noGrp="1"/>
          </p:cNvSpPr>
          <p:nvPr>
            <p:ph type="dt" sz="half" idx="10"/>
          </p:nvPr>
        </p:nvSpPr>
        <p:spPr/>
        <p:txBody>
          <a:bodyPr/>
          <a:lstStyle/>
          <a:p>
            <a:fld id="{41BDD009-2AE7-4B3F-8458-2328013CE102}" type="datetimeFigureOut">
              <a:rPr kumimoji="1" lang="ja-JP" altLang="en-US" smtClean="0"/>
              <a:t>2026/8/15</a:t>
            </a:fld>
            <a:endParaRPr kumimoji="1" lang="ja-JP" altLang="en-US"/>
          </a:p>
        </p:txBody>
      </p:sp>
      <p:sp>
        <p:nvSpPr>
          <p:cNvPr id="6" name="フッター プレースホルダー 5">
            <a:extLst>
              <a:ext uri="{FF2B5EF4-FFF2-40B4-BE49-F238E27FC236}">
                <a16:creationId xmlns:a16="http://schemas.microsoft.com/office/drawing/2014/main" id="{4AB91870-1FAD-22F3-D2A4-10334DE280C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AB94905-4C1A-7B98-F3E9-A412BE819EFF}"/>
              </a:ext>
            </a:extLst>
          </p:cNvPr>
          <p:cNvSpPr>
            <a:spLocks noGrp="1"/>
          </p:cNvSpPr>
          <p:nvPr>
            <p:ph type="sldNum" sz="quarter" idx="12"/>
          </p:nvPr>
        </p:nvSpPr>
        <p:spPr/>
        <p:txBody>
          <a:bodyPr/>
          <a:lstStyle/>
          <a:p>
            <a:fld id="{D369B12B-6A69-4839-B4D5-36194E6D15C4}" type="slidenum">
              <a:rPr kumimoji="1" lang="ja-JP" altLang="en-US" smtClean="0"/>
              <a:t>‹#›</a:t>
            </a:fld>
            <a:endParaRPr kumimoji="1" lang="ja-JP" altLang="en-US"/>
          </a:p>
        </p:txBody>
      </p:sp>
    </p:spTree>
    <p:extLst>
      <p:ext uri="{BB962C8B-B14F-4D97-AF65-F5344CB8AC3E}">
        <p14:creationId xmlns:p14="http://schemas.microsoft.com/office/powerpoint/2010/main" val="3200470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07B339-3903-387B-5641-F3D9072A32D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CBEA1C99-CDAB-955C-9F30-60C204A74F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30D9308-FD8E-16E2-8E95-F232751BEA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54C4513A-6308-5CDB-2E0A-2FA1A0A4E6E0}"/>
              </a:ext>
            </a:extLst>
          </p:cNvPr>
          <p:cNvSpPr>
            <a:spLocks noGrp="1"/>
          </p:cNvSpPr>
          <p:nvPr>
            <p:ph type="dt" sz="half" idx="10"/>
          </p:nvPr>
        </p:nvSpPr>
        <p:spPr/>
        <p:txBody>
          <a:bodyPr/>
          <a:lstStyle/>
          <a:p>
            <a:fld id="{41BDD009-2AE7-4B3F-8458-2328013CE102}" type="datetimeFigureOut">
              <a:rPr kumimoji="1" lang="ja-JP" altLang="en-US" smtClean="0"/>
              <a:t>2026/8/15</a:t>
            </a:fld>
            <a:endParaRPr kumimoji="1" lang="ja-JP" altLang="en-US"/>
          </a:p>
        </p:txBody>
      </p:sp>
      <p:sp>
        <p:nvSpPr>
          <p:cNvPr id="6" name="フッター プレースホルダー 5">
            <a:extLst>
              <a:ext uri="{FF2B5EF4-FFF2-40B4-BE49-F238E27FC236}">
                <a16:creationId xmlns:a16="http://schemas.microsoft.com/office/drawing/2014/main" id="{7EA281F9-FF4D-2D2D-9AFD-89DA5D1E4F6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BE9F669-4C6F-5741-A504-59D05B0596AD}"/>
              </a:ext>
            </a:extLst>
          </p:cNvPr>
          <p:cNvSpPr>
            <a:spLocks noGrp="1"/>
          </p:cNvSpPr>
          <p:nvPr>
            <p:ph type="sldNum" sz="quarter" idx="12"/>
          </p:nvPr>
        </p:nvSpPr>
        <p:spPr/>
        <p:txBody>
          <a:bodyPr/>
          <a:lstStyle/>
          <a:p>
            <a:fld id="{D369B12B-6A69-4839-B4D5-36194E6D15C4}" type="slidenum">
              <a:rPr kumimoji="1" lang="ja-JP" altLang="en-US" smtClean="0"/>
              <a:t>‹#›</a:t>
            </a:fld>
            <a:endParaRPr kumimoji="1" lang="ja-JP" altLang="en-US"/>
          </a:p>
        </p:txBody>
      </p:sp>
    </p:spTree>
    <p:extLst>
      <p:ext uri="{BB962C8B-B14F-4D97-AF65-F5344CB8AC3E}">
        <p14:creationId xmlns:p14="http://schemas.microsoft.com/office/powerpoint/2010/main" val="1242622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7F2EC5-F415-A6DA-0FF5-8EADF8FF5B56}"/>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897DE9D-66CD-76AC-C6E0-B66F63AFDEA5}"/>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EF17D25-6CE0-F093-9158-9E7C213AF24E}"/>
              </a:ext>
            </a:extLst>
          </p:cNvPr>
          <p:cNvSpPr>
            <a:spLocks noGrp="1"/>
          </p:cNvSpPr>
          <p:nvPr>
            <p:ph type="dt" sz="half" idx="10"/>
          </p:nvPr>
        </p:nvSpPr>
        <p:spPr/>
        <p:txBody>
          <a:bodyPr/>
          <a:lstStyle/>
          <a:p>
            <a:fld id="{41BDD009-2AE7-4B3F-8458-2328013CE102}" type="datetimeFigureOut">
              <a:rPr kumimoji="1" lang="ja-JP" altLang="en-US" smtClean="0"/>
              <a:t>2026/8/15</a:t>
            </a:fld>
            <a:endParaRPr kumimoji="1" lang="ja-JP" altLang="en-US"/>
          </a:p>
        </p:txBody>
      </p:sp>
      <p:sp>
        <p:nvSpPr>
          <p:cNvPr id="5" name="フッター プレースホルダー 4">
            <a:extLst>
              <a:ext uri="{FF2B5EF4-FFF2-40B4-BE49-F238E27FC236}">
                <a16:creationId xmlns:a16="http://schemas.microsoft.com/office/drawing/2014/main" id="{499F87C4-B469-B8D6-7E04-A940223D1A0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A0619F5-086C-3BEA-6990-65A43F39F320}"/>
              </a:ext>
            </a:extLst>
          </p:cNvPr>
          <p:cNvSpPr>
            <a:spLocks noGrp="1"/>
          </p:cNvSpPr>
          <p:nvPr>
            <p:ph type="sldNum" sz="quarter" idx="12"/>
          </p:nvPr>
        </p:nvSpPr>
        <p:spPr/>
        <p:txBody>
          <a:bodyPr/>
          <a:lstStyle/>
          <a:p>
            <a:fld id="{D369B12B-6A69-4839-B4D5-36194E6D15C4}" type="slidenum">
              <a:rPr kumimoji="1" lang="ja-JP" altLang="en-US" smtClean="0"/>
              <a:t>‹#›</a:t>
            </a:fld>
            <a:endParaRPr kumimoji="1" lang="ja-JP" altLang="en-US"/>
          </a:p>
        </p:txBody>
      </p:sp>
    </p:spTree>
    <p:extLst>
      <p:ext uri="{BB962C8B-B14F-4D97-AF65-F5344CB8AC3E}">
        <p14:creationId xmlns:p14="http://schemas.microsoft.com/office/powerpoint/2010/main" val="34136211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3A71AD2-7D6E-4483-6D15-8D5C235712D0}"/>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B76392F2-A7A3-9466-1F38-252D51DE2C9C}"/>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9305EE6-0B27-A567-D845-8BA65DDD1A2A}"/>
              </a:ext>
            </a:extLst>
          </p:cNvPr>
          <p:cNvSpPr>
            <a:spLocks noGrp="1"/>
          </p:cNvSpPr>
          <p:nvPr>
            <p:ph type="dt" sz="half" idx="10"/>
          </p:nvPr>
        </p:nvSpPr>
        <p:spPr/>
        <p:txBody>
          <a:bodyPr/>
          <a:lstStyle/>
          <a:p>
            <a:fld id="{41BDD009-2AE7-4B3F-8458-2328013CE102}" type="datetimeFigureOut">
              <a:rPr kumimoji="1" lang="ja-JP" altLang="en-US" smtClean="0"/>
              <a:t>2026/8/15</a:t>
            </a:fld>
            <a:endParaRPr kumimoji="1" lang="ja-JP" altLang="en-US"/>
          </a:p>
        </p:txBody>
      </p:sp>
      <p:sp>
        <p:nvSpPr>
          <p:cNvPr id="5" name="フッター プレースホルダー 4">
            <a:extLst>
              <a:ext uri="{FF2B5EF4-FFF2-40B4-BE49-F238E27FC236}">
                <a16:creationId xmlns:a16="http://schemas.microsoft.com/office/drawing/2014/main" id="{42AD9575-7679-A504-2269-D3018329AD5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560B7D1-B92C-DCDB-4EBF-F020598227C7}"/>
              </a:ext>
            </a:extLst>
          </p:cNvPr>
          <p:cNvSpPr>
            <a:spLocks noGrp="1"/>
          </p:cNvSpPr>
          <p:nvPr>
            <p:ph type="sldNum" sz="quarter" idx="12"/>
          </p:nvPr>
        </p:nvSpPr>
        <p:spPr/>
        <p:txBody>
          <a:bodyPr/>
          <a:lstStyle/>
          <a:p>
            <a:fld id="{D369B12B-6A69-4839-B4D5-36194E6D15C4}" type="slidenum">
              <a:rPr kumimoji="1" lang="ja-JP" altLang="en-US" smtClean="0"/>
              <a:t>‹#›</a:t>
            </a:fld>
            <a:endParaRPr kumimoji="1" lang="ja-JP" altLang="en-US"/>
          </a:p>
        </p:txBody>
      </p:sp>
    </p:spTree>
    <p:extLst>
      <p:ext uri="{BB962C8B-B14F-4D97-AF65-F5344CB8AC3E}">
        <p14:creationId xmlns:p14="http://schemas.microsoft.com/office/powerpoint/2010/main" val="32828572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70E4EBD9-5755-099B-788A-DC11C0F7D9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0DD850E-CA05-EDFA-627E-4ED895B633D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424825E-9385-6329-A9CC-59D16A8AA1C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BDD009-2AE7-4B3F-8458-2328013CE102}" type="datetimeFigureOut">
              <a:rPr kumimoji="1" lang="ja-JP" altLang="en-US" smtClean="0"/>
              <a:t>2026/8/15</a:t>
            </a:fld>
            <a:endParaRPr kumimoji="1" lang="ja-JP" altLang="en-US"/>
          </a:p>
        </p:txBody>
      </p:sp>
      <p:sp>
        <p:nvSpPr>
          <p:cNvPr id="5" name="フッター プレースホルダー 4">
            <a:extLst>
              <a:ext uri="{FF2B5EF4-FFF2-40B4-BE49-F238E27FC236}">
                <a16:creationId xmlns:a16="http://schemas.microsoft.com/office/drawing/2014/main" id="{9B5D3A38-BBC5-6937-824E-DBEF8798F26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489BF167-0B98-6E3C-8037-DAE10F60431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369B12B-6A69-4839-B4D5-36194E6D15C4}" type="slidenum">
              <a:rPr kumimoji="1" lang="ja-JP" altLang="en-US" smtClean="0"/>
              <a:t>‹#›</a:t>
            </a:fld>
            <a:endParaRPr kumimoji="1" lang="ja-JP" altLang="en-US"/>
          </a:p>
        </p:txBody>
      </p:sp>
    </p:spTree>
    <p:extLst>
      <p:ext uri="{BB962C8B-B14F-4D97-AF65-F5344CB8AC3E}">
        <p14:creationId xmlns:p14="http://schemas.microsoft.com/office/powerpoint/2010/main" val="3155940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8.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image" Target="../media/image240.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16.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3.png"/><Relationship Id="rId3" Type="http://schemas.openxmlformats.org/officeDocument/2006/relationships/image" Target="../media/image43.png"/><Relationship Id="rId7" Type="http://schemas.openxmlformats.org/officeDocument/2006/relationships/image" Target="../media/image47.png"/><Relationship Id="rId12" Type="http://schemas.openxmlformats.org/officeDocument/2006/relationships/image" Target="../media/image52.png"/><Relationship Id="rId2" Type="http://schemas.openxmlformats.org/officeDocument/2006/relationships/image" Target="../media/image42.png"/><Relationship Id="rId1" Type="http://schemas.openxmlformats.org/officeDocument/2006/relationships/slideLayout" Target="../slideLayouts/slideLayout1.xml"/><Relationship Id="rId6" Type="http://schemas.openxmlformats.org/officeDocument/2006/relationships/image" Target="../media/image46.png"/><Relationship Id="rId11" Type="http://schemas.openxmlformats.org/officeDocument/2006/relationships/image" Target="../media/image51.png"/><Relationship Id="rId5" Type="http://schemas.openxmlformats.org/officeDocument/2006/relationships/image" Target="../media/image45.png"/><Relationship Id="rId10" Type="http://schemas.openxmlformats.org/officeDocument/2006/relationships/image" Target="../media/image50.png"/><Relationship Id="rId4" Type="http://schemas.openxmlformats.org/officeDocument/2006/relationships/image" Target="../media/image44.png"/><Relationship Id="rId9" Type="http://schemas.openxmlformats.org/officeDocument/2006/relationships/image" Target="../media/image49.png"/></Relationships>
</file>

<file path=ppt/slides/_rels/slide1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19.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hyperlink" Target="https://gist.github.com/" TargetMode="External"/><Relationship Id="rId2" Type="http://schemas.openxmlformats.org/officeDocument/2006/relationships/hyperlink" Target="https://qiita.com/" TargetMode="External"/><Relationship Id="rId1" Type="http://schemas.openxmlformats.org/officeDocument/2006/relationships/slideLayout" Target="../slideLayouts/slideLayout1.xml"/><Relationship Id="rId6" Type="http://schemas.openxmlformats.org/officeDocument/2006/relationships/hyperlink" Target="https://nakazakimasahito.wordpress.com/2020/06/01/r-stringsasfactors-false%E3%81%AB%E3%81%A4%E3%81%84%E3%81%A6%E3%80%80/" TargetMode="External"/><Relationship Id="rId5" Type="http://schemas.openxmlformats.org/officeDocument/2006/relationships/hyperlink" Target="https://stats.biopapyrus.jp/" TargetMode="External"/><Relationship Id="rId4" Type="http://schemas.openxmlformats.org/officeDocument/2006/relationships/hyperlink" Target="https://www.slideshare.net/slideshow/r-14844056/14844056"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762000" y="1474940"/>
            <a:ext cx="10668000" cy="2387600"/>
          </a:xfrm>
        </p:spPr>
        <p:txBody>
          <a:bodyPr>
            <a:normAutofit/>
          </a:bodyPr>
          <a:lstStyle/>
          <a:p>
            <a:r>
              <a:rPr kumimoji="1" lang="ja-JP" altLang="en-US"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b="1" dirty="0">
                <a:solidFill>
                  <a:schemeClr val="tx1">
                    <a:lumMod val="65000"/>
                    <a:lumOff val="35000"/>
                  </a:schemeClr>
                </a:solidFill>
                <a:latin typeface="メイリオ" panose="020B0604030504040204" pitchFamily="50" charset="-128"/>
                <a:ea typeface="メイリオ" panose="020B0604030504040204" pitchFamily="50" charset="-128"/>
              </a:rPr>
              <a:t>RStudio</a:t>
            </a:r>
            <a:r>
              <a:rPr kumimoji="1" lang="ja-JP" altLang="en-US" b="1" dirty="0">
                <a:solidFill>
                  <a:schemeClr val="tx1">
                    <a:lumMod val="65000"/>
                    <a:lumOff val="35000"/>
                  </a:schemeClr>
                </a:solidFill>
                <a:latin typeface="メイリオ" panose="020B0604030504040204" pitchFamily="50" charset="-128"/>
                <a:ea typeface="メイリオ" panose="020B0604030504040204" pitchFamily="50" charset="-128"/>
              </a:rPr>
              <a:t>ではじめる</a:t>
            </a:r>
            <a:br>
              <a:rPr kumimoji="1" lang="en-US" altLang="ja-JP" b="1" dirty="0">
                <a:solidFill>
                  <a:schemeClr val="tx1">
                    <a:lumMod val="65000"/>
                    <a:lumOff val="35000"/>
                  </a:schemeClr>
                </a:solidFill>
                <a:latin typeface="メイリオ" panose="020B0604030504040204" pitchFamily="50" charset="-128"/>
                <a:ea typeface="メイリオ" panose="020B0604030504040204" pitchFamily="50" charset="-128"/>
              </a:rPr>
            </a:br>
            <a:r>
              <a:rPr kumimoji="1" lang="en-US" altLang="ja-JP" b="1" dirty="0">
                <a:solidFill>
                  <a:schemeClr val="tx1">
                    <a:lumMod val="65000"/>
                    <a:lumOff val="35000"/>
                  </a:schemeClr>
                </a:solidFill>
                <a:latin typeface="メイリオ" panose="020B0604030504040204" pitchFamily="50" charset="-128"/>
                <a:ea typeface="メイリオ" panose="020B0604030504040204" pitchFamily="50" charset="-128"/>
              </a:rPr>
              <a:t>R</a:t>
            </a:r>
            <a:r>
              <a:rPr kumimoji="1" lang="ja-JP" altLang="en-US" b="1" dirty="0">
                <a:solidFill>
                  <a:schemeClr val="tx1">
                    <a:lumMod val="65000"/>
                    <a:lumOff val="35000"/>
                  </a:schemeClr>
                </a:solidFill>
                <a:latin typeface="メイリオ" panose="020B0604030504040204" pitchFamily="50" charset="-128"/>
                <a:ea typeface="メイリオ" panose="020B0604030504040204" pitchFamily="50" charset="-128"/>
              </a:rPr>
              <a:t>プログラミング入門」</a:t>
            </a:r>
            <a:r>
              <a:rPr lang="en-US" altLang="ja-JP" b="1" dirty="0">
                <a:solidFill>
                  <a:schemeClr val="tx1">
                    <a:lumMod val="65000"/>
                    <a:lumOff val="35000"/>
                  </a:schemeClr>
                </a:solidFill>
                <a:latin typeface="メイリオ" panose="020B0604030504040204" pitchFamily="50" charset="-128"/>
                <a:ea typeface="メイリオ" panose="020B0604030504040204" pitchFamily="50" charset="-128"/>
              </a:rPr>
              <a:t>Ⅲ</a:t>
            </a:r>
            <a:r>
              <a:rPr lang="ja-JP" altLang="en-US" b="1" dirty="0">
                <a:solidFill>
                  <a:schemeClr val="tx1">
                    <a:lumMod val="65000"/>
                    <a:lumOff val="35000"/>
                  </a:schemeClr>
                </a:solidFill>
                <a:latin typeface="メイリオ" panose="020B0604030504040204" pitchFamily="50" charset="-128"/>
                <a:ea typeface="メイリオ" panose="020B0604030504040204" pitchFamily="50" charset="-128"/>
              </a:rPr>
              <a:t>演習</a:t>
            </a:r>
            <a:endParaRPr kumimoji="1" lang="ja-JP" altLang="en-US"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 name="字幕 2">
            <a:extLst>
              <a:ext uri="{FF2B5EF4-FFF2-40B4-BE49-F238E27FC236}">
                <a16:creationId xmlns:a16="http://schemas.microsoft.com/office/drawing/2014/main" id="{EF422FEA-2F34-70ED-56A9-01A65A2AD142}"/>
              </a:ext>
            </a:extLst>
          </p:cNvPr>
          <p:cNvSpPr>
            <a:spLocks noGrp="1"/>
          </p:cNvSpPr>
          <p:nvPr>
            <p:ph type="subTitle" idx="1"/>
          </p:nvPr>
        </p:nvSpPr>
        <p:spPr>
          <a:xfrm>
            <a:off x="1524000" y="4284706"/>
            <a:ext cx="9144000" cy="1655762"/>
          </a:xfrm>
        </p:spPr>
        <p:txBody>
          <a:bodyPr/>
          <a:lstStyle/>
          <a:p>
            <a:r>
              <a:rPr lang="en-US" altLang="ja-JP" b="1" dirty="0">
                <a:solidFill>
                  <a:schemeClr val="tx1">
                    <a:lumMod val="65000"/>
                    <a:lumOff val="35000"/>
                  </a:schemeClr>
                </a:solidFill>
                <a:latin typeface="メイリオ" panose="020B0604030504040204" pitchFamily="50" charset="-128"/>
                <a:ea typeface="メイリオ" panose="020B0604030504040204" pitchFamily="50" charset="-128"/>
              </a:rPr>
              <a:t>24510171 </a:t>
            </a:r>
            <a:r>
              <a:rPr lang="ja-JP" altLang="en-US" b="1" dirty="0">
                <a:solidFill>
                  <a:schemeClr val="tx1">
                    <a:lumMod val="65000"/>
                    <a:lumOff val="35000"/>
                  </a:schemeClr>
                </a:solidFill>
                <a:latin typeface="メイリオ" panose="020B0604030504040204" pitchFamily="50" charset="-128"/>
                <a:ea typeface="メイリオ" panose="020B0604030504040204" pitchFamily="50" charset="-128"/>
              </a:rPr>
              <a:t>永井芽衣</a:t>
            </a:r>
            <a:endParaRPr kumimoji="1" lang="ja-JP" altLang="en-US"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5280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fontScale="90000"/>
          </a:bodyPr>
          <a:lstStyle/>
          <a:p>
            <a:pPr algn="l"/>
            <a:r>
              <a:rPr kumimoji="1" lang="en-US" altLang="ja-JP" sz="3000" b="1" dirty="0">
                <a:solidFill>
                  <a:schemeClr val="tx1">
                    <a:lumMod val="65000"/>
                    <a:lumOff val="35000"/>
                  </a:schemeClr>
                </a:solidFill>
                <a:latin typeface="メイリオ" panose="020B0604030504040204" pitchFamily="50" charset="-128"/>
                <a:ea typeface="メイリオ" panose="020B0604030504040204" pitchFamily="50" charset="-128"/>
              </a:rPr>
              <a:t>7</a:t>
            </a:r>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章　プログラム　フローチャート</a:t>
            </a:r>
          </a:p>
        </p:txBody>
      </p:sp>
      <p:sp>
        <p:nvSpPr>
          <p:cNvPr id="4" name="正方形/長方形 3">
            <a:extLst>
              <a:ext uri="{FF2B5EF4-FFF2-40B4-BE49-F238E27FC236}">
                <a16:creationId xmlns:a16="http://schemas.microsoft.com/office/drawing/2014/main" id="{578782C7-6070-7C3A-DAB7-3101F4C6ED5C}"/>
              </a:ext>
            </a:extLst>
          </p:cNvPr>
          <p:cNvSpPr/>
          <p:nvPr/>
        </p:nvSpPr>
        <p:spPr>
          <a:xfrm>
            <a:off x="884439" y="1097282"/>
            <a:ext cx="10613447" cy="5528957"/>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
        <p:nvSpPr>
          <p:cNvPr id="3" name="字幕 2">
            <a:extLst>
              <a:ext uri="{FF2B5EF4-FFF2-40B4-BE49-F238E27FC236}">
                <a16:creationId xmlns:a16="http://schemas.microsoft.com/office/drawing/2014/main" id="{EF422FEA-2F34-70ED-56A9-01A65A2AD142}"/>
              </a:ext>
            </a:extLst>
          </p:cNvPr>
          <p:cNvSpPr>
            <a:spLocks noGrp="1"/>
          </p:cNvSpPr>
          <p:nvPr>
            <p:ph type="subTitle" idx="1"/>
          </p:nvPr>
        </p:nvSpPr>
        <p:spPr>
          <a:xfrm>
            <a:off x="884439" y="1097282"/>
            <a:ext cx="9391483" cy="5446283"/>
          </a:xfrm>
        </p:spPr>
        <p:txBody>
          <a:bodyPr>
            <a:normAutofit/>
          </a:bodyPr>
          <a:lstStyle/>
          <a:p>
            <a:pPr algn="l"/>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　</a:t>
            </a:r>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endParaRPr>
          </a:p>
        </p:txBody>
      </p:sp>
      <p:grpSp>
        <p:nvGrpSpPr>
          <p:cNvPr id="164" name="グループ化 163">
            <a:extLst>
              <a:ext uri="{FF2B5EF4-FFF2-40B4-BE49-F238E27FC236}">
                <a16:creationId xmlns:a16="http://schemas.microsoft.com/office/drawing/2014/main" id="{4D8CB1E0-CDD1-3E70-035D-4138389B2C1E}"/>
              </a:ext>
            </a:extLst>
          </p:cNvPr>
          <p:cNvGrpSpPr/>
          <p:nvPr/>
        </p:nvGrpSpPr>
        <p:grpSpPr>
          <a:xfrm>
            <a:off x="1055762" y="1174069"/>
            <a:ext cx="10694884" cy="4986701"/>
            <a:chOff x="1055762" y="1174069"/>
            <a:chExt cx="10694884" cy="4986701"/>
          </a:xfrm>
        </p:grpSpPr>
        <p:sp>
          <p:nvSpPr>
            <p:cNvPr id="159" name="正方形/長方形 158">
              <a:extLst>
                <a:ext uri="{FF2B5EF4-FFF2-40B4-BE49-F238E27FC236}">
                  <a16:creationId xmlns:a16="http://schemas.microsoft.com/office/drawing/2014/main" id="{BAC1B9FE-62F3-9C84-F8AC-C71DD85038C6}"/>
                </a:ext>
              </a:extLst>
            </p:cNvPr>
            <p:cNvSpPr/>
            <p:nvPr/>
          </p:nvSpPr>
          <p:spPr>
            <a:xfrm>
              <a:off x="5279543" y="1387047"/>
              <a:ext cx="5994305" cy="66152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34BF8BC5-C7B9-88B9-A4BA-560F05356197}"/>
                </a:ext>
              </a:extLst>
            </p:cNvPr>
            <p:cNvSpPr/>
            <p:nvPr/>
          </p:nvSpPr>
          <p:spPr>
            <a:xfrm>
              <a:off x="3656758" y="1350777"/>
              <a:ext cx="1981526" cy="335280"/>
            </a:xfrm>
            <a:prstGeom prst="rect">
              <a:avLst/>
            </a:prstGeom>
            <a:solidFill>
              <a:srgbClr val="FFFFFF"/>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dirty="0" err="1">
                  <a:solidFill>
                    <a:schemeClr val="tx1"/>
                  </a:solidFill>
                  <a:latin typeface="メイリオ" panose="020B0604030504040204" pitchFamily="50" charset="-128"/>
                  <a:ea typeface="メイリオ" panose="020B0604030504040204" pitchFamily="50" charset="-128"/>
                </a:rPr>
                <a:t>g</a:t>
              </a:r>
              <a:r>
                <a:rPr kumimoji="1" lang="en-US" altLang="ja-JP" sz="1400" dirty="0" err="1">
                  <a:solidFill>
                    <a:schemeClr val="tx1"/>
                  </a:solidFill>
                  <a:latin typeface="メイリオ" panose="020B0604030504040204" pitchFamily="50" charset="-128"/>
                  <a:ea typeface="メイリオ" panose="020B0604030504040204" pitchFamily="50" charset="-128"/>
                </a:rPr>
                <a:t>et_symbols</a:t>
              </a:r>
              <a:r>
                <a:rPr kumimoji="1" lang="en-US" altLang="ja-JP" sz="1400" dirty="0">
                  <a:solidFill>
                    <a:schemeClr val="tx1"/>
                  </a:solidFill>
                  <a:latin typeface="メイリオ" panose="020B0604030504040204" pitchFamily="50" charset="-128"/>
                  <a:ea typeface="メイリオ" panose="020B0604030504040204" pitchFamily="50" charset="-128"/>
                </a:rPr>
                <a:t>()</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F1838668-DDD9-7462-47D5-6EE2976326DD}"/>
                </a:ext>
              </a:extLst>
            </p:cNvPr>
            <p:cNvSpPr/>
            <p:nvPr/>
          </p:nvSpPr>
          <p:spPr>
            <a:xfrm>
              <a:off x="1055762" y="1174069"/>
              <a:ext cx="1821857" cy="1063076"/>
            </a:xfrm>
            <a:prstGeom prst="rect">
              <a:avLst/>
            </a:prstGeom>
            <a:solidFill>
              <a:srgbClr val="FFFFFF"/>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500" dirty="0">
                  <a:solidFill>
                    <a:schemeClr val="tx1"/>
                  </a:solidFill>
                  <a:latin typeface="メイリオ" panose="020B0604030504040204" pitchFamily="50" charset="-128"/>
                  <a:ea typeface="メイリオ" panose="020B0604030504040204" pitchFamily="50" charset="-128"/>
                </a:rPr>
                <a:t>p</a:t>
              </a:r>
              <a:r>
                <a:rPr kumimoji="1" lang="en-US" altLang="ja-JP" sz="1500" dirty="0">
                  <a:solidFill>
                    <a:schemeClr val="tx1"/>
                  </a:solidFill>
                  <a:latin typeface="メイリオ" panose="020B0604030504040204" pitchFamily="50" charset="-128"/>
                  <a:ea typeface="メイリオ" panose="020B0604030504040204" pitchFamily="50" charset="-128"/>
                </a:rPr>
                <a:t>lay()</a:t>
              </a:r>
            </a:p>
            <a:p>
              <a:r>
                <a:rPr lang="ja-JP" altLang="en-US" sz="1500" dirty="0">
                  <a:solidFill>
                    <a:schemeClr val="tx1"/>
                  </a:solidFill>
                  <a:latin typeface="メイリオ" panose="020B0604030504040204" pitchFamily="50" charset="-128"/>
                  <a:ea typeface="メイリオ" panose="020B0604030504040204" pitchFamily="50" charset="-128"/>
                </a:rPr>
                <a:t>・スロットを回す</a:t>
              </a:r>
              <a:endParaRPr lang="en-US" altLang="ja-JP" sz="1500" dirty="0">
                <a:solidFill>
                  <a:schemeClr val="tx1"/>
                </a:solidFill>
                <a:latin typeface="メイリオ" panose="020B0604030504040204" pitchFamily="50" charset="-128"/>
                <a:ea typeface="メイリオ" panose="020B0604030504040204" pitchFamily="50" charset="-128"/>
              </a:endParaRPr>
            </a:p>
            <a:p>
              <a:r>
                <a:rPr lang="ja-JP" altLang="en-US" sz="1500" dirty="0">
                  <a:solidFill>
                    <a:schemeClr val="tx1"/>
                  </a:solidFill>
                  <a:latin typeface="メイリオ" panose="020B0604030504040204" pitchFamily="50" charset="-128"/>
                  <a:ea typeface="メイリオ" panose="020B0604030504040204" pitchFamily="50" charset="-128"/>
                </a:rPr>
                <a:t>・結果を表示する</a:t>
              </a:r>
              <a:endParaRPr lang="en-US" altLang="ja-JP" sz="1500" dirty="0">
                <a:solidFill>
                  <a:schemeClr val="tx1"/>
                </a:solidFill>
                <a:latin typeface="メイリオ" panose="020B0604030504040204" pitchFamily="50" charset="-128"/>
                <a:ea typeface="メイリオ" panose="020B0604030504040204" pitchFamily="50" charset="-128"/>
              </a:endParaRPr>
            </a:p>
            <a:p>
              <a:r>
                <a:rPr lang="ja-JP" altLang="en-US" sz="1500" dirty="0">
                  <a:solidFill>
                    <a:schemeClr val="tx1"/>
                  </a:solidFill>
                  <a:latin typeface="メイリオ" panose="020B0604030504040204" pitchFamily="50" charset="-128"/>
                  <a:ea typeface="メイリオ" panose="020B0604030504040204" pitchFamily="50" charset="-128"/>
                </a:rPr>
                <a:t>・賞金を表示する</a:t>
              </a:r>
              <a:endParaRPr lang="en-US" altLang="ja-JP" sz="1500" dirty="0">
                <a:solidFill>
                  <a:schemeClr val="tx1"/>
                </a:solidFill>
                <a:latin typeface="メイリオ" panose="020B0604030504040204" pitchFamily="50" charset="-128"/>
                <a:ea typeface="メイリオ" panose="020B0604030504040204" pitchFamily="50" charset="-128"/>
              </a:endParaRPr>
            </a:p>
          </p:txBody>
        </p:sp>
        <p:sp>
          <p:nvSpPr>
            <p:cNvPr id="138" name="正方形/長方形 137">
              <a:extLst>
                <a:ext uri="{FF2B5EF4-FFF2-40B4-BE49-F238E27FC236}">
                  <a16:creationId xmlns:a16="http://schemas.microsoft.com/office/drawing/2014/main" id="{B64738DB-588E-F48A-09EB-7897AF28AB47}"/>
                </a:ext>
              </a:extLst>
            </p:cNvPr>
            <p:cNvSpPr/>
            <p:nvPr/>
          </p:nvSpPr>
          <p:spPr>
            <a:xfrm>
              <a:off x="4025621" y="2163217"/>
              <a:ext cx="4876799" cy="3997553"/>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en-US" altLang="ja-JP" sz="1000" dirty="0">
                <a:solidFill>
                  <a:schemeClr val="tx1"/>
                </a:solidFill>
              </a:endParaRPr>
            </a:p>
          </p:txBody>
        </p:sp>
        <p:sp>
          <p:nvSpPr>
            <p:cNvPr id="55" name="四角形: 1 つの角を切り取る 54">
              <a:extLst>
                <a:ext uri="{FF2B5EF4-FFF2-40B4-BE49-F238E27FC236}">
                  <a16:creationId xmlns:a16="http://schemas.microsoft.com/office/drawing/2014/main" id="{F5FC2D68-11EE-D33F-D33E-6B56E56666C0}"/>
                </a:ext>
              </a:extLst>
            </p:cNvPr>
            <p:cNvSpPr/>
            <p:nvPr/>
          </p:nvSpPr>
          <p:spPr>
            <a:xfrm>
              <a:off x="7501128" y="2463440"/>
              <a:ext cx="546287" cy="193042"/>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DD</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57" name="四角形: 1 つの角を切り取る 56">
              <a:extLst>
                <a:ext uri="{FF2B5EF4-FFF2-40B4-BE49-F238E27FC236}">
                  <a16:creationId xmlns:a16="http://schemas.microsoft.com/office/drawing/2014/main" id="{0B45F663-4BA6-90F3-C32E-B0814FE4CD98}"/>
                </a:ext>
              </a:extLst>
            </p:cNvPr>
            <p:cNvSpPr/>
            <p:nvPr/>
          </p:nvSpPr>
          <p:spPr>
            <a:xfrm>
              <a:off x="7501127" y="2653476"/>
              <a:ext cx="546287" cy="193042"/>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7</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63" name="四角形: 1 つの角を切り取る 62">
              <a:extLst>
                <a:ext uri="{FF2B5EF4-FFF2-40B4-BE49-F238E27FC236}">
                  <a16:creationId xmlns:a16="http://schemas.microsoft.com/office/drawing/2014/main" id="{2E9625C1-7190-E045-D66E-6E968EECABC6}"/>
                </a:ext>
              </a:extLst>
            </p:cNvPr>
            <p:cNvSpPr/>
            <p:nvPr/>
          </p:nvSpPr>
          <p:spPr>
            <a:xfrm>
              <a:off x="7501126" y="2832671"/>
              <a:ext cx="546287" cy="193042"/>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BBB</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64" name="四角形: 1 つの角を切り取る 63">
              <a:extLst>
                <a:ext uri="{FF2B5EF4-FFF2-40B4-BE49-F238E27FC236}">
                  <a16:creationId xmlns:a16="http://schemas.microsoft.com/office/drawing/2014/main" id="{DF3F242E-3192-03FA-7DB6-3E561B7E58CD}"/>
                </a:ext>
              </a:extLst>
            </p:cNvPr>
            <p:cNvSpPr/>
            <p:nvPr/>
          </p:nvSpPr>
          <p:spPr>
            <a:xfrm>
              <a:off x="7501126" y="3028384"/>
              <a:ext cx="546287" cy="193042"/>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BB</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65" name="四角形: 1 つの角を切り取る 64">
              <a:extLst>
                <a:ext uri="{FF2B5EF4-FFF2-40B4-BE49-F238E27FC236}">
                  <a16:creationId xmlns:a16="http://schemas.microsoft.com/office/drawing/2014/main" id="{43D8C5BE-0ED6-21E5-31A4-C8447C2517EF}"/>
                </a:ext>
              </a:extLst>
            </p:cNvPr>
            <p:cNvSpPr/>
            <p:nvPr/>
          </p:nvSpPr>
          <p:spPr>
            <a:xfrm>
              <a:off x="7501125" y="3229814"/>
              <a:ext cx="546287" cy="193042"/>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B</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66" name="四角形: 1 つの角を切り取る 65">
              <a:extLst>
                <a:ext uri="{FF2B5EF4-FFF2-40B4-BE49-F238E27FC236}">
                  <a16:creationId xmlns:a16="http://schemas.microsoft.com/office/drawing/2014/main" id="{F2D423B9-2549-3574-4E74-860E89C84826}"/>
                </a:ext>
              </a:extLst>
            </p:cNvPr>
            <p:cNvSpPr/>
            <p:nvPr/>
          </p:nvSpPr>
          <p:spPr>
            <a:xfrm>
              <a:off x="7501125" y="3608107"/>
              <a:ext cx="546287" cy="193042"/>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0</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67" name="四角形: 1 つの角を切り取る 66">
              <a:extLst>
                <a:ext uri="{FF2B5EF4-FFF2-40B4-BE49-F238E27FC236}">
                  <a16:creationId xmlns:a16="http://schemas.microsoft.com/office/drawing/2014/main" id="{09E35380-23A9-7C61-ADA4-4A1087C5618E}"/>
                </a:ext>
              </a:extLst>
            </p:cNvPr>
            <p:cNvSpPr/>
            <p:nvPr/>
          </p:nvSpPr>
          <p:spPr>
            <a:xfrm>
              <a:off x="7501125" y="3417139"/>
              <a:ext cx="546287" cy="193042"/>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C</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68" name="楕円 67">
              <a:extLst>
                <a:ext uri="{FF2B5EF4-FFF2-40B4-BE49-F238E27FC236}">
                  <a16:creationId xmlns:a16="http://schemas.microsoft.com/office/drawing/2014/main" id="{9CB413F7-B0D0-2F0F-7D24-918989EEF7B1}"/>
                </a:ext>
              </a:extLst>
            </p:cNvPr>
            <p:cNvSpPr/>
            <p:nvPr/>
          </p:nvSpPr>
          <p:spPr>
            <a:xfrm>
              <a:off x="8309510" y="2448632"/>
              <a:ext cx="239224" cy="247296"/>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500" dirty="0">
                <a:solidFill>
                  <a:schemeClr val="tx1"/>
                </a:solidFill>
              </a:endParaRPr>
            </a:p>
          </p:txBody>
        </p:sp>
        <p:sp>
          <p:nvSpPr>
            <p:cNvPr id="69" name="楕円 68">
              <a:extLst>
                <a:ext uri="{FF2B5EF4-FFF2-40B4-BE49-F238E27FC236}">
                  <a16:creationId xmlns:a16="http://schemas.microsoft.com/office/drawing/2014/main" id="{4A3F7CA8-3869-EB46-BD86-A470D1D7DA40}"/>
                </a:ext>
              </a:extLst>
            </p:cNvPr>
            <p:cNvSpPr/>
            <p:nvPr/>
          </p:nvSpPr>
          <p:spPr>
            <a:xfrm>
              <a:off x="8309518" y="2623611"/>
              <a:ext cx="239226" cy="255218"/>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500" dirty="0">
                <a:solidFill>
                  <a:schemeClr val="tx1"/>
                </a:solidFill>
              </a:endParaRPr>
            </a:p>
          </p:txBody>
        </p:sp>
        <p:sp>
          <p:nvSpPr>
            <p:cNvPr id="70" name="楕円 69">
              <a:extLst>
                <a:ext uri="{FF2B5EF4-FFF2-40B4-BE49-F238E27FC236}">
                  <a16:creationId xmlns:a16="http://schemas.microsoft.com/office/drawing/2014/main" id="{4762FE60-638A-CB8B-C6FA-79CE029FFE93}"/>
                </a:ext>
              </a:extLst>
            </p:cNvPr>
            <p:cNvSpPr/>
            <p:nvPr/>
          </p:nvSpPr>
          <p:spPr>
            <a:xfrm>
              <a:off x="8309516" y="2826931"/>
              <a:ext cx="239226" cy="255218"/>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500" dirty="0">
                <a:solidFill>
                  <a:schemeClr val="tx1"/>
                </a:solidFill>
              </a:endParaRPr>
            </a:p>
          </p:txBody>
        </p:sp>
        <p:sp>
          <p:nvSpPr>
            <p:cNvPr id="71" name="楕円 70">
              <a:extLst>
                <a:ext uri="{FF2B5EF4-FFF2-40B4-BE49-F238E27FC236}">
                  <a16:creationId xmlns:a16="http://schemas.microsoft.com/office/drawing/2014/main" id="{7DA322F1-FE33-0D92-C2D9-621C10C48945}"/>
                </a:ext>
              </a:extLst>
            </p:cNvPr>
            <p:cNvSpPr/>
            <p:nvPr/>
          </p:nvSpPr>
          <p:spPr>
            <a:xfrm>
              <a:off x="8309514" y="3019449"/>
              <a:ext cx="239226" cy="255218"/>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500" dirty="0">
                <a:solidFill>
                  <a:schemeClr val="tx1"/>
                </a:solidFill>
              </a:endParaRPr>
            </a:p>
          </p:txBody>
        </p:sp>
        <p:sp>
          <p:nvSpPr>
            <p:cNvPr id="72" name="楕円 71">
              <a:extLst>
                <a:ext uri="{FF2B5EF4-FFF2-40B4-BE49-F238E27FC236}">
                  <a16:creationId xmlns:a16="http://schemas.microsoft.com/office/drawing/2014/main" id="{B9766C58-12EF-E255-4C8D-ECFBED3B7E61}"/>
                </a:ext>
              </a:extLst>
            </p:cNvPr>
            <p:cNvSpPr/>
            <p:nvPr/>
          </p:nvSpPr>
          <p:spPr>
            <a:xfrm>
              <a:off x="8309512" y="3211967"/>
              <a:ext cx="239226" cy="255218"/>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500" dirty="0">
                <a:solidFill>
                  <a:schemeClr val="tx1"/>
                </a:solidFill>
              </a:endParaRPr>
            </a:p>
          </p:txBody>
        </p:sp>
        <p:sp>
          <p:nvSpPr>
            <p:cNvPr id="73" name="楕円 72">
              <a:extLst>
                <a:ext uri="{FF2B5EF4-FFF2-40B4-BE49-F238E27FC236}">
                  <a16:creationId xmlns:a16="http://schemas.microsoft.com/office/drawing/2014/main" id="{79F5A771-CF34-B14F-B04C-8911DFC8530D}"/>
                </a:ext>
              </a:extLst>
            </p:cNvPr>
            <p:cNvSpPr/>
            <p:nvPr/>
          </p:nvSpPr>
          <p:spPr>
            <a:xfrm>
              <a:off x="8309510" y="3404485"/>
              <a:ext cx="239226" cy="255218"/>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500" dirty="0">
                <a:solidFill>
                  <a:schemeClr val="tx1"/>
                </a:solidFill>
              </a:endParaRPr>
            </a:p>
          </p:txBody>
        </p:sp>
        <p:sp>
          <p:nvSpPr>
            <p:cNvPr id="74" name="楕円 73">
              <a:extLst>
                <a:ext uri="{FF2B5EF4-FFF2-40B4-BE49-F238E27FC236}">
                  <a16:creationId xmlns:a16="http://schemas.microsoft.com/office/drawing/2014/main" id="{54F6940D-B212-2C65-7151-E223153E5A45}"/>
                </a:ext>
              </a:extLst>
            </p:cNvPr>
            <p:cNvSpPr/>
            <p:nvPr/>
          </p:nvSpPr>
          <p:spPr>
            <a:xfrm>
              <a:off x="8309508" y="3597003"/>
              <a:ext cx="239226" cy="255218"/>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500" dirty="0">
                <a:solidFill>
                  <a:schemeClr val="tx1"/>
                </a:solidFill>
              </a:endParaRPr>
            </a:p>
          </p:txBody>
        </p:sp>
        <p:sp>
          <p:nvSpPr>
            <p:cNvPr id="75" name="テキスト ボックス 74">
              <a:extLst>
                <a:ext uri="{FF2B5EF4-FFF2-40B4-BE49-F238E27FC236}">
                  <a16:creationId xmlns:a16="http://schemas.microsoft.com/office/drawing/2014/main" id="{80F6F971-264B-9FC3-4436-B634BA5ED607}"/>
                </a:ext>
              </a:extLst>
            </p:cNvPr>
            <p:cNvSpPr txBox="1"/>
            <p:nvPr/>
          </p:nvSpPr>
          <p:spPr>
            <a:xfrm>
              <a:off x="8231294" y="2446242"/>
              <a:ext cx="442854" cy="246221"/>
            </a:xfrm>
            <a:prstGeom prst="rect">
              <a:avLst/>
            </a:prstGeom>
            <a:noFill/>
          </p:spPr>
          <p:txBody>
            <a:bodyPr wrap="square" rtlCol="0">
              <a:spAutoFit/>
            </a:bodyPr>
            <a:lstStyle/>
            <a:p>
              <a:r>
                <a:rPr kumimoji="1" lang="en-US" altLang="ja-JP" sz="1000" dirty="0"/>
                <a:t>100</a:t>
              </a:r>
              <a:endParaRPr kumimoji="1" lang="ja-JP" altLang="en-US" sz="1000" dirty="0"/>
            </a:p>
          </p:txBody>
        </p:sp>
        <p:sp>
          <p:nvSpPr>
            <p:cNvPr id="76" name="テキスト ボックス 75">
              <a:extLst>
                <a:ext uri="{FF2B5EF4-FFF2-40B4-BE49-F238E27FC236}">
                  <a16:creationId xmlns:a16="http://schemas.microsoft.com/office/drawing/2014/main" id="{1037D076-2928-DEB5-29FB-7EBACC85FB2F}"/>
                </a:ext>
              </a:extLst>
            </p:cNvPr>
            <p:cNvSpPr txBox="1"/>
            <p:nvPr/>
          </p:nvSpPr>
          <p:spPr>
            <a:xfrm>
              <a:off x="8204710" y="2642942"/>
              <a:ext cx="442854" cy="246221"/>
            </a:xfrm>
            <a:prstGeom prst="rect">
              <a:avLst/>
            </a:prstGeom>
            <a:noFill/>
          </p:spPr>
          <p:txBody>
            <a:bodyPr wrap="square" rtlCol="0">
              <a:spAutoFit/>
            </a:bodyPr>
            <a:lstStyle/>
            <a:p>
              <a:pPr algn="ctr"/>
              <a:r>
                <a:rPr kumimoji="1" lang="en-US" altLang="ja-JP" sz="1000" dirty="0"/>
                <a:t>80</a:t>
              </a:r>
            </a:p>
          </p:txBody>
        </p:sp>
        <p:sp>
          <p:nvSpPr>
            <p:cNvPr id="77" name="テキスト ボックス 76">
              <a:extLst>
                <a:ext uri="{FF2B5EF4-FFF2-40B4-BE49-F238E27FC236}">
                  <a16:creationId xmlns:a16="http://schemas.microsoft.com/office/drawing/2014/main" id="{599F8AB0-3752-A8C5-9BD9-841BCAC9D134}"/>
                </a:ext>
              </a:extLst>
            </p:cNvPr>
            <p:cNvSpPr txBox="1"/>
            <p:nvPr/>
          </p:nvSpPr>
          <p:spPr>
            <a:xfrm>
              <a:off x="8209433" y="2827633"/>
              <a:ext cx="442854" cy="246221"/>
            </a:xfrm>
            <a:prstGeom prst="rect">
              <a:avLst/>
            </a:prstGeom>
            <a:noFill/>
          </p:spPr>
          <p:txBody>
            <a:bodyPr wrap="square" rtlCol="0">
              <a:spAutoFit/>
            </a:bodyPr>
            <a:lstStyle/>
            <a:p>
              <a:pPr algn="ctr"/>
              <a:r>
                <a:rPr kumimoji="1" lang="en-US" altLang="ja-JP" sz="1000" dirty="0"/>
                <a:t>40</a:t>
              </a:r>
              <a:endParaRPr kumimoji="1" lang="ja-JP" altLang="en-US" sz="1000" dirty="0"/>
            </a:p>
          </p:txBody>
        </p:sp>
        <p:sp>
          <p:nvSpPr>
            <p:cNvPr id="78" name="テキスト ボックス 77">
              <a:extLst>
                <a:ext uri="{FF2B5EF4-FFF2-40B4-BE49-F238E27FC236}">
                  <a16:creationId xmlns:a16="http://schemas.microsoft.com/office/drawing/2014/main" id="{939ED5EB-4C01-6D32-6281-FB72C8F01D5B}"/>
                </a:ext>
              </a:extLst>
            </p:cNvPr>
            <p:cNvSpPr txBox="1"/>
            <p:nvPr/>
          </p:nvSpPr>
          <p:spPr>
            <a:xfrm>
              <a:off x="8204710" y="3033417"/>
              <a:ext cx="442854" cy="246221"/>
            </a:xfrm>
            <a:prstGeom prst="rect">
              <a:avLst/>
            </a:prstGeom>
            <a:noFill/>
          </p:spPr>
          <p:txBody>
            <a:bodyPr wrap="square" rtlCol="0">
              <a:spAutoFit/>
            </a:bodyPr>
            <a:lstStyle/>
            <a:p>
              <a:pPr algn="ctr"/>
              <a:r>
                <a:rPr kumimoji="1" lang="en-US" altLang="ja-JP" sz="1000" dirty="0"/>
                <a:t>25</a:t>
              </a:r>
              <a:endParaRPr kumimoji="1" lang="ja-JP" altLang="en-US" sz="1000" dirty="0"/>
            </a:p>
          </p:txBody>
        </p:sp>
        <p:sp>
          <p:nvSpPr>
            <p:cNvPr id="79" name="テキスト ボックス 78">
              <a:extLst>
                <a:ext uri="{FF2B5EF4-FFF2-40B4-BE49-F238E27FC236}">
                  <a16:creationId xmlns:a16="http://schemas.microsoft.com/office/drawing/2014/main" id="{75982506-DEBA-EB5A-00A8-06E4CC4815EB}"/>
                </a:ext>
              </a:extLst>
            </p:cNvPr>
            <p:cNvSpPr txBox="1"/>
            <p:nvPr/>
          </p:nvSpPr>
          <p:spPr>
            <a:xfrm>
              <a:off x="8275605" y="3232140"/>
              <a:ext cx="442854" cy="246221"/>
            </a:xfrm>
            <a:prstGeom prst="rect">
              <a:avLst/>
            </a:prstGeom>
            <a:noFill/>
          </p:spPr>
          <p:txBody>
            <a:bodyPr wrap="square" rtlCol="0">
              <a:spAutoFit/>
            </a:bodyPr>
            <a:lstStyle/>
            <a:p>
              <a:r>
                <a:rPr kumimoji="1" lang="en-US" altLang="ja-JP" sz="1000" dirty="0"/>
                <a:t>10</a:t>
              </a:r>
              <a:endParaRPr kumimoji="1" lang="ja-JP" altLang="en-US" sz="1000" dirty="0"/>
            </a:p>
          </p:txBody>
        </p:sp>
        <p:sp>
          <p:nvSpPr>
            <p:cNvPr id="80" name="テキスト ボックス 79">
              <a:extLst>
                <a:ext uri="{FF2B5EF4-FFF2-40B4-BE49-F238E27FC236}">
                  <a16:creationId xmlns:a16="http://schemas.microsoft.com/office/drawing/2014/main" id="{6630C5C8-13C9-09BF-BFF8-E2D4F65AB017}"/>
                </a:ext>
              </a:extLst>
            </p:cNvPr>
            <p:cNvSpPr txBox="1"/>
            <p:nvPr/>
          </p:nvSpPr>
          <p:spPr>
            <a:xfrm>
              <a:off x="8275605" y="3417359"/>
              <a:ext cx="442854" cy="246221"/>
            </a:xfrm>
            <a:prstGeom prst="rect">
              <a:avLst/>
            </a:prstGeom>
            <a:noFill/>
          </p:spPr>
          <p:txBody>
            <a:bodyPr wrap="square" rtlCol="0">
              <a:spAutoFit/>
            </a:bodyPr>
            <a:lstStyle/>
            <a:p>
              <a:r>
                <a:rPr kumimoji="1" lang="en-US" altLang="ja-JP" sz="1000" dirty="0"/>
                <a:t>10</a:t>
              </a:r>
              <a:endParaRPr kumimoji="1" lang="ja-JP" altLang="en-US" sz="1000" dirty="0"/>
            </a:p>
          </p:txBody>
        </p:sp>
        <p:sp>
          <p:nvSpPr>
            <p:cNvPr id="81" name="テキスト ボックス 80">
              <a:extLst>
                <a:ext uri="{FF2B5EF4-FFF2-40B4-BE49-F238E27FC236}">
                  <a16:creationId xmlns:a16="http://schemas.microsoft.com/office/drawing/2014/main" id="{66DE0720-BB57-956D-4589-07802FB28C7C}"/>
                </a:ext>
              </a:extLst>
            </p:cNvPr>
            <p:cNvSpPr txBox="1"/>
            <p:nvPr/>
          </p:nvSpPr>
          <p:spPr>
            <a:xfrm>
              <a:off x="8309508" y="3624272"/>
              <a:ext cx="442854" cy="246221"/>
            </a:xfrm>
            <a:prstGeom prst="rect">
              <a:avLst/>
            </a:prstGeom>
            <a:noFill/>
          </p:spPr>
          <p:txBody>
            <a:bodyPr wrap="square" rtlCol="0">
              <a:spAutoFit/>
            </a:bodyPr>
            <a:lstStyle/>
            <a:p>
              <a:r>
                <a:rPr kumimoji="1" lang="en-US" altLang="ja-JP" sz="1000" dirty="0"/>
                <a:t>0</a:t>
              </a:r>
              <a:endParaRPr kumimoji="1" lang="ja-JP" altLang="en-US" sz="1000" dirty="0"/>
            </a:p>
          </p:txBody>
        </p:sp>
        <p:grpSp>
          <p:nvGrpSpPr>
            <p:cNvPr id="112" name="グループ化 111">
              <a:extLst>
                <a:ext uri="{FF2B5EF4-FFF2-40B4-BE49-F238E27FC236}">
                  <a16:creationId xmlns:a16="http://schemas.microsoft.com/office/drawing/2014/main" id="{2BE3BA34-0125-FEB5-AC55-36932E0F86FC}"/>
                </a:ext>
              </a:extLst>
            </p:cNvPr>
            <p:cNvGrpSpPr/>
            <p:nvPr/>
          </p:nvGrpSpPr>
          <p:grpSpPr>
            <a:xfrm>
              <a:off x="7547375" y="4127765"/>
              <a:ext cx="267102" cy="256711"/>
              <a:chOff x="5562604" y="4114313"/>
              <a:chExt cx="267102" cy="256711"/>
            </a:xfrm>
          </p:grpSpPr>
          <p:sp>
            <p:nvSpPr>
              <p:cNvPr id="83" name="楕円 82">
                <a:extLst>
                  <a:ext uri="{FF2B5EF4-FFF2-40B4-BE49-F238E27FC236}">
                    <a16:creationId xmlns:a16="http://schemas.microsoft.com/office/drawing/2014/main" id="{081A01CB-6889-3292-7902-F2946833787C}"/>
                  </a:ext>
                </a:extLst>
              </p:cNvPr>
              <p:cNvSpPr/>
              <p:nvPr/>
            </p:nvSpPr>
            <p:spPr>
              <a:xfrm>
                <a:off x="5597917" y="4114313"/>
                <a:ext cx="231789" cy="241249"/>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en-US" altLang="ja-JP" dirty="0">
                  <a:solidFill>
                    <a:schemeClr val="tx1"/>
                  </a:solidFill>
                </a:endParaRPr>
              </a:p>
            </p:txBody>
          </p:sp>
          <p:sp>
            <p:nvSpPr>
              <p:cNvPr id="93" name="テキスト ボックス 92">
                <a:extLst>
                  <a:ext uri="{FF2B5EF4-FFF2-40B4-BE49-F238E27FC236}">
                    <a16:creationId xmlns:a16="http://schemas.microsoft.com/office/drawing/2014/main" id="{6E170F40-6CE8-16A2-D1EC-F3322FCD4876}"/>
                  </a:ext>
                </a:extLst>
              </p:cNvPr>
              <p:cNvSpPr txBox="1"/>
              <p:nvPr/>
            </p:nvSpPr>
            <p:spPr>
              <a:xfrm>
                <a:off x="5562604" y="4124803"/>
                <a:ext cx="256065" cy="246221"/>
              </a:xfrm>
              <a:prstGeom prst="rect">
                <a:avLst/>
              </a:prstGeom>
              <a:noFill/>
            </p:spPr>
            <p:txBody>
              <a:bodyPr wrap="square" rtlCol="0">
                <a:spAutoFit/>
              </a:bodyPr>
              <a:lstStyle/>
              <a:p>
                <a:r>
                  <a:rPr kumimoji="1" lang="ja-JP" altLang="en-US" sz="1000" dirty="0">
                    <a:latin typeface="メイリオ" panose="020B0604030504040204" pitchFamily="50" charset="-128"/>
                    <a:ea typeface="メイリオ" panose="020B0604030504040204" pitchFamily="50" charset="-128"/>
                  </a:rPr>
                  <a:t>５</a:t>
                </a:r>
              </a:p>
            </p:txBody>
          </p:sp>
        </p:grpSp>
        <p:sp>
          <p:nvSpPr>
            <p:cNvPr id="84" name="四角形: 1 つの角を切り取る 83">
              <a:extLst>
                <a:ext uri="{FF2B5EF4-FFF2-40B4-BE49-F238E27FC236}">
                  <a16:creationId xmlns:a16="http://schemas.microsoft.com/office/drawing/2014/main" id="{F149B5B5-E910-6D16-312A-8CA01E871792}"/>
                </a:ext>
              </a:extLst>
            </p:cNvPr>
            <p:cNvSpPr/>
            <p:nvPr/>
          </p:nvSpPr>
          <p:spPr>
            <a:xfrm>
              <a:off x="7541273" y="4738987"/>
              <a:ext cx="546287" cy="193042"/>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solidFill>
                  <a:latin typeface="メイリオ" panose="020B0604030504040204" pitchFamily="50" charset="-128"/>
                  <a:ea typeface="メイリオ" panose="020B0604030504040204" pitchFamily="50" charset="-128"/>
                </a:rPr>
                <a:t>０個</a:t>
              </a:r>
            </a:p>
          </p:txBody>
        </p:sp>
        <p:sp>
          <p:nvSpPr>
            <p:cNvPr id="87" name="四角形: 1 つの角を切り取る 86">
              <a:extLst>
                <a:ext uri="{FF2B5EF4-FFF2-40B4-BE49-F238E27FC236}">
                  <a16:creationId xmlns:a16="http://schemas.microsoft.com/office/drawing/2014/main" id="{628F28D1-7838-6394-21F3-DB481803537E}"/>
                </a:ext>
              </a:extLst>
            </p:cNvPr>
            <p:cNvSpPr/>
            <p:nvPr/>
          </p:nvSpPr>
          <p:spPr>
            <a:xfrm>
              <a:off x="7535726" y="4915176"/>
              <a:ext cx="546287" cy="193042"/>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solidFill>
                  <a:latin typeface="メイリオ" panose="020B0604030504040204" pitchFamily="50" charset="-128"/>
                  <a:ea typeface="メイリオ" panose="020B0604030504040204" pitchFamily="50" charset="-128"/>
                </a:rPr>
                <a:t>１個</a:t>
              </a:r>
            </a:p>
          </p:txBody>
        </p:sp>
        <p:sp>
          <p:nvSpPr>
            <p:cNvPr id="88" name="四角形: 1 つの角を切り取る 87">
              <a:extLst>
                <a:ext uri="{FF2B5EF4-FFF2-40B4-BE49-F238E27FC236}">
                  <a16:creationId xmlns:a16="http://schemas.microsoft.com/office/drawing/2014/main" id="{8A2BFF8D-E743-5E82-85C4-DC0658468AD3}"/>
                </a:ext>
              </a:extLst>
            </p:cNvPr>
            <p:cNvSpPr/>
            <p:nvPr/>
          </p:nvSpPr>
          <p:spPr>
            <a:xfrm>
              <a:off x="7541619" y="5110889"/>
              <a:ext cx="546287" cy="193042"/>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solidFill>
                  <a:latin typeface="メイリオ" panose="020B0604030504040204" pitchFamily="50" charset="-128"/>
                  <a:ea typeface="メイリオ" panose="020B0604030504040204" pitchFamily="50" charset="-128"/>
                </a:rPr>
                <a:t>２個</a:t>
              </a:r>
            </a:p>
          </p:txBody>
        </p:sp>
        <p:sp>
          <p:nvSpPr>
            <p:cNvPr id="89" name="楕円 88">
              <a:extLst>
                <a:ext uri="{FF2B5EF4-FFF2-40B4-BE49-F238E27FC236}">
                  <a16:creationId xmlns:a16="http://schemas.microsoft.com/office/drawing/2014/main" id="{8D2F2332-BEC2-BDF7-A3D6-DFDEC6194538}"/>
                </a:ext>
              </a:extLst>
            </p:cNvPr>
            <p:cNvSpPr/>
            <p:nvPr/>
          </p:nvSpPr>
          <p:spPr>
            <a:xfrm>
              <a:off x="8442359" y="5121839"/>
              <a:ext cx="231789" cy="241249"/>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en-US" altLang="ja-JP" dirty="0">
                <a:solidFill>
                  <a:schemeClr val="tx1"/>
                </a:solidFill>
              </a:endParaRPr>
            </a:p>
          </p:txBody>
        </p:sp>
        <p:sp>
          <p:nvSpPr>
            <p:cNvPr id="90" name="楕円 89">
              <a:extLst>
                <a:ext uri="{FF2B5EF4-FFF2-40B4-BE49-F238E27FC236}">
                  <a16:creationId xmlns:a16="http://schemas.microsoft.com/office/drawing/2014/main" id="{0FB22C20-C2DE-BE1E-39FF-61C113ED15F1}"/>
                </a:ext>
              </a:extLst>
            </p:cNvPr>
            <p:cNvSpPr/>
            <p:nvPr/>
          </p:nvSpPr>
          <p:spPr>
            <a:xfrm>
              <a:off x="8442359" y="4911035"/>
              <a:ext cx="231789" cy="241249"/>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en-US" altLang="ja-JP" dirty="0">
                <a:solidFill>
                  <a:schemeClr val="tx1"/>
                </a:solidFill>
              </a:endParaRPr>
            </a:p>
          </p:txBody>
        </p:sp>
        <p:sp>
          <p:nvSpPr>
            <p:cNvPr id="91" name="楕円 90">
              <a:extLst>
                <a:ext uri="{FF2B5EF4-FFF2-40B4-BE49-F238E27FC236}">
                  <a16:creationId xmlns:a16="http://schemas.microsoft.com/office/drawing/2014/main" id="{D634C175-138D-A16F-D2F1-C7B6358A043B}"/>
                </a:ext>
              </a:extLst>
            </p:cNvPr>
            <p:cNvSpPr/>
            <p:nvPr/>
          </p:nvSpPr>
          <p:spPr>
            <a:xfrm>
              <a:off x="8452470" y="4693889"/>
              <a:ext cx="231789" cy="241249"/>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en-US" altLang="ja-JP" dirty="0">
                <a:solidFill>
                  <a:schemeClr val="tx1"/>
                </a:solidFill>
              </a:endParaRPr>
            </a:p>
          </p:txBody>
        </p:sp>
        <p:sp>
          <p:nvSpPr>
            <p:cNvPr id="94" name="テキスト ボックス 93">
              <a:extLst>
                <a:ext uri="{FF2B5EF4-FFF2-40B4-BE49-F238E27FC236}">
                  <a16:creationId xmlns:a16="http://schemas.microsoft.com/office/drawing/2014/main" id="{31ECA72C-BC49-1ECA-5D5F-03180288AA1D}"/>
                </a:ext>
              </a:extLst>
            </p:cNvPr>
            <p:cNvSpPr txBox="1"/>
            <p:nvPr/>
          </p:nvSpPr>
          <p:spPr>
            <a:xfrm>
              <a:off x="8426137" y="4710325"/>
              <a:ext cx="256065" cy="246221"/>
            </a:xfrm>
            <a:prstGeom prst="rect">
              <a:avLst/>
            </a:prstGeom>
            <a:noFill/>
          </p:spPr>
          <p:txBody>
            <a:bodyPr wrap="square" rtlCol="0">
              <a:spAutoFit/>
            </a:bodyPr>
            <a:lstStyle/>
            <a:p>
              <a:r>
                <a:rPr lang="ja-JP" altLang="en-US" sz="1000" dirty="0">
                  <a:latin typeface="メイリオ" panose="020B0604030504040204" pitchFamily="50" charset="-128"/>
                  <a:ea typeface="メイリオ" panose="020B0604030504040204" pitchFamily="50" charset="-128"/>
                </a:rPr>
                <a:t>０</a:t>
              </a:r>
              <a:endParaRPr kumimoji="1" lang="ja-JP" altLang="en-US" sz="1000" dirty="0">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365D215E-0434-15AD-DB21-F1AFA993DA7E}"/>
                </a:ext>
              </a:extLst>
            </p:cNvPr>
            <p:cNvSpPr txBox="1"/>
            <p:nvPr/>
          </p:nvSpPr>
          <p:spPr>
            <a:xfrm>
              <a:off x="8412400" y="4932443"/>
              <a:ext cx="256065" cy="246221"/>
            </a:xfrm>
            <a:prstGeom prst="rect">
              <a:avLst/>
            </a:prstGeom>
            <a:noFill/>
          </p:spPr>
          <p:txBody>
            <a:bodyPr wrap="square" rtlCol="0">
              <a:spAutoFit/>
            </a:bodyPr>
            <a:lstStyle/>
            <a:p>
              <a:r>
                <a:rPr lang="ja-JP" altLang="en-US" sz="1000" dirty="0">
                  <a:latin typeface="メイリオ" panose="020B0604030504040204" pitchFamily="50" charset="-128"/>
                  <a:ea typeface="メイリオ" panose="020B0604030504040204" pitchFamily="50" charset="-128"/>
                </a:rPr>
                <a:t>２</a:t>
              </a:r>
              <a:endParaRPr kumimoji="1" lang="ja-JP" altLang="en-US" sz="1000" dirty="0">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96D90A90-E9BD-D6D9-20BB-C9A38C31B9FC}"/>
                </a:ext>
              </a:extLst>
            </p:cNvPr>
            <p:cNvSpPr txBox="1"/>
            <p:nvPr/>
          </p:nvSpPr>
          <p:spPr>
            <a:xfrm>
              <a:off x="8419899" y="5148735"/>
              <a:ext cx="256065" cy="246221"/>
            </a:xfrm>
            <a:prstGeom prst="rect">
              <a:avLst/>
            </a:prstGeom>
            <a:noFill/>
          </p:spPr>
          <p:txBody>
            <a:bodyPr wrap="square" rtlCol="0">
              <a:spAutoFit/>
            </a:bodyPr>
            <a:lstStyle/>
            <a:p>
              <a:r>
                <a:rPr lang="ja-JP" altLang="en-US" sz="1000" dirty="0">
                  <a:latin typeface="メイリオ" panose="020B0604030504040204" pitchFamily="50" charset="-128"/>
                  <a:ea typeface="メイリオ" panose="020B0604030504040204" pitchFamily="50" charset="-128"/>
                </a:rPr>
                <a:t>５</a:t>
              </a:r>
              <a:endParaRPr kumimoji="1" lang="ja-JP" altLang="en-US" sz="1000" dirty="0">
                <a:latin typeface="メイリオ" panose="020B0604030504040204" pitchFamily="50" charset="-128"/>
                <a:ea typeface="メイリオ" panose="020B0604030504040204" pitchFamily="50" charset="-128"/>
              </a:endParaRPr>
            </a:p>
          </p:txBody>
        </p:sp>
        <p:sp>
          <p:nvSpPr>
            <p:cNvPr id="50" name="四角形: 1 つの角を切り取る 49">
              <a:extLst>
                <a:ext uri="{FF2B5EF4-FFF2-40B4-BE49-F238E27FC236}">
                  <a16:creationId xmlns:a16="http://schemas.microsoft.com/office/drawing/2014/main" id="{59593378-EBD1-080B-5352-24C014EE29C3}"/>
                </a:ext>
              </a:extLst>
            </p:cNvPr>
            <p:cNvSpPr/>
            <p:nvPr/>
          </p:nvSpPr>
          <p:spPr>
            <a:xfrm>
              <a:off x="4359858" y="2433383"/>
              <a:ext cx="2348367" cy="261000"/>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solidFill>
                  <a:latin typeface="メイリオ" panose="020B0604030504040204" pitchFamily="50" charset="-128"/>
                  <a:ea typeface="メイリオ" panose="020B0604030504040204" pitchFamily="50" charset="-128"/>
                </a:rPr>
                <a:t>同じ３種類のシンボル</a:t>
              </a:r>
            </a:p>
          </p:txBody>
        </p:sp>
        <p:sp>
          <p:nvSpPr>
            <p:cNvPr id="51" name="四角形: 1 つの角を切り取る 50">
              <a:extLst>
                <a:ext uri="{FF2B5EF4-FFF2-40B4-BE49-F238E27FC236}">
                  <a16:creationId xmlns:a16="http://schemas.microsoft.com/office/drawing/2014/main" id="{7B1BD2B9-00A3-1DA4-3439-7A0996551407}"/>
                </a:ext>
              </a:extLst>
            </p:cNvPr>
            <p:cNvSpPr/>
            <p:nvPr/>
          </p:nvSpPr>
          <p:spPr>
            <a:xfrm>
              <a:off x="4371294" y="4084091"/>
              <a:ext cx="2345630" cy="261000"/>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solidFill>
                  <a:latin typeface="メイリオ" panose="020B0604030504040204" pitchFamily="50" charset="-128"/>
                  <a:ea typeface="メイリオ" panose="020B0604030504040204" pitchFamily="50" charset="-128"/>
                </a:rPr>
                <a:t>すべてのシンボルがバー</a:t>
              </a:r>
            </a:p>
          </p:txBody>
        </p:sp>
        <p:sp>
          <p:nvSpPr>
            <p:cNvPr id="52" name="四角形: 1 つの角を切り取る 51">
              <a:extLst>
                <a:ext uri="{FF2B5EF4-FFF2-40B4-BE49-F238E27FC236}">
                  <a16:creationId xmlns:a16="http://schemas.microsoft.com/office/drawing/2014/main" id="{42F2E5AE-C500-607E-0AA3-1727A342C80F}"/>
                </a:ext>
              </a:extLst>
            </p:cNvPr>
            <p:cNvSpPr/>
            <p:nvPr/>
          </p:nvSpPr>
          <p:spPr>
            <a:xfrm>
              <a:off x="4359856" y="4804143"/>
              <a:ext cx="2348369" cy="261000"/>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solidFill>
                  <a:latin typeface="メイリオ" panose="020B0604030504040204" pitchFamily="50" charset="-128"/>
                  <a:ea typeface="メイリオ" panose="020B0604030504040204" pitchFamily="50" charset="-128"/>
                </a:rPr>
                <a:t>チェリーの数を数える</a:t>
              </a:r>
            </a:p>
          </p:txBody>
        </p:sp>
        <p:cxnSp>
          <p:nvCxnSpPr>
            <p:cNvPr id="97" name="直線矢印コネクタ 96">
              <a:extLst>
                <a:ext uri="{FF2B5EF4-FFF2-40B4-BE49-F238E27FC236}">
                  <a16:creationId xmlns:a16="http://schemas.microsoft.com/office/drawing/2014/main" id="{EA0B11C0-ADBF-CFE4-26A7-11FB32DD3ECA}"/>
                </a:ext>
              </a:extLst>
            </p:cNvPr>
            <p:cNvCxnSpPr>
              <a:cxnSpLocks/>
            </p:cNvCxnSpPr>
            <p:nvPr/>
          </p:nvCxnSpPr>
          <p:spPr>
            <a:xfrm flipH="1">
              <a:off x="4553874" y="2816451"/>
              <a:ext cx="8310" cy="1206905"/>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直線矢印コネクタ 99">
              <a:extLst>
                <a:ext uri="{FF2B5EF4-FFF2-40B4-BE49-F238E27FC236}">
                  <a16:creationId xmlns:a16="http://schemas.microsoft.com/office/drawing/2014/main" id="{6F52A7E9-09AB-48FF-290E-CB7A862BD967}"/>
                </a:ext>
              </a:extLst>
            </p:cNvPr>
            <p:cNvCxnSpPr>
              <a:cxnSpLocks/>
            </p:cNvCxnSpPr>
            <p:nvPr/>
          </p:nvCxnSpPr>
          <p:spPr>
            <a:xfrm>
              <a:off x="4540234" y="4405826"/>
              <a:ext cx="2618" cy="375083"/>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2" name="直線矢印コネクタ 101">
              <a:extLst>
                <a:ext uri="{FF2B5EF4-FFF2-40B4-BE49-F238E27FC236}">
                  <a16:creationId xmlns:a16="http://schemas.microsoft.com/office/drawing/2014/main" id="{66F8721C-69FE-1F28-5CE3-EC7BC1239CBE}"/>
                </a:ext>
              </a:extLst>
            </p:cNvPr>
            <p:cNvCxnSpPr>
              <a:cxnSpLocks/>
            </p:cNvCxnSpPr>
            <p:nvPr/>
          </p:nvCxnSpPr>
          <p:spPr>
            <a:xfrm flipV="1">
              <a:off x="6800397" y="2571265"/>
              <a:ext cx="529789" cy="2559"/>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線矢印コネクタ 103">
              <a:extLst>
                <a:ext uri="{FF2B5EF4-FFF2-40B4-BE49-F238E27FC236}">
                  <a16:creationId xmlns:a16="http://schemas.microsoft.com/office/drawing/2014/main" id="{041CF31C-6322-64B4-41FA-EFD045D54EF3}"/>
                </a:ext>
              </a:extLst>
            </p:cNvPr>
            <p:cNvCxnSpPr>
              <a:cxnSpLocks/>
            </p:cNvCxnSpPr>
            <p:nvPr/>
          </p:nvCxnSpPr>
          <p:spPr>
            <a:xfrm flipV="1">
              <a:off x="6823455" y="4238462"/>
              <a:ext cx="529789" cy="2559"/>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a16:creationId xmlns:a16="http://schemas.microsoft.com/office/drawing/2014/main" id="{BF99CF8B-41ED-77F2-2B6F-734E2C77EA4A}"/>
                </a:ext>
              </a:extLst>
            </p:cNvPr>
            <p:cNvCxnSpPr>
              <a:cxnSpLocks/>
            </p:cNvCxnSpPr>
            <p:nvPr/>
          </p:nvCxnSpPr>
          <p:spPr>
            <a:xfrm flipV="1">
              <a:off x="6813463" y="4986336"/>
              <a:ext cx="529789" cy="2559"/>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06" name="テキスト ボックス 105">
              <a:extLst>
                <a:ext uri="{FF2B5EF4-FFF2-40B4-BE49-F238E27FC236}">
                  <a16:creationId xmlns:a16="http://schemas.microsoft.com/office/drawing/2014/main" id="{E6D5B7F7-BD21-092E-7742-88B85C42F7FD}"/>
                </a:ext>
              </a:extLst>
            </p:cNvPr>
            <p:cNvSpPr txBox="1"/>
            <p:nvPr/>
          </p:nvSpPr>
          <p:spPr>
            <a:xfrm>
              <a:off x="6677799" y="2259326"/>
              <a:ext cx="857927" cy="369332"/>
            </a:xfrm>
            <a:prstGeom prst="rect">
              <a:avLst/>
            </a:prstGeom>
            <a:noFill/>
          </p:spPr>
          <p:txBody>
            <a:bodyPr wrap="square" rtlCol="0">
              <a:spAutoFit/>
            </a:bodyPr>
            <a:lstStyle/>
            <a:p>
              <a:r>
                <a:rPr kumimoji="1" lang="en-US" altLang="ja-JP" dirty="0">
                  <a:solidFill>
                    <a:schemeClr val="accent4">
                      <a:lumMod val="75000"/>
                    </a:schemeClr>
                  </a:solidFill>
                  <a:latin typeface="メイリオ" panose="020B0604030504040204" pitchFamily="50" charset="-128"/>
                  <a:ea typeface="メイリオ" panose="020B0604030504040204" pitchFamily="50" charset="-128"/>
                </a:rPr>
                <a:t>TRUE</a:t>
              </a:r>
              <a:endParaRPr kumimoji="1" lang="ja-JP" altLang="en-US" dirty="0">
                <a:solidFill>
                  <a:schemeClr val="accent4">
                    <a:lumMod val="75000"/>
                  </a:schemeClr>
                </a:solidFill>
                <a:latin typeface="メイリオ" panose="020B0604030504040204" pitchFamily="50" charset="-128"/>
                <a:ea typeface="メイリオ" panose="020B0604030504040204" pitchFamily="50" charset="-128"/>
              </a:endParaRPr>
            </a:p>
          </p:txBody>
        </p:sp>
        <p:sp>
          <p:nvSpPr>
            <p:cNvPr id="107" name="テキスト ボックス 106">
              <a:extLst>
                <a:ext uri="{FF2B5EF4-FFF2-40B4-BE49-F238E27FC236}">
                  <a16:creationId xmlns:a16="http://schemas.microsoft.com/office/drawing/2014/main" id="{29A0DF6F-A6BC-DFF3-D078-E8A8BBADF463}"/>
                </a:ext>
              </a:extLst>
            </p:cNvPr>
            <p:cNvSpPr txBox="1"/>
            <p:nvPr/>
          </p:nvSpPr>
          <p:spPr>
            <a:xfrm>
              <a:off x="6675823" y="3920909"/>
              <a:ext cx="857927" cy="369332"/>
            </a:xfrm>
            <a:prstGeom prst="rect">
              <a:avLst/>
            </a:prstGeom>
            <a:noFill/>
          </p:spPr>
          <p:txBody>
            <a:bodyPr wrap="square" rtlCol="0">
              <a:spAutoFit/>
            </a:bodyPr>
            <a:lstStyle/>
            <a:p>
              <a:r>
                <a:rPr kumimoji="1" lang="en-US" altLang="ja-JP" dirty="0">
                  <a:solidFill>
                    <a:schemeClr val="accent4">
                      <a:lumMod val="75000"/>
                    </a:schemeClr>
                  </a:solidFill>
                  <a:latin typeface="メイリオ" panose="020B0604030504040204" pitchFamily="50" charset="-128"/>
                  <a:ea typeface="メイリオ" panose="020B0604030504040204" pitchFamily="50" charset="-128"/>
                </a:rPr>
                <a:t>TRUE</a:t>
              </a:r>
              <a:endParaRPr kumimoji="1" lang="ja-JP" altLang="en-US" dirty="0">
                <a:solidFill>
                  <a:schemeClr val="accent4">
                    <a:lumMod val="75000"/>
                  </a:schemeClr>
                </a:solidFill>
                <a:latin typeface="メイリオ" panose="020B0604030504040204" pitchFamily="50" charset="-128"/>
                <a:ea typeface="メイリオ" panose="020B0604030504040204" pitchFamily="50" charset="-128"/>
              </a:endParaRPr>
            </a:p>
          </p:txBody>
        </p:sp>
        <p:sp>
          <p:nvSpPr>
            <p:cNvPr id="108" name="テキスト ボックス 107">
              <a:extLst>
                <a:ext uri="{FF2B5EF4-FFF2-40B4-BE49-F238E27FC236}">
                  <a16:creationId xmlns:a16="http://schemas.microsoft.com/office/drawing/2014/main" id="{76A9BC8B-2D81-E023-F505-F29343FD7744}"/>
                </a:ext>
              </a:extLst>
            </p:cNvPr>
            <p:cNvSpPr txBox="1"/>
            <p:nvPr/>
          </p:nvSpPr>
          <p:spPr>
            <a:xfrm>
              <a:off x="6670893" y="4682075"/>
              <a:ext cx="857927" cy="369332"/>
            </a:xfrm>
            <a:prstGeom prst="rect">
              <a:avLst/>
            </a:prstGeom>
            <a:noFill/>
          </p:spPr>
          <p:txBody>
            <a:bodyPr wrap="square" rtlCol="0">
              <a:spAutoFit/>
            </a:bodyPr>
            <a:lstStyle/>
            <a:p>
              <a:r>
                <a:rPr kumimoji="1" lang="en-US" altLang="ja-JP" dirty="0">
                  <a:solidFill>
                    <a:schemeClr val="accent4">
                      <a:lumMod val="75000"/>
                    </a:schemeClr>
                  </a:solidFill>
                  <a:latin typeface="メイリオ" panose="020B0604030504040204" pitchFamily="50" charset="-128"/>
                  <a:ea typeface="メイリオ" panose="020B0604030504040204" pitchFamily="50" charset="-128"/>
                </a:rPr>
                <a:t>TRUE</a:t>
              </a:r>
              <a:endParaRPr kumimoji="1" lang="ja-JP" altLang="en-US" dirty="0">
                <a:solidFill>
                  <a:schemeClr val="accent4">
                    <a:lumMod val="75000"/>
                  </a:schemeClr>
                </a:solidFill>
                <a:latin typeface="メイリオ" panose="020B0604030504040204" pitchFamily="50" charset="-128"/>
                <a:ea typeface="メイリオ" panose="020B0604030504040204" pitchFamily="50" charset="-128"/>
              </a:endParaRPr>
            </a:p>
          </p:txBody>
        </p:sp>
        <p:sp>
          <p:nvSpPr>
            <p:cNvPr id="109" name="テキスト ボックス 108">
              <a:extLst>
                <a:ext uri="{FF2B5EF4-FFF2-40B4-BE49-F238E27FC236}">
                  <a16:creationId xmlns:a16="http://schemas.microsoft.com/office/drawing/2014/main" id="{A8E0598C-CFE7-FBB0-6BEC-CD5DBAF9FB47}"/>
                </a:ext>
              </a:extLst>
            </p:cNvPr>
            <p:cNvSpPr txBox="1"/>
            <p:nvPr/>
          </p:nvSpPr>
          <p:spPr>
            <a:xfrm>
              <a:off x="4591359" y="3208900"/>
              <a:ext cx="1118091" cy="369332"/>
            </a:xfrm>
            <a:prstGeom prst="rect">
              <a:avLst/>
            </a:prstGeom>
            <a:noFill/>
          </p:spPr>
          <p:txBody>
            <a:bodyPr wrap="square" rtlCol="0">
              <a:spAutoFit/>
            </a:bodyPr>
            <a:lstStyle/>
            <a:p>
              <a:r>
                <a:rPr kumimoji="1" lang="en-US" altLang="ja-JP" dirty="0">
                  <a:solidFill>
                    <a:schemeClr val="accent4">
                      <a:lumMod val="75000"/>
                    </a:schemeClr>
                  </a:solidFill>
                  <a:latin typeface="メイリオ" panose="020B0604030504040204" pitchFamily="50" charset="-128"/>
                  <a:ea typeface="メイリオ" panose="020B0604030504040204" pitchFamily="50" charset="-128"/>
                </a:rPr>
                <a:t>FALSE</a:t>
              </a:r>
              <a:endParaRPr kumimoji="1" lang="ja-JP" altLang="en-US" dirty="0">
                <a:solidFill>
                  <a:schemeClr val="accent4">
                    <a:lumMod val="75000"/>
                  </a:schemeClr>
                </a:solidFill>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7A539017-5764-E807-4912-E1DA64646604}"/>
                </a:ext>
              </a:extLst>
            </p:cNvPr>
            <p:cNvSpPr txBox="1"/>
            <p:nvPr/>
          </p:nvSpPr>
          <p:spPr>
            <a:xfrm>
              <a:off x="4594319" y="4459429"/>
              <a:ext cx="1118091" cy="369332"/>
            </a:xfrm>
            <a:prstGeom prst="rect">
              <a:avLst/>
            </a:prstGeom>
            <a:noFill/>
          </p:spPr>
          <p:txBody>
            <a:bodyPr wrap="square" rtlCol="0">
              <a:spAutoFit/>
            </a:bodyPr>
            <a:lstStyle/>
            <a:p>
              <a:r>
                <a:rPr kumimoji="1" lang="en-US" altLang="ja-JP" dirty="0">
                  <a:solidFill>
                    <a:schemeClr val="accent4">
                      <a:lumMod val="75000"/>
                    </a:schemeClr>
                  </a:solidFill>
                  <a:latin typeface="メイリオ" panose="020B0604030504040204" pitchFamily="50" charset="-128"/>
                  <a:ea typeface="メイリオ" panose="020B0604030504040204" pitchFamily="50" charset="-128"/>
                </a:rPr>
                <a:t>FALSE</a:t>
              </a:r>
              <a:endParaRPr kumimoji="1" lang="ja-JP" altLang="en-US" dirty="0">
                <a:solidFill>
                  <a:schemeClr val="accent4">
                    <a:lumMod val="75000"/>
                  </a:schemeClr>
                </a:solidFill>
                <a:latin typeface="メイリオ" panose="020B0604030504040204" pitchFamily="50" charset="-128"/>
                <a:ea typeface="メイリオ" panose="020B0604030504040204" pitchFamily="50" charset="-128"/>
              </a:endParaRPr>
            </a:p>
          </p:txBody>
        </p:sp>
        <p:cxnSp>
          <p:nvCxnSpPr>
            <p:cNvPr id="122" name="直線矢印コネクタ 121">
              <a:extLst>
                <a:ext uri="{FF2B5EF4-FFF2-40B4-BE49-F238E27FC236}">
                  <a16:creationId xmlns:a16="http://schemas.microsoft.com/office/drawing/2014/main" id="{240C3EE4-AD19-09E5-D154-5DFEE63C07AF}"/>
                </a:ext>
              </a:extLst>
            </p:cNvPr>
            <p:cNvCxnSpPr>
              <a:cxnSpLocks/>
            </p:cNvCxnSpPr>
            <p:nvPr/>
          </p:nvCxnSpPr>
          <p:spPr>
            <a:xfrm>
              <a:off x="8096144" y="2591258"/>
              <a:ext cx="180000" cy="0"/>
            </a:xfrm>
            <a:prstGeom prst="straightConnector1">
              <a:avLst/>
            </a:prstGeom>
            <a:ln w="285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直線矢印コネクタ 125">
              <a:extLst>
                <a:ext uri="{FF2B5EF4-FFF2-40B4-BE49-F238E27FC236}">
                  <a16:creationId xmlns:a16="http://schemas.microsoft.com/office/drawing/2014/main" id="{F5585D4F-DA0C-6F49-F18D-360EC3087463}"/>
                </a:ext>
              </a:extLst>
            </p:cNvPr>
            <p:cNvCxnSpPr>
              <a:cxnSpLocks/>
            </p:cNvCxnSpPr>
            <p:nvPr/>
          </p:nvCxnSpPr>
          <p:spPr>
            <a:xfrm>
              <a:off x="8096144" y="2760204"/>
              <a:ext cx="180000" cy="0"/>
            </a:xfrm>
            <a:prstGeom prst="straightConnector1">
              <a:avLst/>
            </a:prstGeom>
            <a:ln w="285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直線矢印コネクタ 126">
              <a:extLst>
                <a:ext uri="{FF2B5EF4-FFF2-40B4-BE49-F238E27FC236}">
                  <a16:creationId xmlns:a16="http://schemas.microsoft.com/office/drawing/2014/main" id="{3DC7B329-5296-AE55-1297-529B023D5320}"/>
                </a:ext>
              </a:extLst>
            </p:cNvPr>
            <p:cNvCxnSpPr>
              <a:cxnSpLocks/>
            </p:cNvCxnSpPr>
            <p:nvPr/>
          </p:nvCxnSpPr>
          <p:spPr>
            <a:xfrm>
              <a:off x="8096144" y="2956005"/>
              <a:ext cx="180000" cy="0"/>
            </a:xfrm>
            <a:prstGeom prst="straightConnector1">
              <a:avLst/>
            </a:prstGeom>
            <a:ln w="285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直線矢印コネクタ 127">
              <a:extLst>
                <a:ext uri="{FF2B5EF4-FFF2-40B4-BE49-F238E27FC236}">
                  <a16:creationId xmlns:a16="http://schemas.microsoft.com/office/drawing/2014/main" id="{2744118C-6BF2-6471-390B-9BFB8C1ADBC1}"/>
                </a:ext>
              </a:extLst>
            </p:cNvPr>
            <p:cNvCxnSpPr>
              <a:cxnSpLocks/>
            </p:cNvCxnSpPr>
            <p:nvPr/>
          </p:nvCxnSpPr>
          <p:spPr>
            <a:xfrm>
              <a:off x="8096144" y="3153269"/>
              <a:ext cx="180000" cy="0"/>
            </a:xfrm>
            <a:prstGeom prst="straightConnector1">
              <a:avLst/>
            </a:prstGeom>
            <a:ln w="285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直線矢印コネクタ 128">
              <a:extLst>
                <a:ext uri="{FF2B5EF4-FFF2-40B4-BE49-F238E27FC236}">
                  <a16:creationId xmlns:a16="http://schemas.microsoft.com/office/drawing/2014/main" id="{5B845EA2-797A-F184-61AB-999F5FA8EDAC}"/>
                </a:ext>
              </a:extLst>
            </p:cNvPr>
            <p:cNvCxnSpPr>
              <a:cxnSpLocks/>
            </p:cNvCxnSpPr>
            <p:nvPr/>
          </p:nvCxnSpPr>
          <p:spPr>
            <a:xfrm>
              <a:off x="8098905" y="3363533"/>
              <a:ext cx="180000" cy="0"/>
            </a:xfrm>
            <a:prstGeom prst="straightConnector1">
              <a:avLst/>
            </a:prstGeom>
            <a:ln w="285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直線矢印コネクタ 129">
              <a:extLst>
                <a:ext uri="{FF2B5EF4-FFF2-40B4-BE49-F238E27FC236}">
                  <a16:creationId xmlns:a16="http://schemas.microsoft.com/office/drawing/2014/main" id="{75B19D8F-A853-F782-A657-91A68CD25E92}"/>
                </a:ext>
              </a:extLst>
            </p:cNvPr>
            <p:cNvCxnSpPr>
              <a:cxnSpLocks/>
            </p:cNvCxnSpPr>
            <p:nvPr/>
          </p:nvCxnSpPr>
          <p:spPr>
            <a:xfrm>
              <a:off x="8096144" y="3541078"/>
              <a:ext cx="180000" cy="0"/>
            </a:xfrm>
            <a:prstGeom prst="straightConnector1">
              <a:avLst/>
            </a:prstGeom>
            <a:ln w="285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直線矢印コネクタ 130">
              <a:extLst>
                <a:ext uri="{FF2B5EF4-FFF2-40B4-BE49-F238E27FC236}">
                  <a16:creationId xmlns:a16="http://schemas.microsoft.com/office/drawing/2014/main" id="{89193714-6379-E3F1-F5FE-53FD8E8BEC15}"/>
                </a:ext>
              </a:extLst>
            </p:cNvPr>
            <p:cNvCxnSpPr>
              <a:cxnSpLocks/>
            </p:cNvCxnSpPr>
            <p:nvPr/>
          </p:nvCxnSpPr>
          <p:spPr>
            <a:xfrm>
              <a:off x="8096144" y="3723391"/>
              <a:ext cx="180000" cy="0"/>
            </a:xfrm>
            <a:prstGeom prst="straightConnector1">
              <a:avLst/>
            </a:prstGeom>
            <a:ln w="285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線矢印コネクタ 131">
              <a:extLst>
                <a:ext uri="{FF2B5EF4-FFF2-40B4-BE49-F238E27FC236}">
                  <a16:creationId xmlns:a16="http://schemas.microsoft.com/office/drawing/2014/main" id="{40037088-D13E-4A1F-4A9D-B30D6B0B8FB1}"/>
                </a:ext>
              </a:extLst>
            </p:cNvPr>
            <p:cNvCxnSpPr>
              <a:cxnSpLocks/>
            </p:cNvCxnSpPr>
            <p:nvPr/>
          </p:nvCxnSpPr>
          <p:spPr>
            <a:xfrm>
              <a:off x="8134878" y="4835508"/>
              <a:ext cx="180000" cy="0"/>
            </a:xfrm>
            <a:prstGeom prst="straightConnector1">
              <a:avLst/>
            </a:prstGeom>
            <a:ln w="285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直線矢印コネクタ 135">
              <a:extLst>
                <a:ext uri="{FF2B5EF4-FFF2-40B4-BE49-F238E27FC236}">
                  <a16:creationId xmlns:a16="http://schemas.microsoft.com/office/drawing/2014/main" id="{72F13DBA-A549-85F0-1AB8-5E7546DBA032}"/>
                </a:ext>
              </a:extLst>
            </p:cNvPr>
            <p:cNvCxnSpPr>
              <a:cxnSpLocks/>
            </p:cNvCxnSpPr>
            <p:nvPr/>
          </p:nvCxnSpPr>
          <p:spPr>
            <a:xfrm>
              <a:off x="8134878" y="5051407"/>
              <a:ext cx="180000" cy="0"/>
            </a:xfrm>
            <a:prstGeom prst="straightConnector1">
              <a:avLst/>
            </a:prstGeom>
            <a:ln w="285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直線矢印コネクタ 136">
              <a:extLst>
                <a:ext uri="{FF2B5EF4-FFF2-40B4-BE49-F238E27FC236}">
                  <a16:creationId xmlns:a16="http://schemas.microsoft.com/office/drawing/2014/main" id="{EE30C1FD-0BD9-D125-1097-964BF1C731C8}"/>
                </a:ext>
              </a:extLst>
            </p:cNvPr>
            <p:cNvCxnSpPr>
              <a:cxnSpLocks/>
            </p:cNvCxnSpPr>
            <p:nvPr/>
          </p:nvCxnSpPr>
          <p:spPr>
            <a:xfrm>
              <a:off x="8134878" y="5267306"/>
              <a:ext cx="180000" cy="0"/>
            </a:xfrm>
            <a:prstGeom prst="straightConnector1">
              <a:avLst/>
            </a:prstGeom>
            <a:ln w="285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 name="正方形/長方形 8">
              <a:extLst>
                <a:ext uri="{FF2B5EF4-FFF2-40B4-BE49-F238E27FC236}">
                  <a16:creationId xmlns:a16="http://schemas.microsoft.com/office/drawing/2014/main" id="{ECEF5099-DD47-B065-F9A6-CD35412B43F5}"/>
                </a:ext>
              </a:extLst>
            </p:cNvPr>
            <p:cNvSpPr/>
            <p:nvPr/>
          </p:nvSpPr>
          <p:spPr>
            <a:xfrm>
              <a:off x="3656758" y="1927224"/>
              <a:ext cx="1066094" cy="335280"/>
            </a:xfrm>
            <a:prstGeom prst="rect">
              <a:avLst/>
            </a:prstGeom>
            <a:solidFill>
              <a:srgbClr val="FFFFFF"/>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dirty="0">
                  <a:solidFill>
                    <a:schemeClr val="tx1"/>
                  </a:solidFill>
                  <a:latin typeface="メイリオ" panose="020B0604030504040204" pitchFamily="50" charset="-128"/>
                  <a:ea typeface="メイリオ" panose="020B0604030504040204" pitchFamily="50" charset="-128"/>
                </a:rPr>
                <a:t>s</a:t>
              </a:r>
              <a:r>
                <a:rPr kumimoji="1" lang="en-US" altLang="ja-JP" sz="1400" dirty="0">
                  <a:solidFill>
                    <a:schemeClr val="tx1"/>
                  </a:solidFill>
                  <a:latin typeface="メイリオ" panose="020B0604030504040204" pitchFamily="50" charset="-128"/>
                  <a:ea typeface="メイリオ" panose="020B0604030504040204" pitchFamily="50" charset="-128"/>
                </a:rPr>
                <a:t>core()</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cxnSp>
          <p:nvCxnSpPr>
            <p:cNvPr id="10" name="直線矢印コネクタ 9">
              <a:extLst>
                <a:ext uri="{FF2B5EF4-FFF2-40B4-BE49-F238E27FC236}">
                  <a16:creationId xmlns:a16="http://schemas.microsoft.com/office/drawing/2014/main" id="{A3078BB2-F832-7AAE-9503-1DDA631D87E2}"/>
                </a:ext>
              </a:extLst>
            </p:cNvPr>
            <p:cNvCxnSpPr>
              <a:cxnSpLocks/>
            </p:cNvCxnSpPr>
            <p:nvPr/>
          </p:nvCxnSpPr>
          <p:spPr>
            <a:xfrm>
              <a:off x="2804751" y="1518417"/>
              <a:ext cx="857927"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A09A2A5F-22FD-BA74-5B8A-C59E07DBB625}"/>
                </a:ext>
              </a:extLst>
            </p:cNvPr>
            <p:cNvCxnSpPr>
              <a:cxnSpLocks/>
            </p:cNvCxnSpPr>
            <p:nvPr/>
          </p:nvCxnSpPr>
          <p:spPr>
            <a:xfrm>
              <a:off x="2767890" y="2007989"/>
              <a:ext cx="857927"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線コネクタ 155">
              <a:extLst>
                <a:ext uri="{FF2B5EF4-FFF2-40B4-BE49-F238E27FC236}">
                  <a16:creationId xmlns:a16="http://schemas.microsoft.com/office/drawing/2014/main" id="{7F0DAD43-2625-CD76-55F7-70784D853F01}"/>
                </a:ext>
              </a:extLst>
            </p:cNvPr>
            <p:cNvCxnSpPr>
              <a:cxnSpLocks/>
            </p:cNvCxnSpPr>
            <p:nvPr/>
          </p:nvCxnSpPr>
          <p:spPr>
            <a:xfrm>
              <a:off x="4359856" y="5507223"/>
              <a:ext cx="4358603" cy="0"/>
            </a:xfrm>
            <a:prstGeom prst="line">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sp>
          <p:nvSpPr>
            <p:cNvPr id="158" name="四角形: 1 つの角を切り取る 157">
              <a:extLst>
                <a:ext uri="{FF2B5EF4-FFF2-40B4-BE49-F238E27FC236}">
                  <a16:creationId xmlns:a16="http://schemas.microsoft.com/office/drawing/2014/main" id="{80C7270A-4881-A2D8-A48F-2E19177E1C33}"/>
                </a:ext>
              </a:extLst>
            </p:cNvPr>
            <p:cNvSpPr/>
            <p:nvPr/>
          </p:nvSpPr>
          <p:spPr>
            <a:xfrm>
              <a:off x="4371294" y="5676687"/>
              <a:ext cx="2981950" cy="261000"/>
            </a:xfrm>
            <a:prstGeom prst="snip1Rect">
              <a:avLst>
                <a:gd name="adj" fmla="val 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dirty="0">
                  <a:solidFill>
                    <a:schemeClr val="tx1"/>
                  </a:solidFill>
                  <a:latin typeface="メイリオ" panose="020B0604030504040204" pitchFamily="50" charset="-128"/>
                  <a:ea typeface="メイリオ" panose="020B0604030504040204" pitchFamily="50" charset="-128"/>
                </a:rPr>
                <a:t>DD</a:t>
              </a:r>
              <a:r>
                <a:rPr lang="ja-JP" altLang="en-US" sz="1400" dirty="0">
                  <a:solidFill>
                    <a:schemeClr val="tx1"/>
                  </a:solidFill>
                  <a:latin typeface="メイリオ" panose="020B0604030504040204" pitchFamily="50" charset="-128"/>
                  <a:ea typeface="メイリオ" panose="020B0604030504040204" pitchFamily="50" charset="-128"/>
                </a:rPr>
                <a:t>の個数分だけ点数を２倍する</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61" name="四角形: 1 つの角を切り取る 160">
              <a:extLst>
                <a:ext uri="{FF2B5EF4-FFF2-40B4-BE49-F238E27FC236}">
                  <a16:creationId xmlns:a16="http://schemas.microsoft.com/office/drawing/2014/main" id="{EE7D6A8B-9DE6-966B-0FE8-8ACF634F2936}"/>
                </a:ext>
              </a:extLst>
            </p:cNvPr>
            <p:cNvSpPr/>
            <p:nvPr/>
          </p:nvSpPr>
          <p:spPr>
            <a:xfrm>
              <a:off x="5709450" y="1467035"/>
              <a:ext cx="5140544" cy="297946"/>
            </a:xfrm>
            <a:prstGeom prst="snip1Rect">
              <a:avLst>
                <a:gd name="adj" fmla="val 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dirty="0">
                  <a:solidFill>
                    <a:schemeClr val="tx1"/>
                  </a:solidFill>
                  <a:latin typeface="メイリオ" panose="020B0604030504040204" pitchFamily="50" charset="-128"/>
                  <a:ea typeface="メイリオ" panose="020B0604030504040204" pitchFamily="50" charset="-128"/>
                </a:rPr>
                <a:t>DD,7,BBB,BB,B,C,0</a:t>
              </a:r>
              <a:r>
                <a:rPr lang="ja-JP" altLang="en-US" sz="1400" dirty="0">
                  <a:solidFill>
                    <a:schemeClr val="tx1"/>
                  </a:solidFill>
                  <a:latin typeface="メイリオ" panose="020B0604030504040204" pitchFamily="50" charset="-128"/>
                  <a:ea typeface="メイリオ" panose="020B0604030504040204" pitchFamily="50" charset="-128"/>
                </a:rPr>
                <a:t>の中から３つの要素を選ぶ（重複あり）</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62" name="テキスト ボックス 161">
              <a:extLst>
                <a:ext uri="{FF2B5EF4-FFF2-40B4-BE49-F238E27FC236}">
                  <a16:creationId xmlns:a16="http://schemas.microsoft.com/office/drawing/2014/main" id="{46850BCC-0C09-20C6-2E61-80E661485450}"/>
                </a:ext>
              </a:extLst>
            </p:cNvPr>
            <p:cNvSpPr txBox="1"/>
            <p:nvPr/>
          </p:nvSpPr>
          <p:spPr>
            <a:xfrm>
              <a:off x="8309508" y="1776297"/>
              <a:ext cx="3441138" cy="307777"/>
            </a:xfrm>
            <a:prstGeom prst="rect">
              <a:avLst/>
            </a:prstGeom>
            <a:noFill/>
          </p:spPr>
          <p:txBody>
            <a:bodyPr wrap="square" rtlCol="0">
              <a:spAutoFit/>
            </a:bodyPr>
            <a:lstStyle/>
            <a:p>
              <a:r>
                <a:rPr kumimoji="1" lang="ja-JP" altLang="en-US" sz="1400" dirty="0">
                  <a:solidFill>
                    <a:schemeClr val="accent4">
                      <a:lumMod val="75000"/>
                    </a:schemeClr>
                  </a:solidFill>
                  <a:latin typeface="メイリオ" panose="020B0604030504040204" pitchFamily="50" charset="-128"/>
                  <a:ea typeface="メイリオ" panose="020B0604030504040204" pitchFamily="50" charset="-128"/>
                </a:rPr>
                <a:t>それぞれが選ばれる確率を指定</a:t>
              </a:r>
            </a:p>
          </p:txBody>
        </p:sp>
      </p:grpSp>
      <p:sp>
        <p:nvSpPr>
          <p:cNvPr id="165" name="楕円 164">
            <a:extLst>
              <a:ext uri="{FF2B5EF4-FFF2-40B4-BE49-F238E27FC236}">
                <a16:creationId xmlns:a16="http://schemas.microsoft.com/office/drawing/2014/main" id="{97F35ACA-E5FF-CD39-9D95-2F9D1BBA72F6}"/>
              </a:ext>
            </a:extLst>
          </p:cNvPr>
          <p:cNvSpPr/>
          <p:nvPr/>
        </p:nvSpPr>
        <p:spPr>
          <a:xfrm>
            <a:off x="3705470" y="1402362"/>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ja-JP" altLang="en-US" dirty="0">
                <a:latin typeface="メイリオ" panose="020B0604030504040204" pitchFamily="50" charset="-128"/>
                <a:ea typeface="メイリオ" panose="020B0604030504040204" pitchFamily="50" charset="-128"/>
              </a:rPr>
              <a:t>１</a:t>
            </a:r>
          </a:p>
        </p:txBody>
      </p:sp>
      <p:sp>
        <p:nvSpPr>
          <p:cNvPr id="166" name="楕円 165">
            <a:extLst>
              <a:ext uri="{FF2B5EF4-FFF2-40B4-BE49-F238E27FC236}">
                <a16:creationId xmlns:a16="http://schemas.microsoft.com/office/drawing/2014/main" id="{4989CE9E-6EFB-A294-F43B-2D7F7E6D96F8}"/>
              </a:ext>
            </a:extLst>
          </p:cNvPr>
          <p:cNvSpPr/>
          <p:nvPr/>
        </p:nvSpPr>
        <p:spPr>
          <a:xfrm>
            <a:off x="866144" y="1234722"/>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ja-JP" altLang="en-US" dirty="0">
                <a:latin typeface="メイリオ" panose="020B0604030504040204" pitchFamily="50" charset="-128"/>
                <a:ea typeface="メイリオ" panose="020B0604030504040204" pitchFamily="50" charset="-128"/>
              </a:rPr>
              <a:t>２</a:t>
            </a:r>
          </a:p>
        </p:txBody>
      </p:sp>
      <p:sp>
        <p:nvSpPr>
          <p:cNvPr id="168" name="楕円 167">
            <a:extLst>
              <a:ext uri="{FF2B5EF4-FFF2-40B4-BE49-F238E27FC236}">
                <a16:creationId xmlns:a16="http://schemas.microsoft.com/office/drawing/2014/main" id="{C8BB56B9-AB2C-8796-A14F-309AA0F29180}"/>
              </a:ext>
            </a:extLst>
          </p:cNvPr>
          <p:cNvSpPr/>
          <p:nvPr/>
        </p:nvSpPr>
        <p:spPr>
          <a:xfrm>
            <a:off x="3596946" y="1993531"/>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ja-JP" altLang="en-US" dirty="0">
                <a:latin typeface="メイリオ" panose="020B0604030504040204" pitchFamily="50" charset="-128"/>
                <a:ea typeface="メイリオ" panose="020B0604030504040204" pitchFamily="50" charset="-128"/>
              </a:rPr>
              <a:t>３</a:t>
            </a:r>
          </a:p>
        </p:txBody>
      </p:sp>
      <p:sp>
        <p:nvSpPr>
          <p:cNvPr id="169" name="楕円 168">
            <a:extLst>
              <a:ext uri="{FF2B5EF4-FFF2-40B4-BE49-F238E27FC236}">
                <a16:creationId xmlns:a16="http://schemas.microsoft.com/office/drawing/2014/main" id="{7669092E-424A-15C1-4C92-0FFD1F17AADF}"/>
              </a:ext>
            </a:extLst>
          </p:cNvPr>
          <p:cNvSpPr/>
          <p:nvPr/>
        </p:nvSpPr>
        <p:spPr>
          <a:xfrm>
            <a:off x="4061331" y="2424900"/>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lang="ja-JP" altLang="en-US" dirty="0">
                <a:latin typeface="メイリオ" panose="020B0604030504040204" pitchFamily="50" charset="-128"/>
                <a:ea typeface="メイリオ" panose="020B0604030504040204" pitchFamily="50" charset="-128"/>
              </a:rPr>
              <a:t>４</a:t>
            </a:r>
            <a:endParaRPr kumimoji="1" lang="ja-JP" altLang="en-US" dirty="0">
              <a:latin typeface="メイリオ" panose="020B0604030504040204" pitchFamily="50" charset="-128"/>
              <a:ea typeface="メイリオ" panose="020B0604030504040204" pitchFamily="50" charset="-128"/>
            </a:endParaRPr>
          </a:p>
        </p:txBody>
      </p:sp>
      <p:sp>
        <p:nvSpPr>
          <p:cNvPr id="170" name="楕円 169">
            <a:extLst>
              <a:ext uri="{FF2B5EF4-FFF2-40B4-BE49-F238E27FC236}">
                <a16:creationId xmlns:a16="http://schemas.microsoft.com/office/drawing/2014/main" id="{989D2B90-7BD4-83EE-8219-61846835E032}"/>
              </a:ext>
            </a:extLst>
          </p:cNvPr>
          <p:cNvSpPr/>
          <p:nvPr/>
        </p:nvSpPr>
        <p:spPr>
          <a:xfrm>
            <a:off x="4067683" y="4134129"/>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ja-JP" altLang="en-US" dirty="0">
                <a:latin typeface="メイリオ" panose="020B0604030504040204" pitchFamily="50" charset="-128"/>
                <a:ea typeface="メイリオ" panose="020B0604030504040204" pitchFamily="50" charset="-128"/>
              </a:rPr>
              <a:t>５</a:t>
            </a:r>
          </a:p>
        </p:txBody>
      </p:sp>
      <p:sp>
        <p:nvSpPr>
          <p:cNvPr id="171" name="楕円 170">
            <a:extLst>
              <a:ext uri="{FF2B5EF4-FFF2-40B4-BE49-F238E27FC236}">
                <a16:creationId xmlns:a16="http://schemas.microsoft.com/office/drawing/2014/main" id="{4D3BE0DC-40DA-440B-2929-E0E7DCC0FCDB}"/>
              </a:ext>
            </a:extLst>
          </p:cNvPr>
          <p:cNvSpPr/>
          <p:nvPr/>
        </p:nvSpPr>
        <p:spPr>
          <a:xfrm>
            <a:off x="7153337" y="3003089"/>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lang="ja-JP" altLang="en-US" dirty="0">
                <a:latin typeface="メイリオ" panose="020B0604030504040204" pitchFamily="50" charset="-128"/>
                <a:ea typeface="メイリオ" panose="020B0604030504040204" pitchFamily="50" charset="-128"/>
              </a:rPr>
              <a:t>６</a:t>
            </a:r>
            <a:endParaRPr kumimoji="1" lang="ja-JP" altLang="en-US" dirty="0">
              <a:latin typeface="メイリオ" panose="020B0604030504040204" pitchFamily="50" charset="-128"/>
              <a:ea typeface="メイリオ" panose="020B0604030504040204" pitchFamily="50" charset="-128"/>
            </a:endParaRPr>
          </a:p>
        </p:txBody>
      </p:sp>
      <p:sp>
        <p:nvSpPr>
          <p:cNvPr id="172" name="楕円 171">
            <a:extLst>
              <a:ext uri="{FF2B5EF4-FFF2-40B4-BE49-F238E27FC236}">
                <a16:creationId xmlns:a16="http://schemas.microsoft.com/office/drawing/2014/main" id="{16BA31D8-F0AD-BEA0-8EC3-3D65A90E8287}"/>
              </a:ext>
            </a:extLst>
          </p:cNvPr>
          <p:cNvSpPr/>
          <p:nvPr/>
        </p:nvSpPr>
        <p:spPr>
          <a:xfrm>
            <a:off x="4083969" y="4819298"/>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ja-JP" altLang="en-US" dirty="0">
                <a:latin typeface="メイリオ" panose="020B0604030504040204" pitchFamily="50" charset="-128"/>
                <a:ea typeface="メイリオ" panose="020B0604030504040204" pitchFamily="50" charset="-128"/>
              </a:rPr>
              <a:t>７</a:t>
            </a:r>
          </a:p>
        </p:txBody>
      </p:sp>
      <p:sp>
        <p:nvSpPr>
          <p:cNvPr id="173" name="楕円 172">
            <a:extLst>
              <a:ext uri="{FF2B5EF4-FFF2-40B4-BE49-F238E27FC236}">
                <a16:creationId xmlns:a16="http://schemas.microsoft.com/office/drawing/2014/main" id="{D94A88C7-A66D-98A1-D356-41C1F02A1A33}"/>
              </a:ext>
            </a:extLst>
          </p:cNvPr>
          <p:cNvSpPr/>
          <p:nvPr/>
        </p:nvSpPr>
        <p:spPr>
          <a:xfrm>
            <a:off x="7200216" y="5161382"/>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lang="ja-JP" altLang="en-US" dirty="0">
                <a:latin typeface="メイリオ" panose="020B0604030504040204" pitchFamily="50" charset="-128"/>
                <a:ea typeface="メイリオ" panose="020B0604030504040204" pitchFamily="50" charset="-128"/>
              </a:rPr>
              <a:t>８</a:t>
            </a:r>
            <a:endParaRPr kumimoji="1" lang="ja-JP" altLang="en-US" dirty="0">
              <a:latin typeface="メイリオ" panose="020B0604030504040204" pitchFamily="50" charset="-128"/>
              <a:ea typeface="メイリオ" panose="020B0604030504040204" pitchFamily="50" charset="-128"/>
            </a:endParaRPr>
          </a:p>
        </p:txBody>
      </p:sp>
      <p:sp>
        <p:nvSpPr>
          <p:cNvPr id="174" name="楕円 173">
            <a:extLst>
              <a:ext uri="{FF2B5EF4-FFF2-40B4-BE49-F238E27FC236}">
                <a16:creationId xmlns:a16="http://schemas.microsoft.com/office/drawing/2014/main" id="{91D2AA4C-06B0-BAB0-4AD1-61EF1388297D}"/>
              </a:ext>
            </a:extLst>
          </p:cNvPr>
          <p:cNvSpPr/>
          <p:nvPr/>
        </p:nvSpPr>
        <p:spPr>
          <a:xfrm>
            <a:off x="4057848" y="5676687"/>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lang="ja-JP" altLang="en-US" dirty="0">
                <a:latin typeface="メイリオ" panose="020B0604030504040204" pitchFamily="50" charset="-128"/>
                <a:ea typeface="メイリオ" panose="020B0604030504040204" pitchFamily="50" charset="-128"/>
              </a:rPr>
              <a:t>９</a:t>
            </a:r>
            <a:endParaRPr kumimoji="1"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431739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DE5FDF3B-4454-F3C7-72C6-1F0751920E6F}"/>
              </a:ext>
            </a:extLst>
          </p:cNvPr>
          <p:cNvSpPr/>
          <p:nvPr/>
        </p:nvSpPr>
        <p:spPr>
          <a:xfrm>
            <a:off x="658169" y="1098587"/>
            <a:ext cx="10540261" cy="552895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kumimoji="1" lang="en-US" altLang="ja-JP" sz="3000" b="1" dirty="0">
                <a:solidFill>
                  <a:schemeClr val="tx1">
                    <a:lumMod val="65000"/>
                    <a:lumOff val="35000"/>
                  </a:schemeClr>
                </a:solidFill>
                <a:latin typeface="メイリオ" panose="020B0604030504040204" pitchFamily="50" charset="-128"/>
                <a:ea typeface="メイリオ" panose="020B0604030504040204" pitchFamily="50" charset="-128"/>
              </a:rPr>
              <a:t>7</a:t>
            </a:r>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章　プログラム</a:t>
            </a:r>
          </a:p>
        </p:txBody>
      </p:sp>
      <p:sp>
        <p:nvSpPr>
          <p:cNvPr id="3" name="字幕 2">
            <a:extLst>
              <a:ext uri="{FF2B5EF4-FFF2-40B4-BE49-F238E27FC236}">
                <a16:creationId xmlns:a16="http://schemas.microsoft.com/office/drawing/2014/main" id="{EF422FEA-2F34-70ED-56A9-01A65A2AD142}"/>
              </a:ext>
            </a:extLst>
          </p:cNvPr>
          <p:cNvSpPr>
            <a:spLocks noGrp="1"/>
          </p:cNvSpPr>
          <p:nvPr>
            <p:ph type="subTitle" idx="1"/>
          </p:nvPr>
        </p:nvSpPr>
        <p:spPr>
          <a:xfrm>
            <a:off x="884439" y="1164511"/>
            <a:ext cx="9391483" cy="5446283"/>
          </a:xfrm>
        </p:spPr>
        <p:txBody>
          <a:bodyPr>
            <a:normAutofit/>
          </a:bodyPr>
          <a:lstStyle/>
          <a:p>
            <a:pPr algn="l"/>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＃＃スロットを回す</a:t>
            </a:r>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関数名：</a:t>
            </a:r>
            <a:r>
              <a:rPr lang="en-US" altLang="ja-JP" sz="1200" dirty="0">
                <a:latin typeface="メイリオ" panose="020B0604030504040204" pitchFamily="50" charset="-128"/>
                <a:ea typeface="メイリオ" panose="020B0604030504040204" pitchFamily="50" charset="-128"/>
              </a:rPr>
              <a:t>symbols</a:t>
            </a:r>
          </a:p>
          <a:p>
            <a:pPr algn="l"/>
            <a:r>
              <a:rPr lang="ja-JP" altLang="en-US" sz="1200" dirty="0">
                <a:latin typeface="メイリオ" panose="020B0604030504040204" pitchFamily="50" charset="-128"/>
                <a:ea typeface="メイリオ" panose="020B0604030504040204" pitchFamily="50" charset="-128"/>
              </a:rPr>
              <a:t>実行内容１：文字列のベクトル</a:t>
            </a:r>
            <a:r>
              <a:rPr lang="en-US" altLang="ja-JP" sz="1200" dirty="0">
                <a:latin typeface="メイリオ" panose="020B0604030504040204" pitchFamily="50" charset="-128"/>
                <a:ea typeface="メイリオ" panose="020B0604030504040204" pitchFamily="50" charset="-128"/>
              </a:rPr>
              <a:t>(DD,7,BBB,BB,B,C,0)</a:t>
            </a:r>
            <a:r>
              <a:rPr lang="ja-JP" altLang="en-US" sz="1200" dirty="0">
                <a:latin typeface="メイリオ" panose="020B0604030504040204" pitchFamily="50" charset="-128"/>
                <a:ea typeface="メイリオ" panose="020B0604030504040204" pitchFamily="50" charset="-128"/>
              </a:rPr>
              <a:t>を、変数</a:t>
            </a:r>
            <a:r>
              <a:rPr lang="en-US" altLang="ja-JP" sz="1200" dirty="0">
                <a:latin typeface="メイリオ" panose="020B0604030504040204" pitchFamily="50" charset="-128"/>
                <a:ea typeface="メイリオ" panose="020B0604030504040204" pitchFamily="50" charset="-128"/>
              </a:rPr>
              <a:t>wheel</a:t>
            </a:r>
            <a:r>
              <a:rPr lang="ja-JP" altLang="en-US" sz="1200" dirty="0">
                <a:latin typeface="メイリオ" panose="020B0604030504040204" pitchFamily="50" charset="-128"/>
                <a:ea typeface="メイリオ" panose="020B0604030504040204" pitchFamily="50" charset="-128"/>
              </a:rPr>
              <a:t>に代入する</a:t>
            </a:r>
            <a:endParaRPr lang="en-US" altLang="ja-JP" sz="1200" dirty="0">
              <a:latin typeface="メイリオ" panose="020B0604030504040204" pitchFamily="50" charset="-128"/>
              <a:ea typeface="メイリオ" panose="020B0604030504040204" pitchFamily="50" charset="-128"/>
            </a:endParaRPr>
          </a:p>
          <a:p>
            <a:pPr algn="l"/>
            <a:r>
              <a:rPr kumimoji="1" lang="ja-JP" altLang="en-US" sz="1200" dirty="0">
                <a:latin typeface="メイリオ" panose="020B0604030504040204" pitchFamily="50" charset="-128"/>
                <a:ea typeface="メイリオ" panose="020B0604030504040204" pitchFamily="50" charset="-128"/>
              </a:rPr>
              <a:t>実行内容２：</a:t>
            </a:r>
            <a:r>
              <a:rPr kumimoji="1" lang="en-US" altLang="ja-JP" sz="1200" dirty="0">
                <a:latin typeface="メイリオ" panose="020B0604030504040204" pitchFamily="50" charset="-128"/>
                <a:ea typeface="メイリオ" panose="020B0604030504040204" pitchFamily="50" charset="-128"/>
              </a:rPr>
              <a:t>sample</a:t>
            </a:r>
            <a:r>
              <a:rPr lang="ja-JP" altLang="en-US" sz="1200" dirty="0">
                <a:latin typeface="メイリオ" panose="020B0604030504040204" pitchFamily="50" charset="-128"/>
                <a:ea typeface="メイリオ" panose="020B0604030504040204" pitchFamily="50" charset="-128"/>
              </a:rPr>
              <a:t>で</a:t>
            </a:r>
            <a:r>
              <a:rPr lang="en-US" altLang="ja-JP" sz="1200" dirty="0">
                <a:latin typeface="メイリオ" panose="020B0604030504040204" pitchFamily="50" charset="-128"/>
                <a:ea typeface="メイリオ" panose="020B0604030504040204" pitchFamily="50" charset="-128"/>
              </a:rPr>
              <a:t>wheel</a:t>
            </a:r>
            <a:r>
              <a:rPr lang="ja-JP" altLang="en-US" sz="1200" dirty="0">
                <a:latin typeface="メイリオ" panose="020B0604030504040204" pitchFamily="50" charset="-128"/>
                <a:ea typeface="メイリオ" panose="020B0604030504040204" pitchFamily="50" charset="-128"/>
              </a:rPr>
              <a:t>から３つの値を抽出する</a:t>
            </a:r>
            <a:endParaRPr lang="en-US" altLang="ja-JP" sz="1200" dirty="0">
              <a:latin typeface="メイリオ" panose="020B0604030504040204" pitchFamily="50" charset="-128"/>
              <a:ea typeface="メイリオ" panose="020B0604030504040204" pitchFamily="50" charset="-128"/>
            </a:endParaRPr>
          </a:p>
          <a:p>
            <a:pPr algn="l"/>
            <a:endParaRPr kumimoji="1"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kumimoji="1"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kumimoji="1" lang="en-US" altLang="ja-JP" sz="1200" dirty="0">
              <a:latin typeface="メイリオ" panose="020B0604030504040204" pitchFamily="50" charset="-128"/>
              <a:ea typeface="メイリオ" panose="020B0604030504040204" pitchFamily="50" charset="-128"/>
            </a:endParaRPr>
          </a:p>
          <a:p>
            <a:pPr algn="l"/>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＃＃ゲームを実行する</a:t>
            </a:r>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kumimoji="1" lang="ja-JP" altLang="en-US" sz="1200" dirty="0">
                <a:latin typeface="メイリオ" panose="020B0604030504040204" pitchFamily="50" charset="-128"/>
                <a:ea typeface="メイリオ" panose="020B0604030504040204" pitchFamily="50" charset="-128"/>
              </a:rPr>
              <a:t>関数名：</a:t>
            </a:r>
            <a:r>
              <a:rPr kumimoji="1" lang="en-US" altLang="ja-JP" sz="1200" dirty="0">
                <a:latin typeface="メイリオ" panose="020B0604030504040204" pitchFamily="50" charset="-128"/>
                <a:ea typeface="メイリオ" panose="020B0604030504040204" pitchFamily="50" charset="-128"/>
              </a:rPr>
              <a:t>play</a:t>
            </a:r>
          </a:p>
          <a:p>
            <a:pPr algn="l"/>
            <a:r>
              <a:rPr kumimoji="1" lang="ja-JP" altLang="en-US" sz="1200" dirty="0">
                <a:latin typeface="メイリオ" panose="020B0604030504040204" pitchFamily="50" charset="-128"/>
                <a:ea typeface="メイリオ" panose="020B0604030504040204" pitchFamily="50" charset="-128"/>
              </a:rPr>
              <a:t>実行内容１：</a:t>
            </a:r>
            <a:r>
              <a:rPr kumimoji="1" lang="en-US" altLang="ja-JP" sz="1200" dirty="0">
                <a:latin typeface="メイリオ" panose="020B0604030504040204" pitchFamily="50" charset="-128"/>
                <a:ea typeface="メイリオ" panose="020B0604030504040204" pitchFamily="50" charset="-128"/>
              </a:rPr>
              <a:t>symbols</a:t>
            </a:r>
            <a:r>
              <a:rPr kumimoji="1" lang="ja-JP" altLang="en-US" sz="1200" dirty="0">
                <a:latin typeface="メイリオ" panose="020B0604030504040204" pitchFamily="50" charset="-128"/>
                <a:ea typeface="メイリオ" panose="020B0604030504040204" pitchFamily="50" charset="-128"/>
              </a:rPr>
              <a:t>でスロットを回す</a:t>
            </a:r>
            <a:endParaRPr kumimoji="1" lang="en-US" altLang="ja-JP" sz="1200" dirty="0">
              <a:latin typeface="メイリオ" panose="020B0604030504040204" pitchFamily="50" charset="-128"/>
              <a:ea typeface="メイリオ" panose="020B0604030504040204" pitchFamily="50" charset="-128"/>
            </a:endParaRPr>
          </a:p>
          <a:p>
            <a:pPr algn="l"/>
            <a:r>
              <a:rPr kumimoji="1" lang="ja-JP" altLang="en-US" sz="1200" dirty="0">
                <a:latin typeface="メイリオ" panose="020B0604030504040204" pitchFamily="50" charset="-128"/>
                <a:ea typeface="メイリオ" panose="020B0604030504040204" pitchFamily="50" charset="-128"/>
              </a:rPr>
              <a:t>実行内容２：</a:t>
            </a:r>
            <a:r>
              <a:rPr lang="en-US" altLang="ja-JP" sz="1200" dirty="0">
                <a:latin typeface="メイリオ" panose="020B0604030504040204" pitchFamily="50" charset="-128"/>
                <a:ea typeface="メイリオ" panose="020B0604030504040204" pitchFamily="50" charset="-128"/>
              </a:rPr>
              <a:t>print</a:t>
            </a:r>
            <a:r>
              <a:rPr lang="ja-JP" altLang="en-US" sz="1200" dirty="0">
                <a:latin typeface="メイリオ" panose="020B0604030504040204" pitchFamily="50" charset="-128"/>
                <a:ea typeface="メイリオ" panose="020B0604030504040204" pitchFamily="50" charset="-128"/>
              </a:rPr>
              <a:t>でスロットの結果を表示する</a:t>
            </a:r>
            <a:endParaRPr lang="en-US" altLang="ja-JP" sz="1200" dirty="0">
              <a:latin typeface="メイリオ" panose="020B0604030504040204" pitchFamily="50" charset="-128"/>
              <a:ea typeface="メイリオ" panose="020B0604030504040204" pitchFamily="50" charset="-128"/>
            </a:endParaRPr>
          </a:p>
          <a:p>
            <a:pPr algn="l"/>
            <a:r>
              <a:rPr kumimoji="1" lang="ja-JP" altLang="en-US" sz="1200" dirty="0">
                <a:latin typeface="メイリオ" panose="020B0604030504040204" pitchFamily="50" charset="-128"/>
                <a:ea typeface="メイリオ" panose="020B0604030504040204" pitchFamily="50" charset="-128"/>
              </a:rPr>
              <a:t>実行内容３：</a:t>
            </a:r>
            <a:r>
              <a:rPr kumimoji="1" lang="en-US" altLang="ja-JP" sz="1200" dirty="0">
                <a:latin typeface="メイリオ" panose="020B0604030504040204" pitchFamily="50" charset="-128"/>
                <a:ea typeface="メイリオ" panose="020B0604030504040204" pitchFamily="50" charset="-128"/>
              </a:rPr>
              <a:t>score(</a:t>
            </a:r>
            <a:r>
              <a:rPr lang="ja-JP" altLang="en-US" sz="1200" dirty="0">
                <a:latin typeface="メイリオ" panose="020B0604030504040204" pitchFamily="50" charset="-128"/>
                <a:ea typeface="メイリオ" panose="020B0604030504040204" pitchFamily="50" charset="-128"/>
              </a:rPr>
              <a:t>後に定義</a:t>
            </a:r>
            <a:r>
              <a:rPr kumimoji="1" lang="en-US" altLang="ja-JP" sz="1200" dirty="0">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で点数を計算・表示する</a:t>
            </a:r>
            <a:endParaRPr kumimoji="1" lang="en-US" altLang="ja-JP" sz="1200" dirty="0">
              <a:latin typeface="メイリオ" panose="020B0604030504040204" pitchFamily="50" charset="-128"/>
              <a:ea typeface="メイリオ" panose="020B0604030504040204" pitchFamily="50" charset="-128"/>
            </a:endParaRPr>
          </a:p>
          <a:p>
            <a:pPr algn="l"/>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endParaRPr>
          </a:p>
        </p:txBody>
      </p:sp>
      <p:pic>
        <p:nvPicPr>
          <p:cNvPr id="8" name="図 7">
            <a:extLst>
              <a:ext uri="{FF2B5EF4-FFF2-40B4-BE49-F238E27FC236}">
                <a16:creationId xmlns:a16="http://schemas.microsoft.com/office/drawing/2014/main" id="{634991FC-5CF5-51A5-D820-EF02CFE3F6DA}"/>
              </a:ext>
            </a:extLst>
          </p:cNvPr>
          <p:cNvPicPr>
            <a:picLocks noChangeAspect="1"/>
          </p:cNvPicPr>
          <p:nvPr/>
        </p:nvPicPr>
        <p:blipFill>
          <a:blip r:embed="rId2"/>
          <a:stretch>
            <a:fillRect/>
          </a:stretch>
        </p:blipFill>
        <p:spPr>
          <a:xfrm>
            <a:off x="1056126" y="2367670"/>
            <a:ext cx="6311305" cy="1125411"/>
          </a:xfrm>
          <a:prstGeom prst="rect">
            <a:avLst/>
          </a:prstGeom>
          <a:ln>
            <a:solidFill>
              <a:schemeClr val="bg2">
                <a:lumMod val="90000"/>
              </a:schemeClr>
            </a:solidFill>
          </a:ln>
        </p:spPr>
      </p:pic>
      <p:pic>
        <p:nvPicPr>
          <p:cNvPr id="12" name="図 11">
            <a:extLst>
              <a:ext uri="{FF2B5EF4-FFF2-40B4-BE49-F238E27FC236}">
                <a16:creationId xmlns:a16="http://schemas.microsoft.com/office/drawing/2014/main" id="{913E5101-FF0C-F996-E1F8-8B0950C5BFFA}"/>
              </a:ext>
            </a:extLst>
          </p:cNvPr>
          <p:cNvPicPr>
            <a:picLocks noChangeAspect="1"/>
          </p:cNvPicPr>
          <p:nvPr/>
        </p:nvPicPr>
        <p:blipFill>
          <a:blip r:embed="rId3"/>
          <a:stretch>
            <a:fillRect/>
          </a:stretch>
        </p:blipFill>
        <p:spPr>
          <a:xfrm>
            <a:off x="1056126" y="5434534"/>
            <a:ext cx="2067213" cy="943107"/>
          </a:xfrm>
          <a:prstGeom prst="rect">
            <a:avLst/>
          </a:prstGeom>
          <a:ln>
            <a:solidFill>
              <a:schemeClr val="bg2">
                <a:lumMod val="90000"/>
              </a:schemeClr>
            </a:solidFill>
          </a:ln>
        </p:spPr>
      </p:pic>
      <p:pic>
        <p:nvPicPr>
          <p:cNvPr id="18" name="図 17">
            <a:extLst>
              <a:ext uri="{FF2B5EF4-FFF2-40B4-BE49-F238E27FC236}">
                <a16:creationId xmlns:a16="http://schemas.microsoft.com/office/drawing/2014/main" id="{F37C7821-C3D3-2351-EAE1-C2D443BF59E3}"/>
              </a:ext>
            </a:extLst>
          </p:cNvPr>
          <p:cNvPicPr>
            <a:picLocks noChangeAspect="1"/>
          </p:cNvPicPr>
          <p:nvPr/>
        </p:nvPicPr>
        <p:blipFill>
          <a:blip r:embed="rId4"/>
          <a:stretch>
            <a:fillRect/>
          </a:stretch>
        </p:blipFill>
        <p:spPr>
          <a:xfrm>
            <a:off x="8099526" y="2360132"/>
            <a:ext cx="1676634" cy="924054"/>
          </a:xfrm>
          <a:prstGeom prst="rect">
            <a:avLst/>
          </a:prstGeom>
          <a:ln>
            <a:solidFill>
              <a:schemeClr val="bg2">
                <a:lumMod val="90000"/>
              </a:schemeClr>
            </a:solidFill>
          </a:ln>
        </p:spPr>
      </p:pic>
      <p:sp>
        <p:nvSpPr>
          <p:cNvPr id="19" name="正方形/長方形 18">
            <a:extLst>
              <a:ext uri="{FF2B5EF4-FFF2-40B4-BE49-F238E27FC236}">
                <a16:creationId xmlns:a16="http://schemas.microsoft.com/office/drawing/2014/main" id="{27F719EA-26FB-EFB4-546B-B3AEF40BE8E1}"/>
              </a:ext>
            </a:extLst>
          </p:cNvPr>
          <p:cNvSpPr/>
          <p:nvPr/>
        </p:nvSpPr>
        <p:spPr>
          <a:xfrm>
            <a:off x="5580181" y="3801407"/>
            <a:ext cx="4352793" cy="1320687"/>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000" dirty="0">
                <a:solidFill>
                  <a:schemeClr val="tx1"/>
                </a:solidFill>
                <a:latin typeface="メイリオ" panose="020B0604030504040204" pitchFamily="50" charset="-128"/>
                <a:ea typeface="メイリオ" panose="020B0604030504040204" pitchFamily="50" charset="-128"/>
              </a:rPr>
              <a:t>s</a:t>
            </a:r>
            <a:r>
              <a:rPr kumimoji="1" lang="en-US" altLang="ja-JP" sz="1000" dirty="0">
                <a:solidFill>
                  <a:schemeClr val="tx1"/>
                </a:solidFill>
                <a:latin typeface="メイリオ" panose="020B0604030504040204" pitchFamily="50" charset="-128"/>
                <a:ea typeface="メイリオ" panose="020B0604030504040204" pitchFamily="50" charset="-128"/>
              </a:rPr>
              <a:t>ample(</a:t>
            </a:r>
            <a:r>
              <a:rPr kumimoji="1" lang="en-US" altLang="ja-JP" sz="1000" dirty="0" err="1">
                <a:solidFill>
                  <a:schemeClr val="tx1"/>
                </a:solidFill>
                <a:latin typeface="メイリオ" panose="020B0604030504040204" pitchFamily="50" charset="-128"/>
                <a:ea typeface="メイリオ" panose="020B0604030504040204" pitchFamily="50" charset="-128"/>
              </a:rPr>
              <a:t>x</a:t>
            </a:r>
            <a:r>
              <a:rPr lang="en-US" altLang="ja-JP" sz="1000" dirty="0" err="1">
                <a:solidFill>
                  <a:schemeClr val="tx1"/>
                </a:solidFill>
                <a:latin typeface="メイリオ" panose="020B0604030504040204" pitchFamily="50" charset="-128"/>
                <a:ea typeface="メイリオ" panose="020B0604030504040204" pitchFamily="50" charset="-128"/>
              </a:rPr>
              <a:t>,</a:t>
            </a:r>
            <a:r>
              <a:rPr kumimoji="1" lang="en-US" altLang="ja-JP" sz="1000" dirty="0" err="1">
                <a:solidFill>
                  <a:schemeClr val="tx1"/>
                </a:solidFill>
                <a:latin typeface="メイリオ" panose="020B0604030504040204" pitchFamily="50" charset="-128"/>
                <a:ea typeface="メイリオ" panose="020B0604030504040204" pitchFamily="50" charset="-128"/>
              </a:rPr>
              <a:t>size,replace</a:t>
            </a:r>
            <a:r>
              <a:rPr kumimoji="1" lang="en-US" altLang="ja-JP" sz="1000" dirty="0">
                <a:solidFill>
                  <a:schemeClr val="tx1"/>
                </a:solidFill>
                <a:latin typeface="メイリオ" panose="020B0604030504040204" pitchFamily="50" charset="-128"/>
                <a:ea typeface="メイリオ" panose="020B0604030504040204" pitchFamily="50" charset="-128"/>
              </a:rPr>
              <a:t>=</a:t>
            </a:r>
            <a:r>
              <a:rPr kumimoji="1" lang="en-US" altLang="ja-JP" sz="1000" dirty="0" err="1">
                <a:solidFill>
                  <a:schemeClr val="tx1"/>
                </a:solidFill>
                <a:latin typeface="メイリオ" panose="020B0604030504040204" pitchFamily="50" charset="-128"/>
                <a:ea typeface="メイリオ" panose="020B0604030504040204" pitchFamily="50" charset="-128"/>
              </a:rPr>
              <a:t>TRUE,prob</a:t>
            </a:r>
            <a:r>
              <a:rPr kumimoji="1" lang="en-US" altLang="ja-JP" sz="1000" dirty="0">
                <a:solidFill>
                  <a:schemeClr val="tx1"/>
                </a:solidFill>
                <a:latin typeface="メイリオ" panose="020B0604030504040204" pitchFamily="50" charset="-128"/>
                <a:ea typeface="メイリオ" panose="020B0604030504040204" pitchFamily="50" charset="-128"/>
              </a:rPr>
              <a:t>=NULL)</a:t>
            </a:r>
          </a:p>
          <a:p>
            <a:endParaRPr kumimoji="1" lang="en-US" altLang="ja-JP" sz="1000" dirty="0">
              <a:solidFill>
                <a:schemeClr val="tx1"/>
              </a:solidFill>
              <a:latin typeface="メイリオ" panose="020B0604030504040204" pitchFamily="50" charset="-128"/>
              <a:ea typeface="メイリオ" panose="020B0604030504040204" pitchFamily="50" charset="-128"/>
            </a:endParaRPr>
          </a:p>
          <a:p>
            <a:r>
              <a:rPr lang="en-US" altLang="ja-JP" sz="1000" dirty="0">
                <a:solidFill>
                  <a:schemeClr val="tx1"/>
                </a:solidFill>
                <a:latin typeface="メイリオ" panose="020B0604030504040204" pitchFamily="50" charset="-128"/>
                <a:ea typeface="メイリオ" panose="020B0604030504040204" pitchFamily="50" charset="-128"/>
              </a:rPr>
              <a:t> x:</a:t>
            </a:r>
            <a:r>
              <a:rPr lang="ja-JP" altLang="en-US" sz="1000" dirty="0">
                <a:solidFill>
                  <a:schemeClr val="tx1"/>
                </a:solidFill>
                <a:latin typeface="メイリオ" panose="020B0604030504040204" pitchFamily="50" charset="-128"/>
                <a:ea typeface="メイリオ" panose="020B0604030504040204" pitchFamily="50" charset="-128"/>
              </a:rPr>
              <a:t>サンプリング元のデータ</a:t>
            </a:r>
            <a:endParaRPr lang="en-US" altLang="ja-JP" sz="1000" dirty="0">
              <a:solidFill>
                <a:schemeClr val="tx1"/>
              </a:solidFill>
              <a:latin typeface="メイリオ" panose="020B0604030504040204" pitchFamily="50" charset="-128"/>
              <a:ea typeface="メイリオ" panose="020B0604030504040204" pitchFamily="50" charset="-128"/>
            </a:endParaRPr>
          </a:p>
          <a:p>
            <a:r>
              <a:rPr lang="ja-JP" altLang="en-US" sz="1000" dirty="0">
                <a:solidFill>
                  <a:schemeClr val="tx1"/>
                </a:solidFill>
                <a:latin typeface="メイリオ" panose="020B0604030504040204" pitchFamily="50" charset="-128"/>
                <a:ea typeface="メイリオ" panose="020B0604030504040204" pitchFamily="50" charset="-128"/>
              </a:rPr>
              <a:t> </a:t>
            </a:r>
            <a:r>
              <a:rPr lang="en-US" altLang="ja-JP" sz="1000" dirty="0">
                <a:solidFill>
                  <a:schemeClr val="tx1"/>
                </a:solidFill>
                <a:latin typeface="メイリオ" panose="020B0604030504040204" pitchFamily="50" charset="-128"/>
                <a:ea typeface="メイリオ" panose="020B0604030504040204" pitchFamily="50" charset="-128"/>
              </a:rPr>
              <a:t>size:</a:t>
            </a:r>
            <a:r>
              <a:rPr lang="ja-JP" altLang="en-US" sz="1000" dirty="0">
                <a:solidFill>
                  <a:schemeClr val="tx1"/>
                </a:solidFill>
                <a:latin typeface="メイリオ" panose="020B0604030504040204" pitchFamily="50" charset="-128"/>
                <a:ea typeface="メイリオ" panose="020B0604030504040204" pitchFamily="50" charset="-128"/>
              </a:rPr>
              <a:t>サンプリング回数。指定しないと、</a:t>
            </a:r>
            <a:r>
              <a:rPr lang="en-US" altLang="ja-JP" sz="1000" dirty="0">
                <a:solidFill>
                  <a:schemeClr val="tx1"/>
                </a:solidFill>
                <a:latin typeface="メイリオ" panose="020B0604030504040204" pitchFamily="50" charset="-128"/>
                <a:ea typeface="メイリオ" panose="020B0604030504040204" pitchFamily="50" charset="-128"/>
              </a:rPr>
              <a:t>length(x)</a:t>
            </a:r>
            <a:r>
              <a:rPr lang="ja-JP" altLang="en-US" sz="1000" dirty="0">
                <a:solidFill>
                  <a:schemeClr val="tx1"/>
                </a:solidFill>
                <a:latin typeface="メイリオ" panose="020B0604030504040204" pitchFamily="50" charset="-128"/>
                <a:ea typeface="メイリオ" panose="020B0604030504040204" pitchFamily="50" charset="-128"/>
              </a:rPr>
              <a:t>回サンプリングする。</a:t>
            </a:r>
            <a:endParaRPr lang="en-US" altLang="ja-JP" sz="1000" dirty="0">
              <a:solidFill>
                <a:schemeClr val="tx1"/>
              </a:solidFill>
              <a:latin typeface="メイリオ" panose="020B0604030504040204" pitchFamily="50" charset="-128"/>
              <a:ea typeface="メイリオ" panose="020B0604030504040204" pitchFamily="50" charset="-128"/>
            </a:endParaRPr>
          </a:p>
          <a:p>
            <a:r>
              <a:rPr kumimoji="1" lang="en-US" altLang="ja-JP" sz="1000" dirty="0">
                <a:solidFill>
                  <a:schemeClr val="tx1"/>
                </a:solidFill>
                <a:latin typeface="メイリオ" panose="020B0604030504040204" pitchFamily="50" charset="-128"/>
                <a:ea typeface="メイリオ" panose="020B0604030504040204" pitchFamily="50" charset="-128"/>
              </a:rPr>
              <a:t> </a:t>
            </a:r>
            <a:r>
              <a:rPr lang="en-US" altLang="ja-JP" sz="1000" dirty="0">
                <a:solidFill>
                  <a:schemeClr val="tx1"/>
                </a:solidFill>
                <a:latin typeface="メイリオ" panose="020B0604030504040204" pitchFamily="50" charset="-128"/>
                <a:ea typeface="メイリオ" panose="020B0604030504040204" pitchFamily="50" charset="-128"/>
              </a:rPr>
              <a:t>replace:</a:t>
            </a:r>
            <a:r>
              <a:rPr lang="ja-JP" altLang="en-US" sz="1000" dirty="0">
                <a:solidFill>
                  <a:schemeClr val="tx1"/>
                </a:solidFill>
                <a:latin typeface="メイリオ" panose="020B0604030504040204" pitchFamily="50" charset="-128"/>
                <a:ea typeface="メイリオ" panose="020B0604030504040204" pitchFamily="50" charset="-128"/>
              </a:rPr>
              <a:t>同一の要素を繰り返しサンプリングするのを許容するかどうか。</a:t>
            </a:r>
            <a:endParaRPr lang="en-US" altLang="ja-JP" sz="1000" dirty="0">
              <a:solidFill>
                <a:schemeClr val="tx1"/>
              </a:solidFill>
              <a:latin typeface="メイリオ" panose="020B0604030504040204" pitchFamily="50" charset="-128"/>
              <a:ea typeface="メイリオ" panose="020B0604030504040204" pitchFamily="50" charset="-128"/>
            </a:endParaRPr>
          </a:p>
          <a:p>
            <a:r>
              <a:rPr kumimoji="1" lang="en-US" altLang="ja-JP" sz="1000" dirty="0">
                <a:solidFill>
                  <a:schemeClr val="tx1"/>
                </a:solidFill>
                <a:latin typeface="メイリオ" panose="020B0604030504040204" pitchFamily="50" charset="-128"/>
                <a:ea typeface="メイリオ" panose="020B0604030504040204" pitchFamily="50" charset="-128"/>
              </a:rPr>
              <a:t> prob:</a:t>
            </a:r>
            <a:r>
              <a:rPr kumimoji="1" lang="ja-JP" altLang="en-US" sz="1000" dirty="0">
                <a:solidFill>
                  <a:schemeClr val="tx1"/>
                </a:solidFill>
                <a:latin typeface="メイリオ" panose="020B0604030504040204" pitchFamily="50" charset="-128"/>
                <a:ea typeface="メイリオ" panose="020B0604030504040204" pitchFamily="50" charset="-128"/>
              </a:rPr>
              <a:t>サンプリングする際の重みづけを確立のベクトルで指定。合計が１でなくても可。</a:t>
            </a:r>
            <a:endParaRPr kumimoji="1" lang="en-US" altLang="ja-JP" sz="1000" dirty="0">
              <a:solidFill>
                <a:schemeClr val="tx1"/>
              </a:solidFill>
              <a:latin typeface="メイリオ" panose="020B0604030504040204" pitchFamily="50" charset="-128"/>
              <a:ea typeface="メイリオ" panose="020B0604030504040204" pitchFamily="50" charset="-128"/>
            </a:endParaRPr>
          </a:p>
        </p:txBody>
      </p:sp>
      <p:cxnSp>
        <p:nvCxnSpPr>
          <p:cNvPr id="22" name="直線矢印コネクタ 21">
            <a:extLst>
              <a:ext uri="{FF2B5EF4-FFF2-40B4-BE49-F238E27FC236}">
                <a16:creationId xmlns:a16="http://schemas.microsoft.com/office/drawing/2014/main" id="{93362CA4-F5A4-B2D5-6526-CE571E035549}"/>
              </a:ext>
            </a:extLst>
          </p:cNvPr>
          <p:cNvCxnSpPr>
            <a:cxnSpLocks/>
          </p:cNvCxnSpPr>
          <p:nvPr/>
        </p:nvCxnSpPr>
        <p:spPr>
          <a:xfrm>
            <a:off x="7505205" y="2897579"/>
            <a:ext cx="463138"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91" name="楕円 290">
            <a:extLst>
              <a:ext uri="{FF2B5EF4-FFF2-40B4-BE49-F238E27FC236}">
                <a16:creationId xmlns:a16="http://schemas.microsoft.com/office/drawing/2014/main" id="{E4FDA11A-1D1A-802A-CF0D-2C428E7208BA}"/>
              </a:ext>
            </a:extLst>
          </p:cNvPr>
          <p:cNvSpPr/>
          <p:nvPr/>
        </p:nvSpPr>
        <p:spPr>
          <a:xfrm>
            <a:off x="3351763" y="1059656"/>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ja-JP" altLang="en-US" dirty="0">
                <a:latin typeface="メイリオ" panose="020B0604030504040204" pitchFamily="50" charset="-128"/>
                <a:ea typeface="メイリオ" panose="020B0604030504040204" pitchFamily="50" charset="-128"/>
              </a:rPr>
              <a:t>１</a:t>
            </a:r>
          </a:p>
        </p:txBody>
      </p:sp>
      <p:sp>
        <p:nvSpPr>
          <p:cNvPr id="292" name="楕円 291">
            <a:extLst>
              <a:ext uri="{FF2B5EF4-FFF2-40B4-BE49-F238E27FC236}">
                <a16:creationId xmlns:a16="http://schemas.microsoft.com/office/drawing/2014/main" id="{7B34FE9E-4B70-6223-7491-6CDD0D7C7996}"/>
              </a:ext>
            </a:extLst>
          </p:cNvPr>
          <p:cNvSpPr/>
          <p:nvPr/>
        </p:nvSpPr>
        <p:spPr>
          <a:xfrm>
            <a:off x="3596007" y="3801408"/>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ja-JP" altLang="en-US" dirty="0">
                <a:latin typeface="メイリオ" panose="020B0604030504040204" pitchFamily="50" charset="-128"/>
                <a:ea typeface="メイリオ" panose="020B0604030504040204" pitchFamily="50" charset="-128"/>
              </a:rPr>
              <a:t>２</a:t>
            </a:r>
          </a:p>
        </p:txBody>
      </p:sp>
    </p:spTree>
    <p:extLst>
      <p:ext uri="{BB962C8B-B14F-4D97-AF65-F5344CB8AC3E}">
        <p14:creationId xmlns:p14="http://schemas.microsoft.com/office/powerpoint/2010/main" val="12191452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kumimoji="1" lang="en-US" altLang="ja-JP" sz="3000" b="1" dirty="0">
                <a:solidFill>
                  <a:schemeClr val="tx1">
                    <a:lumMod val="65000"/>
                    <a:lumOff val="35000"/>
                  </a:schemeClr>
                </a:solidFill>
                <a:latin typeface="メイリオ" panose="020B0604030504040204" pitchFamily="50" charset="-128"/>
                <a:ea typeface="メイリオ" panose="020B0604030504040204" pitchFamily="50" charset="-128"/>
              </a:rPr>
              <a:t>7</a:t>
            </a:r>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章　プログラム</a:t>
            </a:r>
          </a:p>
        </p:txBody>
      </p:sp>
      <p:sp>
        <p:nvSpPr>
          <p:cNvPr id="4" name="正方形/長方形 3">
            <a:extLst>
              <a:ext uri="{FF2B5EF4-FFF2-40B4-BE49-F238E27FC236}">
                <a16:creationId xmlns:a16="http://schemas.microsoft.com/office/drawing/2014/main" id="{578782C7-6070-7C3A-DAB7-3101F4C6ED5C}"/>
              </a:ext>
            </a:extLst>
          </p:cNvPr>
          <p:cNvSpPr/>
          <p:nvPr/>
        </p:nvSpPr>
        <p:spPr>
          <a:xfrm>
            <a:off x="658169" y="1098587"/>
            <a:ext cx="10540261" cy="552895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
        <p:nvSpPr>
          <p:cNvPr id="5" name="正方形/長方形 4">
            <a:extLst>
              <a:ext uri="{FF2B5EF4-FFF2-40B4-BE49-F238E27FC236}">
                <a16:creationId xmlns:a16="http://schemas.microsoft.com/office/drawing/2014/main" id="{CF0C4CB1-F083-E867-F352-7E25984AC542}"/>
              </a:ext>
            </a:extLst>
          </p:cNvPr>
          <p:cNvSpPr/>
          <p:nvPr/>
        </p:nvSpPr>
        <p:spPr>
          <a:xfrm>
            <a:off x="5598882" y="5832520"/>
            <a:ext cx="4352793" cy="651353"/>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kumimoji="1" lang="en-US" altLang="ja-JP" sz="1000" dirty="0">
                <a:solidFill>
                  <a:schemeClr val="tx1"/>
                </a:solidFill>
              </a:rPr>
              <a:t>&amp;&amp;</a:t>
            </a:r>
            <a:r>
              <a:rPr kumimoji="1" lang="ja-JP" altLang="en-US" sz="1000" dirty="0">
                <a:solidFill>
                  <a:schemeClr val="tx1"/>
                </a:solidFill>
              </a:rPr>
              <a:t>と</a:t>
            </a:r>
            <a:r>
              <a:rPr lang="en-US" altLang="ja-JP" sz="1000" dirty="0">
                <a:solidFill>
                  <a:schemeClr val="tx1"/>
                </a:solidFill>
              </a:rPr>
              <a:t>||</a:t>
            </a:r>
            <a:r>
              <a:rPr lang="ja-JP" altLang="en-US" sz="1000" dirty="0">
                <a:solidFill>
                  <a:schemeClr val="tx1"/>
                </a:solidFill>
              </a:rPr>
              <a:t>　</a:t>
            </a:r>
            <a:r>
              <a:rPr lang="en-US" altLang="ja-JP" sz="1000" dirty="0">
                <a:solidFill>
                  <a:schemeClr val="tx1"/>
                </a:solidFill>
              </a:rPr>
              <a:t>(</a:t>
            </a:r>
            <a:r>
              <a:rPr lang="ja-JP" altLang="en-US" sz="1000" dirty="0">
                <a:solidFill>
                  <a:schemeClr val="tx1"/>
                </a:solidFill>
              </a:rPr>
              <a:t>↔</a:t>
            </a:r>
            <a:r>
              <a:rPr lang="en-US" altLang="ja-JP" sz="1000" dirty="0">
                <a:solidFill>
                  <a:schemeClr val="tx1"/>
                </a:solidFill>
              </a:rPr>
              <a:t>&amp;</a:t>
            </a:r>
            <a:r>
              <a:rPr lang="ja-JP" altLang="en-US" sz="1000" dirty="0">
                <a:solidFill>
                  <a:schemeClr val="tx1"/>
                </a:solidFill>
              </a:rPr>
              <a:t>と</a:t>
            </a:r>
            <a:r>
              <a:rPr lang="en-US" altLang="ja-JP" sz="1000" dirty="0">
                <a:solidFill>
                  <a:schemeClr val="tx1"/>
                </a:solidFill>
              </a:rPr>
              <a:t>|)</a:t>
            </a:r>
          </a:p>
          <a:p>
            <a:r>
              <a:rPr lang="ja-JP" altLang="en-US" sz="1000" dirty="0">
                <a:solidFill>
                  <a:schemeClr val="tx1"/>
                </a:solidFill>
              </a:rPr>
              <a:t>左辺が</a:t>
            </a:r>
            <a:r>
              <a:rPr lang="en-US" altLang="ja-JP" sz="1000" dirty="0">
                <a:solidFill>
                  <a:schemeClr val="tx1"/>
                </a:solidFill>
              </a:rPr>
              <a:t>FALSE</a:t>
            </a:r>
            <a:r>
              <a:rPr lang="ja-JP" altLang="en-US" sz="1000" dirty="0">
                <a:solidFill>
                  <a:schemeClr val="tx1"/>
                </a:solidFill>
              </a:rPr>
              <a:t>の場合、右辺はスキップしてくれるので効率的</a:t>
            </a:r>
            <a:endParaRPr lang="en-US" altLang="ja-JP" sz="1000" dirty="0">
              <a:solidFill>
                <a:schemeClr val="tx1"/>
              </a:solidFill>
            </a:endParaRPr>
          </a:p>
          <a:p>
            <a:r>
              <a:rPr lang="ja-JP" altLang="en-US" sz="1000" dirty="0">
                <a:solidFill>
                  <a:schemeClr val="tx1"/>
                </a:solidFill>
              </a:rPr>
              <a:t>演算子の両辺に１つの論理テストがあるときのみ使用可</a:t>
            </a:r>
            <a:r>
              <a:rPr lang="en-US" altLang="ja-JP" sz="1000" dirty="0">
                <a:solidFill>
                  <a:schemeClr val="tx1"/>
                </a:solidFill>
              </a:rPr>
              <a:t>(</a:t>
            </a:r>
            <a:r>
              <a:rPr lang="ja-JP" altLang="en-US" sz="1000" dirty="0">
                <a:solidFill>
                  <a:schemeClr val="tx1"/>
                </a:solidFill>
              </a:rPr>
              <a:t>ベクトル非対応</a:t>
            </a:r>
            <a:r>
              <a:rPr lang="en-US" altLang="ja-JP" sz="1000" dirty="0">
                <a:solidFill>
                  <a:schemeClr val="tx1"/>
                </a:solidFill>
              </a:rPr>
              <a:t>)</a:t>
            </a:r>
          </a:p>
        </p:txBody>
      </p:sp>
      <p:sp>
        <p:nvSpPr>
          <p:cNvPr id="6" name="正方形/長方形 5">
            <a:extLst>
              <a:ext uri="{FF2B5EF4-FFF2-40B4-BE49-F238E27FC236}">
                <a16:creationId xmlns:a16="http://schemas.microsoft.com/office/drawing/2014/main" id="{75CE81D2-C5EE-4E63-DA6F-4D50A6E33162}"/>
              </a:ext>
            </a:extLst>
          </p:cNvPr>
          <p:cNvSpPr/>
          <p:nvPr/>
        </p:nvSpPr>
        <p:spPr>
          <a:xfrm>
            <a:off x="5598881" y="5333505"/>
            <a:ext cx="4352793" cy="405996"/>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000" dirty="0">
                <a:solidFill>
                  <a:schemeClr val="tx1"/>
                </a:solidFill>
                <a:latin typeface="メイリオ" panose="020B0604030504040204" pitchFamily="50" charset="-128"/>
                <a:ea typeface="メイリオ" panose="020B0604030504040204" pitchFamily="50" charset="-128"/>
              </a:rPr>
              <a:t>u</a:t>
            </a:r>
            <a:r>
              <a:rPr kumimoji="1" lang="en-US" altLang="ja-JP" sz="1000" dirty="0">
                <a:solidFill>
                  <a:schemeClr val="tx1"/>
                </a:solidFill>
                <a:latin typeface="メイリオ" panose="020B0604030504040204" pitchFamily="50" charset="-128"/>
                <a:ea typeface="メイリオ" panose="020B0604030504040204" pitchFamily="50" charset="-128"/>
              </a:rPr>
              <a:t>nique</a:t>
            </a:r>
            <a:r>
              <a:rPr kumimoji="1" lang="ja-JP" altLang="en-US" sz="1000" dirty="0">
                <a:solidFill>
                  <a:schemeClr val="tx1"/>
                </a:solidFill>
                <a:latin typeface="メイリオ" panose="020B0604030504040204" pitchFamily="50" charset="-128"/>
                <a:ea typeface="メイリオ" panose="020B0604030504040204" pitchFamily="50" charset="-128"/>
              </a:rPr>
              <a:t>関数</a:t>
            </a:r>
            <a:endParaRPr kumimoji="1" lang="en-US" altLang="ja-JP" sz="1000" dirty="0">
              <a:solidFill>
                <a:schemeClr val="tx1"/>
              </a:solidFill>
              <a:latin typeface="メイリオ" panose="020B0604030504040204" pitchFamily="50" charset="-128"/>
              <a:ea typeface="メイリオ" panose="020B0604030504040204" pitchFamily="50" charset="-128"/>
            </a:endParaRPr>
          </a:p>
          <a:p>
            <a:r>
              <a:rPr lang="en-US" altLang="ja-JP" sz="1000" dirty="0">
                <a:solidFill>
                  <a:schemeClr val="tx1"/>
                </a:solidFill>
                <a:latin typeface="メイリオ" panose="020B0604030504040204" pitchFamily="50" charset="-128"/>
                <a:ea typeface="メイリオ" panose="020B0604030504040204" pitchFamily="50" charset="-128"/>
              </a:rPr>
              <a:t>Vector</a:t>
            </a:r>
            <a:r>
              <a:rPr lang="ja-JP" altLang="en-US" sz="1000" dirty="0">
                <a:solidFill>
                  <a:schemeClr val="tx1"/>
                </a:solidFill>
                <a:latin typeface="メイリオ" panose="020B0604030504040204" pitchFamily="50" charset="-128"/>
                <a:ea typeface="メイリオ" panose="020B0604030504040204" pitchFamily="50" charset="-128"/>
              </a:rPr>
              <a:t>に含まれる異なる項をまとめたベクトル</a:t>
            </a:r>
            <a:endParaRPr lang="en-US" altLang="ja-JP" sz="1000" dirty="0">
              <a:solidFill>
                <a:schemeClr val="tx1"/>
              </a:solidFill>
              <a:latin typeface="メイリオ" panose="020B0604030504040204" pitchFamily="50" charset="-128"/>
              <a:ea typeface="メイリオ" panose="020B0604030504040204" pitchFamily="50" charset="-128"/>
            </a:endParaRPr>
          </a:p>
        </p:txBody>
      </p:sp>
      <p:sp>
        <p:nvSpPr>
          <p:cNvPr id="3" name="字幕 2">
            <a:extLst>
              <a:ext uri="{FF2B5EF4-FFF2-40B4-BE49-F238E27FC236}">
                <a16:creationId xmlns:a16="http://schemas.microsoft.com/office/drawing/2014/main" id="{EF422FEA-2F34-70ED-56A9-01A65A2AD142}"/>
              </a:ext>
            </a:extLst>
          </p:cNvPr>
          <p:cNvSpPr>
            <a:spLocks noGrp="1"/>
          </p:cNvSpPr>
          <p:nvPr>
            <p:ph type="subTitle" idx="1"/>
          </p:nvPr>
        </p:nvSpPr>
        <p:spPr>
          <a:xfrm>
            <a:off x="682560" y="1143635"/>
            <a:ext cx="9391483" cy="5446283"/>
          </a:xfrm>
        </p:spPr>
        <p:txBody>
          <a:bodyPr>
            <a:normAutofit/>
          </a:bodyPr>
          <a:lstStyle/>
          <a:p>
            <a:pPr algn="l"/>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＃＃点数を計算する（下書き）</a:t>
            </a:r>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実行内容：条件文で点数計算方法を場合分けする</a:t>
            </a:r>
            <a:endParaRPr lang="en-US" altLang="ja-JP" sz="1200" dirty="0">
              <a:latin typeface="メイリオ" panose="020B0604030504040204" pitchFamily="50" charset="-128"/>
              <a:ea typeface="メイリオ" panose="020B0604030504040204" pitchFamily="50" charset="-128"/>
            </a:endParaRPr>
          </a:p>
          <a:p>
            <a:pPr algn="l"/>
            <a:endParaRPr kumimoji="1"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kumimoji="1"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kumimoji="1" lang="en-US" altLang="ja-JP" sz="1200" dirty="0">
              <a:latin typeface="メイリオ" panose="020B0604030504040204" pitchFamily="50" charset="-128"/>
              <a:ea typeface="メイリオ" panose="020B0604030504040204" pitchFamily="50" charset="-128"/>
            </a:endParaRPr>
          </a:p>
          <a:p>
            <a:pPr algn="l"/>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場合分けの条件１</a:t>
            </a:r>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変数名：</a:t>
            </a:r>
            <a:r>
              <a:rPr lang="en-US" altLang="ja-JP" sz="1200" dirty="0">
                <a:latin typeface="メイリオ" panose="020B0604030504040204" pitchFamily="50" charset="-128"/>
                <a:ea typeface="メイリオ" panose="020B0604030504040204" pitchFamily="50" charset="-128"/>
              </a:rPr>
              <a:t>same</a:t>
            </a:r>
            <a:r>
              <a:rPr lang="ja-JP" altLang="en-US" sz="1200" dirty="0">
                <a:latin typeface="メイリオ" panose="020B0604030504040204" pitchFamily="50" charset="-128"/>
                <a:ea typeface="メイリオ" panose="020B0604030504040204" pitchFamily="50" charset="-128"/>
              </a:rPr>
              <a:t>　型</a:t>
            </a:r>
            <a:r>
              <a:rPr lang="en-US" altLang="ja-JP" sz="1200" dirty="0">
                <a:latin typeface="メイリオ" panose="020B0604030504040204" pitchFamily="50" charset="-128"/>
                <a:ea typeface="メイリオ" panose="020B0604030504040204" pitchFamily="50" charset="-128"/>
              </a:rPr>
              <a:t>:</a:t>
            </a:r>
            <a:r>
              <a:rPr lang="en-US" altLang="ja-JP" sz="1200" dirty="0" err="1">
                <a:latin typeface="メイリオ" panose="020B0604030504040204" pitchFamily="50" charset="-128"/>
                <a:ea typeface="メイリオ" panose="020B0604030504040204" pitchFamily="50" charset="-128"/>
              </a:rPr>
              <a:t>boolean</a:t>
            </a:r>
            <a:r>
              <a:rPr lang="en-US" altLang="ja-JP" sz="1200" dirty="0">
                <a:latin typeface="メイリオ" panose="020B0604030504040204" pitchFamily="50" charset="-128"/>
                <a:ea typeface="メイリオ" panose="020B0604030504040204" pitchFamily="50" charset="-128"/>
              </a:rPr>
              <a:t> </a:t>
            </a:r>
          </a:p>
          <a:p>
            <a:pPr algn="l"/>
            <a:r>
              <a:rPr lang="ja-JP" altLang="en-US" sz="1200" dirty="0">
                <a:latin typeface="メイリオ" panose="020B0604030504040204" pitchFamily="50" charset="-128"/>
                <a:ea typeface="メイリオ" panose="020B0604030504040204" pitchFamily="50" charset="-128"/>
              </a:rPr>
              <a:t>条件内容：</a:t>
            </a:r>
            <a:r>
              <a:rPr lang="en-US" altLang="ja-JP" sz="1200" dirty="0">
                <a:latin typeface="メイリオ" panose="020B0604030504040204" pitchFamily="50" charset="-128"/>
                <a:ea typeface="メイリオ" panose="020B0604030504040204" pitchFamily="50" charset="-128"/>
              </a:rPr>
              <a:t>symbols</a:t>
            </a:r>
            <a:r>
              <a:rPr lang="ja-JP" altLang="en-US" sz="1200" dirty="0">
                <a:latin typeface="メイリオ" panose="020B0604030504040204" pitchFamily="50" charset="-128"/>
                <a:ea typeface="メイリオ" panose="020B0604030504040204" pitchFamily="50" charset="-128"/>
              </a:rPr>
              <a:t>の中身がすべて同じである</a:t>
            </a:r>
            <a:endParaRPr kumimoji="1" lang="en-US" altLang="ja-JP" sz="1200" dirty="0">
              <a:latin typeface="メイリオ" panose="020B0604030504040204" pitchFamily="50" charset="-128"/>
              <a:ea typeface="メイリオ" panose="020B0604030504040204" pitchFamily="50" charset="-128"/>
            </a:endParaRPr>
          </a:p>
          <a:p>
            <a:pPr algn="l"/>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endParaRPr>
          </a:p>
        </p:txBody>
      </p:sp>
      <p:pic>
        <p:nvPicPr>
          <p:cNvPr id="14" name="図 13">
            <a:extLst>
              <a:ext uri="{FF2B5EF4-FFF2-40B4-BE49-F238E27FC236}">
                <a16:creationId xmlns:a16="http://schemas.microsoft.com/office/drawing/2014/main" id="{548069AB-69A2-19D5-CEF3-05EF75ED7AA8}"/>
              </a:ext>
            </a:extLst>
          </p:cNvPr>
          <p:cNvPicPr>
            <a:picLocks noChangeAspect="1"/>
          </p:cNvPicPr>
          <p:nvPr/>
        </p:nvPicPr>
        <p:blipFill>
          <a:blip r:embed="rId2"/>
          <a:stretch>
            <a:fillRect/>
          </a:stretch>
        </p:blipFill>
        <p:spPr>
          <a:xfrm>
            <a:off x="854246" y="5098993"/>
            <a:ext cx="3991532" cy="1467055"/>
          </a:xfrm>
          <a:prstGeom prst="rect">
            <a:avLst/>
          </a:prstGeom>
          <a:ln>
            <a:solidFill>
              <a:schemeClr val="bg2">
                <a:lumMod val="90000"/>
              </a:schemeClr>
            </a:solidFill>
          </a:ln>
        </p:spPr>
      </p:pic>
      <p:pic>
        <p:nvPicPr>
          <p:cNvPr id="16" name="図 15">
            <a:extLst>
              <a:ext uri="{FF2B5EF4-FFF2-40B4-BE49-F238E27FC236}">
                <a16:creationId xmlns:a16="http://schemas.microsoft.com/office/drawing/2014/main" id="{655046BF-6659-3E35-9CB2-048FE3BB5D64}"/>
              </a:ext>
            </a:extLst>
          </p:cNvPr>
          <p:cNvPicPr>
            <a:picLocks noChangeAspect="1"/>
          </p:cNvPicPr>
          <p:nvPr/>
        </p:nvPicPr>
        <p:blipFill>
          <a:blip r:embed="rId3"/>
          <a:stretch>
            <a:fillRect/>
          </a:stretch>
        </p:blipFill>
        <p:spPr>
          <a:xfrm>
            <a:off x="5630117" y="3830731"/>
            <a:ext cx="3019846" cy="1343212"/>
          </a:xfrm>
          <a:prstGeom prst="rect">
            <a:avLst/>
          </a:prstGeom>
          <a:ln>
            <a:solidFill>
              <a:schemeClr val="bg2">
                <a:lumMod val="90000"/>
              </a:schemeClr>
            </a:solidFill>
          </a:ln>
        </p:spPr>
      </p:pic>
      <p:pic>
        <p:nvPicPr>
          <p:cNvPr id="9" name="図 8">
            <a:extLst>
              <a:ext uri="{FF2B5EF4-FFF2-40B4-BE49-F238E27FC236}">
                <a16:creationId xmlns:a16="http://schemas.microsoft.com/office/drawing/2014/main" id="{92AB8497-24E1-1242-00CD-AA34D5F7D80E}"/>
              </a:ext>
            </a:extLst>
          </p:cNvPr>
          <p:cNvPicPr>
            <a:picLocks noChangeAspect="1"/>
          </p:cNvPicPr>
          <p:nvPr/>
        </p:nvPicPr>
        <p:blipFill>
          <a:blip r:embed="rId4"/>
          <a:stretch>
            <a:fillRect/>
          </a:stretch>
        </p:blipFill>
        <p:spPr>
          <a:xfrm>
            <a:off x="854246" y="1836878"/>
            <a:ext cx="2753109" cy="2038635"/>
          </a:xfrm>
          <a:prstGeom prst="rect">
            <a:avLst/>
          </a:prstGeom>
          <a:ln>
            <a:solidFill>
              <a:schemeClr val="bg2">
                <a:lumMod val="90000"/>
              </a:schemeClr>
            </a:solidFill>
          </a:ln>
        </p:spPr>
      </p:pic>
      <p:sp>
        <p:nvSpPr>
          <p:cNvPr id="11" name="正方形/長方形 10">
            <a:extLst>
              <a:ext uri="{FF2B5EF4-FFF2-40B4-BE49-F238E27FC236}">
                <a16:creationId xmlns:a16="http://schemas.microsoft.com/office/drawing/2014/main" id="{DDA33241-75A9-C7A7-5FC3-7DABF8112A82}"/>
              </a:ext>
            </a:extLst>
          </p:cNvPr>
          <p:cNvSpPr/>
          <p:nvPr/>
        </p:nvSpPr>
        <p:spPr>
          <a:xfrm>
            <a:off x="5630117" y="1760651"/>
            <a:ext cx="3215922" cy="189484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000" dirty="0">
                <a:solidFill>
                  <a:schemeClr val="tx1"/>
                </a:solidFill>
                <a:latin typeface="メイリオ" panose="020B0604030504040204" pitchFamily="50" charset="-128"/>
                <a:ea typeface="メイリオ" panose="020B0604030504040204" pitchFamily="50" charset="-128"/>
              </a:rPr>
              <a:t>else</a:t>
            </a:r>
            <a:r>
              <a:rPr lang="ja-JP" altLang="en-US" sz="1000" dirty="0">
                <a:solidFill>
                  <a:schemeClr val="tx1"/>
                </a:solidFill>
                <a:latin typeface="メイリオ" panose="020B0604030504040204" pitchFamily="50" charset="-128"/>
                <a:ea typeface="メイリオ" panose="020B0604030504040204" pitchFamily="50" charset="-128"/>
              </a:rPr>
              <a:t>文について</a:t>
            </a:r>
            <a:endParaRPr lang="en-US" altLang="ja-JP" sz="1000" dirty="0">
              <a:solidFill>
                <a:schemeClr val="tx1"/>
              </a:solidFill>
              <a:latin typeface="メイリオ" panose="020B0604030504040204" pitchFamily="50" charset="-128"/>
              <a:ea typeface="メイリオ" panose="020B0604030504040204" pitchFamily="50" charset="-128"/>
            </a:endParaRPr>
          </a:p>
          <a:p>
            <a:endParaRPr lang="en-US" altLang="ja-JP" sz="1000" dirty="0">
              <a:solidFill>
                <a:schemeClr val="tx1"/>
              </a:solidFill>
              <a:latin typeface="メイリオ" panose="020B0604030504040204" pitchFamily="50" charset="-128"/>
              <a:ea typeface="メイリオ" panose="020B0604030504040204" pitchFamily="50" charset="-128"/>
            </a:endParaRPr>
          </a:p>
          <a:p>
            <a:r>
              <a:rPr lang="en-US" altLang="ja-JP" sz="1000" dirty="0">
                <a:solidFill>
                  <a:schemeClr val="tx1"/>
                </a:solidFill>
                <a:latin typeface="メイリオ" panose="020B0604030504040204" pitchFamily="50" charset="-128"/>
                <a:ea typeface="メイリオ" panose="020B0604030504040204" pitchFamily="50" charset="-128"/>
              </a:rPr>
              <a:t>else</a:t>
            </a:r>
            <a:r>
              <a:rPr lang="ja-JP" altLang="en-US" sz="1000" dirty="0">
                <a:solidFill>
                  <a:schemeClr val="tx1"/>
                </a:solidFill>
                <a:latin typeface="メイリオ" panose="020B0604030504040204" pitchFamily="50" charset="-128"/>
                <a:ea typeface="メイリオ" panose="020B0604030504040204" pitchFamily="50" charset="-128"/>
              </a:rPr>
              <a:t>なし</a:t>
            </a:r>
            <a:r>
              <a:rPr lang="en-US" altLang="ja-JP" sz="1000" dirty="0">
                <a:solidFill>
                  <a:schemeClr val="tx1"/>
                </a:solidFill>
                <a:latin typeface="メイリオ" panose="020B0604030504040204" pitchFamily="50" charset="-128"/>
                <a:ea typeface="メイリオ" panose="020B0604030504040204" pitchFamily="50" charset="-128"/>
              </a:rPr>
              <a:t>		</a:t>
            </a:r>
          </a:p>
          <a:p>
            <a:r>
              <a:rPr kumimoji="1" lang="en-US" altLang="ja-JP" sz="1000" dirty="0">
                <a:solidFill>
                  <a:schemeClr val="tx1"/>
                </a:solidFill>
                <a:latin typeface="メイリオ" panose="020B0604030504040204" pitchFamily="50" charset="-128"/>
                <a:ea typeface="メイリオ" panose="020B0604030504040204" pitchFamily="50" charset="-128"/>
              </a:rPr>
              <a:t>If(x=3) A()	</a:t>
            </a:r>
            <a:r>
              <a:rPr kumimoji="1" lang="ja-JP" altLang="en-US" sz="1000" dirty="0">
                <a:solidFill>
                  <a:schemeClr val="tx1"/>
                </a:solidFill>
                <a:latin typeface="メイリオ" panose="020B0604030504040204" pitchFamily="50" charset="-128"/>
                <a:ea typeface="メイリオ" panose="020B0604030504040204" pitchFamily="50" charset="-128"/>
              </a:rPr>
              <a:t>　　　</a:t>
            </a:r>
            <a:r>
              <a:rPr lang="en-US" altLang="ja-JP" sz="1000" dirty="0">
                <a:solidFill>
                  <a:schemeClr val="tx1"/>
                </a:solidFill>
                <a:latin typeface="メイリオ" panose="020B0604030504040204" pitchFamily="50" charset="-128"/>
                <a:ea typeface="メイリオ" panose="020B0604030504040204" pitchFamily="50" charset="-128"/>
              </a:rPr>
              <a:t>x=3</a:t>
            </a:r>
            <a:r>
              <a:rPr lang="ja-JP" altLang="en-US" sz="1000" dirty="0">
                <a:solidFill>
                  <a:schemeClr val="tx1"/>
                </a:solidFill>
                <a:latin typeface="メイリオ" panose="020B0604030504040204" pitchFamily="50" charset="-128"/>
                <a:ea typeface="メイリオ" panose="020B0604030504040204" pitchFamily="50" charset="-128"/>
              </a:rPr>
              <a:t>のとき、</a:t>
            </a:r>
            <a:endParaRPr kumimoji="1" lang="en-US" altLang="ja-JP" sz="1000" dirty="0">
              <a:solidFill>
                <a:schemeClr val="tx1"/>
              </a:solidFill>
              <a:latin typeface="メイリオ" panose="020B0604030504040204" pitchFamily="50" charset="-128"/>
              <a:ea typeface="メイリオ" panose="020B0604030504040204" pitchFamily="50" charset="-128"/>
            </a:endParaRPr>
          </a:p>
          <a:p>
            <a:r>
              <a:rPr lang="en-US" altLang="ja-JP" sz="1000" dirty="0">
                <a:solidFill>
                  <a:schemeClr val="tx1"/>
                </a:solidFill>
                <a:latin typeface="メイリオ" panose="020B0604030504040204" pitchFamily="50" charset="-128"/>
                <a:ea typeface="メイリオ" panose="020B0604030504040204" pitchFamily="50" charset="-128"/>
              </a:rPr>
              <a:t>If(x=5) B()	</a:t>
            </a:r>
            <a:r>
              <a:rPr lang="ja-JP" altLang="en-US" sz="1000" dirty="0">
                <a:solidFill>
                  <a:schemeClr val="tx1"/>
                </a:solidFill>
                <a:latin typeface="メイリオ" panose="020B0604030504040204" pitchFamily="50" charset="-128"/>
                <a:ea typeface="メイリオ" panose="020B0604030504040204" pitchFamily="50" charset="-128"/>
              </a:rPr>
              <a:t>　　　</a:t>
            </a:r>
            <a:r>
              <a:rPr kumimoji="1" lang="en-US" altLang="ja-JP" sz="1000" dirty="0">
                <a:solidFill>
                  <a:schemeClr val="tx1"/>
                </a:solidFill>
                <a:latin typeface="メイリオ" panose="020B0604030504040204" pitchFamily="50" charset="-128"/>
                <a:ea typeface="メイリオ" panose="020B0604030504040204" pitchFamily="50" charset="-128"/>
              </a:rPr>
              <a:t>2</a:t>
            </a:r>
            <a:r>
              <a:rPr kumimoji="1" lang="ja-JP" altLang="en-US" sz="1000" dirty="0">
                <a:solidFill>
                  <a:schemeClr val="tx1"/>
                </a:solidFill>
                <a:latin typeface="メイリオ" panose="020B0604030504040204" pitchFamily="50" charset="-128"/>
                <a:ea typeface="メイリオ" panose="020B0604030504040204" pitchFamily="50" charset="-128"/>
              </a:rPr>
              <a:t>行目の</a:t>
            </a:r>
            <a:r>
              <a:rPr kumimoji="1" lang="en-US" altLang="ja-JP" sz="1000" dirty="0">
                <a:solidFill>
                  <a:schemeClr val="tx1"/>
                </a:solidFill>
                <a:latin typeface="メイリオ" panose="020B0604030504040204" pitchFamily="50" charset="-128"/>
                <a:ea typeface="メイリオ" panose="020B0604030504040204" pitchFamily="50" charset="-128"/>
              </a:rPr>
              <a:t>if</a:t>
            </a:r>
            <a:r>
              <a:rPr kumimoji="1" lang="ja-JP" altLang="en-US" sz="1000" dirty="0">
                <a:solidFill>
                  <a:schemeClr val="tx1"/>
                </a:solidFill>
                <a:latin typeface="メイリオ" panose="020B0604030504040204" pitchFamily="50" charset="-128"/>
                <a:ea typeface="メイリオ" panose="020B0604030504040204" pitchFamily="50" charset="-128"/>
              </a:rPr>
              <a:t>文もチェックする</a:t>
            </a:r>
            <a:endParaRPr lang="en-US" altLang="ja-JP" sz="1000" dirty="0">
              <a:solidFill>
                <a:schemeClr val="tx1"/>
              </a:solidFill>
              <a:latin typeface="メイリオ" panose="020B0604030504040204" pitchFamily="50" charset="-128"/>
              <a:ea typeface="メイリオ" panose="020B0604030504040204" pitchFamily="50" charset="-128"/>
            </a:endParaRPr>
          </a:p>
          <a:p>
            <a:endParaRPr kumimoji="1" lang="en-US" altLang="ja-JP" sz="1000" dirty="0">
              <a:solidFill>
                <a:schemeClr val="tx1"/>
              </a:solidFill>
              <a:latin typeface="メイリオ" panose="020B0604030504040204" pitchFamily="50" charset="-128"/>
              <a:ea typeface="メイリオ" panose="020B0604030504040204" pitchFamily="50" charset="-128"/>
            </a:endParaRPr>
          </a:p>
          <a:p>
            <a:r>
              <a:rPr lang="en-US" altLang="ja-JP" sz="1000" dirty="0">
                <a:solidFill>
                  <a:schemeClr val="tx1"/>
                </a:solidFill>
                <a:latin typeface="メイリオ" panose="020B0604030504040204" pitchFamily="50" charset="-128"/>
                <a:ea typeface="メイリオ" panose="020B0604030504040204" pitchFamily="50" charset="-128"/>
              </a:rPr>
              <a:t>else</a:t>
            </a:r>
            <a:r>
              <a:rPr lang="ja-JP" altLang="en-US" sz="1000" dirty="0">
                <a:solidFill>
                  <a:schemeClr val="tx1"/>
                </a:solidFill>
                <a:latin typeface="メイリオ" panose="020B0604030504040204" pitchFamily="50" charset="-128"/>
                <a:ea typeface="メイリオ" panose="020B0604030504040204" pitchFamily="50" charset="-128"/>
              </a:rPr>
              <a:t>あり</a:t>
            </a:r>
            <a:r>
              <a:rPr lang="en-US" altLang="ja-JP" sz="1000" dirty="0">
                <a:solidFill>
                  <a:schemeClr val="tx1"/>
                </a:solidFill>
                <a:latin typeface="メイリオ" panose="020B0604030504040204" pitchFamily="50" charset="-128"/>
                <a:ea typeface="メイリオ" panose="020B0604030504040204" pitchFamily="50" charset="-128"/>
              </a:rPr>
              <a:t>		</a:t>
            </a:r>
          </a:p>
          <a:p>
            <a:r>
              <a:rPr kumimoji="1" lang="en-US" altLang="ja-JP" sz="1000" dirty="0">
                <a:solidFill>
                  <a:schemeClr val="tx1"/>
                </a:solidFill>
                <a:latin typeface="メイリオ" panose="020B0604030504040204" pitchFamily="50" charset="-128"/>
                <a:ea typeface="メイリオ" panose="020B0604030504040204" pitchFamily="50" charset="-128"/>
              </a:rPr>
              <a:t>If(x=3){	</a:t>
            </a:r>
            <a:r>
              <a:rPr kumimoji="1" lang="ja-JP" altLang="en-US" sz="1000" dirty="0">
                <a:solidFill>
                  <a:schemeClr val="tx1"/>
                </a:solidFill>
                <a:latin typeface="メイリオ" panose="020B0604030504040204" pitchFamily="50" charset="-128"/>
                <a:ea typeface="メイリオ" panose="020B0604030504040204" pitchFamily="50" charset="-128"/>
              </a:rPr>
              <a:t>　　　</a:t>
            </a:r>
            <a:r>
              <a:rPr lang="en-US" altLang="ja-JP" sz="1000" dirty="0">
                <a:solidFill>
                  <a:schemeClr val="tx1"/>
                </a:solidFill>
                <a:latin typeface="メイリオ" panose="020B0604030504040204" pitchFamily="50" charset="-128"/>
                <a:ea typeface="メイリオ" panose="020B0604030504040204" pitchFamily="50" charset="-128"/>
              </a:rPr>
              <a:t>x=3</a:t>
            </a:r>
            <a:r>
              <a:rPr lang="ja-JP" altLang="en-US" sz="1000" dirty="0">
                <a:solidFill>
                  <a:schemeClr val="tx1"/>
                </a:solidFill>
                <a:latin typeface="メイリオ" panose="020B0604030504040204" pitchFamily="50" charset="-128"/>
                <a:ea typeface="メイリオ" panose="020B0604030504040204" pitchFamily="50" charset="-128"/>
              </a:rPr>
              <a:t>のとき、</a:t>
            </a:r>
            <a:endParaRPr kumimoji="1" lang="en-US" altLang="ja-JP" sz="1000" dirty="0">
              <a:solidFill>
                <a:schemeClr val="tx1"/>
              </a:solidFill>
              <a:latin typeface="メイリオ" panose="020B0604030504040204" pitchFamily="50" charset="-128"/>
              <a:ea typeface="メイリオ" panose="020B0604030504040204" pitchFamily="50" charset="-128"/>
            </a:endParaRPr>
          </a:p>
          <a:p>
            <a:r>
              <a:rPr lang="ja-JP" altLang="en-US" sz="1000" dirty="0">
                <a:solidFill>
                  <a:schemeClr val="tx1"/>
                </a:solidFill>
                <a:latin typeface="メイリオ" panose="020B0604030504040204" pitchFamily="50" charset="-128"/>
                <a:ea typeface="メイリオ" panose="020B0604030504040204" pitchFamily="50" charset="-128"/>
              </a:rPr>
              <a:t>　</a:t>
            </a:r>
            <a:r>
              <a:rPr lang="en-US" altLang="ja-JP" sz="1000" dirty="0">
                <a:solidFill>
                  <a:schemeClr val="tx1"/>
                </a:solidFill>
                <a:latin typeface="メイリオ" panose="020B0604030504040204" pitchFamily="50" charset="-128"/>
                <a:ea typeface="メイリオ" panose="020B0604030504040204" pitchFamily="50" charset="-128"/>
              </a:rPr>
              <a:t>A()	</a:t>
            </a:r>
            <a:r>
              <a:rPr lang="ja-JP" altLang="en-US" sz="1000" dirty="0">
                <a:solidFill>
                  <a:schemeClr val="tx1"/>
                </a:solidFill>
                <a:latin typeface="メイリオ" panose="020B0604030504040204" pitchFamily="50" charset="-128"/>
                <a:ea typeface="メイリオ" panose="020B0604030504040204" pitchFamily="50" charset="-128"/>
              </a:rPr>
              <a:t>　　　</a:t>
            </a:r>
            <a:r>
              <a:rPr lang="en-US" altLang="ja-JP" sz="1000" dirty="0">
                <a:solidFill>
                  <a:schemeClr val="tx1"/>
                </a:solidFill>
                <a:latin typeface="メイリオ" panose="020B0604030504040204" pitchFamily="50" charset="-128"/>
                <a:ea typeface="メイリオ" panose="020B0604030504040204" pitchFamily="50" charset="-128"/>
              </a:rPr>
              <a:t> 3</a:t>
            </a:r>
            <a:r>
              <a:rPr lang="ja-JP" altLang="en-US" sz="1000" dirty="0">
                <a:solidFill>
                  <a:schemeClr val="tx1"/>
                </a:solidFill>
                <a:latin typeface="メイリオ" panose="020B0604030504040204" pitchFamily="50" charset="-128"/>
                <a:ea typeface="メイリオ" panose="020B0604030504040204" pitchFamily="50" charset="-128"/>
              </a:rPr>
              <a:t>行目の</a:t>
            </a:r>
            <a:r>
              <a:rPr lang="en-US" altLang="ja-JP" sz="1000" dirty="0">
                <a:solidFill>
                  <a:schemeClr val="tx1"/>
                </a:solidFill>
                <a:latin typeface="メイリオ" panose="020B0604030504040204" pitchFamily="50" charset="-128"/>
                <a:ea typeface="メイリオ" panose="020B0604030504040204" pitchFamily="50" charset="-128"/>
              </a:rPr>
              <a:t>if</a:t>
            </a:r>
            <a:r>
              <a:rPr lang="ja-JP" altLang="en-US" sz="1000" dirty="0">
                <a:solidFill>
                  <a:schemeClr val="tx1"/>
                </a:solidFill>
                <a:latin typeface="メイリオ" panose="020B0604030504040204" pitchFamily="50" charset="-128"/>
                <a:ea typeface="メイリオ" panose="020B0604030504040204" pitchFamily="50" charset="-128"/>
              </a:rPr>
              <a:t>文はスキップする</a:t>
            </a:r>
            <a:endParaRPr lang="en-US" altLang="ja-JP" sz="1000" dirty="0">
              <a:solidFill>
                <a:schemeClr val="tx1"/>
              </a:solidFill>
              <a:latin typeface="メイリオ" panose="020B0604030504040204" pitchFamily="50" charset="-128"/>
              <a:ea typeface="メイリオ" panose="020B0604030504040204" pitchFamily="50" charset="-128"/>
            </a:endParaRPr>
          </a:p>
          <a:p>
            <a:r>
              <a:rPr lang="en-US" altLang="ja-JP" sz="1000" dirty="0">
                <a:solidFill>
                  <a:schemeClr val="tx1"/>
                </a:solidFill>
                <a:latin typeface="メイリオ" panose="020B0604030504040204" pitchFamily="50" charset="-128"/>
                <a:ea typeface="メイリオ" panose="020B0604030504040204" pitchFamily="50" charset="-128"/>
              </a:rPr>
              <a:t>}else if(x=5){</a:t>
            </a:r>
          </a:p>
          <a:p>
            <a:r>
              <a:rPr lang="ja-JP" altLang="en-US" sz="1000" dirty="0">
                <a:solidFill>
                  <a:schemeClr val="tx1"/>
                </a:solidFill>
                <a:latin typeface="メイリオ" panose="020B0604030504040204" pitchFamily="50" charset="-128"/>
                <a:ea typeface="メイリオ" panose="020B0604030504040204" pitchFamily="50" charset="-128"/>
              </a:rPr>
              <a:t>　</a:t>
            </a:r>
            <a:r>
              <a:rPr lang="en-US" altLang="ja-JP" sz="1000" dirty="0">
                <a:solidFill>
                  <a:schemeClr val="tx1"/>
                </a:solidFill>
                <a:latin typeface="メイリオ" panose="020B0604030504040204" pitchFamily="50" charset="-128"/>
                <a:ea typeface="メイリオ" panose="020B0604030504040204" pitchFamily="50" charset="-128"/>
              </a:rPr>
              <a:t>B()</a:t>
            </a:r>
          </a:p>
          <a:p>
            <a:r>
              <a:rPr kumimoji="1" lang="en-US" altLang="ja-JP" sz="1000" dirty="0">
                <a:solidFill>
                  <a:schemeClr val="tx1"/>
                </a:solidFill>
                <a:latin typeface="メイリオ" panose="020B0604030504040204" pitchFamily="50" charset="-128"/>
                <a:ea typeface="メイリオ" panose="020B0604030504040204" pitchFamily="50" charset="-128"/>
              </a:rPr>
              <a:t>}</a:t>
            </a:r>
          </a:p>
        </p:txBody>
      </p:sp>
      <p:cxnSp>
        <p:nvCxnSpPr>
          <p:cNvPr id="13" name="直線矢印コネクタ 12">
            <a:extLst>
              <a:ext uri="{FF2B5EF4-FFF2-40B4-BE49-F238E27FC236}">
                <a16:creationId xmlns:a16="http://schemas.microsoft.com/office/drawing/2014/main" id="{74FF8975-518B-E7D8-023D-CCCCAEBC6F95}"/>
              </a:ext>
            </a:extLst>
          </p:cNvPr>
          <p:cNvCxnSpPr>
            <a:cxnSpLocks/>
          </p:cNvCxnSpPr>
          <p:nvPr/>
        </p:nvCxnSpPr>
        <p:spPr>
          <a:xfrm flipV="1">
            <a:off x="4925769" y="4885237"/>
            <a:ext cx="593121" cy="213756"/>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 name="楕円 6">
            <a:extLst>
              <a:ext uri="{FF2B5EF4-FFF2-40B4-BE49-F238E27FC236}">
                <a16:creationId xmlns:a16="http://schemas.microsoft.com/office/drawing/2014/main" id="{4EC35FEC-3C75-B0EF-9DC2-6F4B8ED68DFA}"/>
              </a:ext>
            </a:extLst>
          </p:cNvPr>
          <p:cNvSpPr/>
          <p:nvPr/>
        </p:nvSpPr>
        <p:spPr>
          <a:xfrm>
            <a:off x="4224008" y="1143635"/>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ja-JP" altLang="en-US" dirty="0">
                <a:latin typeface="メイリオ" panose="020B0604030504040204" pitchFamily="50" charset="-128"/>
                <a:ea typeface="メイリオ" panose="020B0604030504040204" pitchFamily="50" charset="-128"/>
              </a:rPr>
              <a:t>３</a:t>
            </a:r>
          </a:p>
        </p:txBody>
      </p:sp>
      <p:sp>
        <p:nvSpPr>
          <p:cNvPr id="8" name="楕円 7">
            <a:extLst>
              <a:ext uri="{FF2B5EF4-FFF2-40B4-BE49-F238E27FC236}">
                <a16:creationId xmlns:a16="http://schemas.microsoft.com/office/drawing/2014/main" id="{A705F4AE-F440-E18C-0059-4ED176537C16}"/>
              </a:ext>
            </a:extLst>
          </p:cNvPr>
          <p:cNvSpPr/>
          <p:nvPr/>
        </p:nvSpPr>
        <p:spPr>
          <a:xfrm>
            <a:off x="3363111" y="4215289"/>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lang="ja-JP" altLang="en-US" dirty="0">
                <a:latin typeface="メイリオ" panose="020B0604030504040204" pitchFamily="50" charset="-128"/>
                <a:ea typeface="メイリオ" panose="020B0604030504040204" pitchFamily="50" charset="-128"/>
              </a:rPr>
              <a:t>４</a:t>
            </a:r>
            <a:endParaRPr kumimoji="1"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9455013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kumimoji="1" lang="en-US" altLang="ja-JP" sz="3000" b="1" dirty="0">
                <a:solidFill>
                  <a:schemeClr val="tx1">
                    <a:lumMod val="65000"/>
                    <a:lumOff val="35000"/>
                  </a:schemeClr>
                </a:solidFill>
                <a:latin typeface="メイリオ" panose="020B0604030504040204" pitchFamily="50" charset="-128"/>
                <a:ea typeface="メイリオ" panose="020B0604030504040204" pitchFamily="50" charset="-128"/>
              </a:rPr>
              <a:t>7</a:t>
            </a:r>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章　プログラム</a:t>
            </a:r>
          </a:p>
        </p:txBody>
      </p:sp>
      <p:sp>
        <p:nvSpPr>
          <p:cNvPr id="4" name="正方形/長方形 3">
            <a:extLst>
              <a:ext uri="{FF2B5EF4-FFF2-40B4-BE49-F238E27FC236}">
                <a16:creationId xmlns:a16="http://schemas.microsoft.com/office/drawing/2014/main" id="{578782C7-6070-7C3A-DAB7-3101F4C6ED5C}"/>
              </a:ext>
            </a:extLst>
          </p:cNvPr>
          <p:cNvSpPr/>
          <p:nvPr/>
        </p:nvSpPr>
        <p:spPr>
          <a:xfrm>
            <a:off x="658169" y="1098587"/>
            <a:ext cx="10540261" cy="552895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
        <p:nvSpPr>
          <p:cNvPr id="5" name="正方形/長方形 4">
            <a:extLst>
              <a:ext uri="{FF2B5EF4-FFF2-40B4-BE49-F238E27FC236}">
                <a16:creationId xmlns:a16="http://schemas.microsoft.com/office/drawing/2014/main" id="{CF0C4CB1-F083-E867-F352-7E25984AC542}"/>
              </a:ext>
            </a:extLst>
          </p:cNvPr>
          <p:cNvSpPr/>
          <p:nvPr/>
        </p:nvSpPr>
        <p:spPr>
          <a:xfrm>
            <a:off x="9720288" y="2794458"/>
            <a:ext cx="1176150" cy="77963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000" dirty="0">
                <a:solidFill>
                  <a:schemeClr val="tx1"/>
                </a:solidFill>
                <a:latin typeface="メイリオ" panose="020B0604030504040204" pitchFamily="50" charset="-128"/>
                <a:ea typeface="メイリオ" panose="020B0604030504040204" pitchFamily="50" charset="-128"/>
              </a:rPr>
              <a:t>添字操作</a:t>
            </a:r>
          </a:p>
          <a:p>
            <a:r>
              <a:rPr lang="en-US" altLang="ja-JP" sz="1000" dirty="0">
                <a:solidFill>
                  <a:schemeClr val="tx1"/>
                </a:solidFill>
                <a:latin typeface="メイリオ" panose="020B0604030504040204" pitchFamily="50" charset="-128"/>
                <a:ea typeface="メイリオ" panose="020B0604030504040204" pitchFamily="50" charset="-128"/>
              </a:rPr>
              <a:t>c(“A”=3,”B”=10)</a:t>
            </a:r>
          </a:p>
          <a:p>
            <a:r>
              <a:rPr lang="en-US" altLang="ja-JP" sz="1000" dirty="0">
                <a:solidFill>
                  <a:schemeClr val="tx1"/>
                </a:solidFill>
                <a:latin typeface="メイリオ" panose="020B0604030504040204" pitchFamily="50" charset="-128"/>
                <a:ea typeface="メイリオ" panose="020B0604030504040204" pitchFamily="50" charset="-128"/>
              </a:rPr>
              <a:t>## A  B</a:t>
            </a:r>
          </a:p>
          <a:p>
            <a:r>
              <a:rPr lang="en-US" altLang="ja-JP" sz="1000" dirty="0">
                <a:solidFill>
                  <a:schemeClr val="tx1"/>
                </a:solidFill>
                <a:latin typeface="メイリオ" panose="020B0604030504040204" pitchFamily="50" charset="-128"/>
                <a:ea typeface="メイリオ" panose="020B0604030504040204" pitchFamily="50" charset="-128"/>
              </a:rPr>
              <a:t>## 3  10</a:t>
            </a:r>
          </a:p>
        </p:txBody>
      </p:sp>
      <p:sp>
        <p:nvSpPr>
          <p:cNvPr id="6" name="正方形/長方形 5">
            <a:extLst>
              <a:ext uri="{FF2B5EF4-FFF2-40B4-BE49-F238E27FC236}">
                <a16:creationId xmlns:a16="http://schemas.microsoft.com/office/drawing/2014/main" id="{75CE81D2-C5EE-4E63-DA6F-4D50A6E33162}"/>
              </a:ext>
            </a:extLst>
          </p:cNvPr>
          <p:cNvSpPr/>
          <p:nvPr/>
        </p:nvSpPr>
        <p:spPr>
          <a:xfrm>
            <a:off x="8561647" y="1263081"/>
            <a:ext cx="2391170" cy="1183629"/>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kumimoji="1" lang="en-US" altLang="ja-JP" sz="1000" dirty="0">
                <a:solidFill>
                  <a:schemeClr val="tx1"/>
                </a:solidFill>
                <a:latin typeface="メイリオ" panose="020B0604030504040204" pitchFamily="50" charset="-128"/>
                <a:ea typeface="メイリオ" panose="020B0604030504040204" pitchFamily="50" charset="-128"/>
              </a:rPr>
              <a:t>%in% </a:t>
            </a:r>
            <a:r>
              <a:rPr kumimoji="1" lang="ja-JP" altLang="en-US" sz="1000" dirty="0">
                <a:solidFill>
                  <a:schemeClr val="tx1"/>
                </a:solidFill>
                <a:latin typeface="メイリオ" panose="020B0604030504040204" pitchFamily="50" charset="-128"/>
                <a:ea typeface="メイリオ" panose="020B0604030504040204" pitchFamily="50" charset="-128"/>
              </a:rPr>
              <a:t>左辺が右辺を含むか判断する</a:t>
            </a:r>
            <a:endParaRPr kumimoji="1" lang="en-US" altLang="ja-JP" sz="1000" dirty="0">
              <a:solidFill>
                <a:schemeClr val="tx1"/>
              </a:solidFill>
              <a:latin typeface="メイリオ" panose="020B0604030504040204" pitchFamily="50" charset="-128"/>
              <a:ea typeface="メイリオ" panose="020B0604030504040204" pitchFamily="50" charset="-128"/>
            </a:endParaRPr>
          </a:p>
          <a:p>
            <a:endParaRPr kumimoji="1" lang="en-US" altLang="ja-JP" sz="1000" dirty="0">
              <a:solidFill>
                <a:schemeClr val="tx1"/>
              </a:solidFill>
              <a:latin typeface="メイリオ" panose="020B0604030504040204" pitchFamily="50" charset="-128"/>
              <a:ea typeface="メイリオ" panose="020B0604030504040204" pitchFamily="50" charset="-128"/>
            </a:endParaRPr>
          </a:p>
          <a:p>
            <a:r>
              <a:rPr lang="en-US" altLang="ja-JP" sz="1000" dirty="0">
                <a:solidFill>
                  <a:schemeClr val="tx1"/>
                </a:solidFill>
                <a:latin typeface="メイリオ" panose="020B0604030504040204" pitchFamily="50" charset="-128"/>
                <a:ea typeface="メイリオ" panose="020B0604030504040204" pitchFamily="50" charset="-128"/>
              </a:rPr>
              <a:t>List1 &lt;- c(A,B,C,D)</a:t>
            </a:r>
          </a:p>
          <a:p>
            <a:r>
              <a:rPr kumimoji="1" lang="en-US" altLang="ja-JP" sz="1000" dirty="0">
                <a:solidFill>
                  <a:schemeClr val="tx1"/>
                </a:solidFill>
                <a:latin typeface="メイリオ" panose="020B0604030504040204" pitchFamily="50" charset="-128"/>
                <a:ea typeface="メイリオ" panose="020B0604030504040204" pitchFamily="50" charset="-128"/>
              </a:rPr>
              <a:t>List2 &lt;-c(C,E,B)</a:t>
            </a:r>
          </a:p>
          <a:p>
            <a:endParaRPr lang="en-US" altLang="ja-JP" sz="1000" dirty="0">
              <a:solidFill>
                <a:schemeClr val="tx1"/>
              </a:solidFill>
              <a:latin typeface="メイリオ" panose="020B0604030504040204" pitchFamily="50" charset="-128"/>
              <a:ea typeface="メイリオ" panose="020B0604030504040204" pitchFamily="50" charset="-128"/>
            </a:endParaRPr>
          </a:p>
          <a:p>
            <a:r>
              <a:rPr kumimoji="1" lang="en-US" altLang="ja-JP" sz="1000" dirty="0">
                <a:solidFill>
                  <a:schemeClr val="tx1"/>
                </a:solidFill>
                <a:latin typeface="メイリオ" panose="020B0604030504040204" pitchFamily="50" charset="-128"/>
                <a:ea typeface="メイリオ" panose="020B0604030504040204" pitchFamily="50" charset="-128"/>
              </a:rPr>
              <a:t>List1 %in% List2</a:t>
            </a:r>
          </a:p>
          <a:p>
            <a:r>
              <a:rPr lang="en-US" altLang="ja-JP" sz="1000" dirty="0">
                <a:solidFill>
                  <a:schemeClr val="tx1"/>
                </a:solidFill>
                <a:latin typeface="メイリオ" panose="020B0604030504040204" pitchFamily="50" charset="-128"/>
                <a:ea typeface="メイリオ" panose="020B0604030504040204" pitchFamily="50" charset="-128"/>
              </a:rPr>
              <a:t>#FALSE</a:t>
            </a:r>
            <a:r>
              <a:rPr lang="ja-JP" altLang="en-US" sz="1000" dirty="0">
                <a:solidFill>
                  <a:schemeClr val="tx1"/>
                </a:solidFill>
                <a:latin typeface="メイリオ" panose="020B0604030504040204" pitchFamily="50" charset="-128"/>
                <a:ea typeface="メイリオ" panose="020B0604030504040204" pitchFamily="50" charset="-128"/>
              </a:rPr>
              <a:t> </a:t>
            </a:r>
            <a:r>
              <a:rPr lang="en-US" altLang="ja-JP" sz="1000" dirty="0">
                <a:solidFill>
                  <a:schemeClr val="tx1"/>
                </a:solidFill>
                <a:latin typeface="メイリオ" panose="020B0604030504040204" pitchFamily="50" charset="-128"/>
                <a:ea typeface="メイリオ" panose="020B0604030504040204" pitchFamily="50" charset="-128"/>
              </a:rPr>
              <a:t>TRUE</a:t>
            </a:r>
            <a:r>
              <a:rPr lang="ja-JP" altLang="en-US" sz="1000" dirty="0">
                <a:solidFill>
                  <a:schemeClr val="tx1"/>
                </a:solidFill>
                <a:latin typeface="メイリオ" panose="020B0604030504040204" pitchFamily="50" charset="-128"/>
                <a:ea typeface="メイリオ" panose="020B0604030504040204" pitchFamily="50" charset="-128"/>
              </a:rPr>
              <a:t> </a:t>
            </a:r>
            <a:r>
              <a:rPr lang="en-US" altLang="ja-JP" sz="1000" dirty="0">
                <a:solidFill>
                  <a:schemeClr val="tx1"/>
                </a:solidFill>
                <a:latin typeface="メイリオ" panose="020B0604030504040204" pitchFamily="50" charset="-128"/>
                <a:ea typeface="メイリオ" panose="020B0604030504040204" pitchFamily="50" charset="-128"/>
              </a:rPr>
              <a:t>TRUE FALSE</a:t>
            </a:r>
          </a:p>
        </p:txBody>
      </p:sp>
      <p:sp>
        <p:nvSpPr>
          <p:cNvPr id="3" name="字幕 2">
            <a:extLst>
              <a:ext uri="{FF2B5EF4-FFF2-40B4-BE49-F238E27FC236}">
                <a16:creationId xmlns:a16="http://schemas.microsoft.com/office/drawing/2014/main" id="{EF422FEA-2F34-70ED-56A9-01A65A2AD142}"/>
              </a:ext>
            </a:extLst>
          </p:cNvPr>
          <p:cNvSpPr>
            <a:spLocks noGrp="1"/>
          </p:cNvSpPr>
          <p:nvPr>
            <p:ph type="subTitle" idx="1"/>
          </p:nvPr>
        </p:nvSpPr>
        <p:spPr>
          <a:xfrm>
            <a:off x="682560" y="1143635"/>
            <a:ext cx="9391483" cy="5446283"/>
          </a:xfrm>
        </p:spPr>
        <p:txBody>
          <a:bodyPr>
            <a:normAutofit/>
          </a:bodyPr>
          <a:lstStyle/>
          <a:p>
            <a:pPr algn="l"/>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a:t>
            </a:r>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場合分けの条件２</a:t>
            </a:r>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変数名：</a:t>
            </a:r>
            <a:r>
              <a:rPr lang="en-US" altLang="ja-JP" sz="1200" dirty="0">
                <a:latin typeface="メイリオ" panose="020B0604030504040204" pitchFamily="50" charset="-128"/>
                <a:ea typeface="メイリオ" panose="020B0604030504040204" pitchFamily="50" charset="-128"/>
              </a:rPr>
              <a:t>bars</a:t>
            </a:r>
            <a:r>
              <a:rPr lang="ja-JP" altLang="en-US" sz="1200" dirty="0">
                <a:latin typeface="メイリオ" panose="020B0604030504040204" pitchFamily="50" charset="-128"/>
                <a:ea typeface="メイリオ" panose="020B0604030504040204" pitchFamily="50" charset="-128"/>
              </a:rPr>
              <a:t>　型：</a:t>
            </a:r>
            <a:r>
              <a:rPr lang="en-US" altLang="ja-JP" sz="1200" dirty="0" err="1">
                <a:latin typeface="メイリオ" panose="020B0604030504040204" pitchFamily="50" charset="-128"/>
                <a:ea typeface="メイリオ" panose="020B0604030504040204" pitchFamily="50" charset="-128"/>
              </a:rPr>
              <a:t>boolean</a:t>
            </a:r>
            <a:endParaRPr lang="en-US" altLang="ja-JP" sz="1200" dirty="0">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条件内容：</a:t>
            </a:r>
            <a:r>
              <a:rPr lang="en-US" altLang="ja-JP" sz="1200" dirty="0">
                <a:latin typeface="メイリオ" panose="020B0604030504040204" pitchFamily="50" charset="-128"/>
                <a:ea typeface="メイリオ" panose="020B0604030504040204" pitchFamily="50" charset="-128"/>
              </a:rPr>
              <a:t>symbols</a:t>
            </a:r>
            <a:r>
              <a:rPr lang="ja-JP" altLang="en-US" sz="1200" dirty="0">
                <a:latin typeface="メイリオ" panose="020B0604030504040204" pitchFamily="50" charset="-128"/>
                <a:ea typeface="メイリオ" panose="020B0604030504040204" pitchFamily="50" charset="-128"/>
              </a:rPr>
              <a:t>がバーを含む</a:t>
            </a:r>
            <a:endParaRPr lang="en-US" altLang="ja-JP" sz="1200" dirty="0">
              <a:latin typeface="メイリオ" panose="020B0604030504040204" pitchFamily="50" charset="-128"/>
              <a:ea typeface="メイリオ" panose="020B0604030504040204" pitchFamily="50" charset="-128"/>
            </a:endParaRPr>
          </a:p>
          <a:p>
            <a:pPr algn="l"/>
            <a:endParaRPr kumimoji="1"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r>
              <a:rPr kumimoji="1" lang="en-US" altLang="ja-JP" sz="1200" dirty="0">
                <a:latin typeface="メイリオ" panose="020B0604030504040204" pitchFamily="50" charset="-128"/>
                <a:ea typeface="メイリオ" panose="020B0604030504040204" pitchFamily="50" charset="-128"/>
              </a:rPr>
              <a:t>※symbols</a:t>
            </a:r>
            <a:r>
              <a:rPr kumimoji="1" lang="ja-JP" altLang="en-US" sz="1200" dirty="0">
                <a:latin typeface="メイリオ" panose="020B0604030504040204" pitchFamily="50" charset="-128"/>
                <a:ea typeface="メイリオ" panose="020B0604030504040204" pitchFamily="50" charset="-128"/>
              </a:rPr>
              <a:t>すべてがバーであってほしいので、実行時は</a:t>
            </a:r>
            <a:r>
              <a:rPr kumimoji="1" lang="en-US" altLang="ja-JP" sz="1200" dirty="0">
                <a:latin typeface="メイリオ" panose="020B0604030504040204" pitchFamily="50" charset="-128"/>
                <a:ea typeface="メイリオ" panose="020B0604030504040204" pitchFamily="50" charset="-128"/>
              </a:rPr>
              <a:t>all</a:t>
            </a:r>
            <a:r>
              <a:rPr kumimoji="1" lang="ja-JP" altLang="en-US" sz="1200" dirty="0">
                <a:latin typeface="メイリオ" panose="020B0604030504040204" pitchFamily="50" charset="-128"/>
                <a:ea typeface="メイリオ" panose="020B0604030504040204" pitchFamily="50" charset="-128"/>
              </a:rPr>
              <a:t>をつける</a:t>
            </a:r>
            <a:r>
              <a:rPr lang="ja-JP" altLang="en-US" sz="1200" dirty="0">
                <a:latin typeface="メイリオ" panose="020B0604030504040204" pitchFamily="50" charset="-128"/>
                <a:ea typeface="メイリオ" panose="020B0604030504040204" pitchFamily="50" charset="-128"/>
              </a:rPr>
              <a:t>。</a:t>
            </a:r>
            <a:endParaRPr kumimoji="1" lang="en-US" altLang="ja-JP" sz="1200" dirty="0">
              <a:latin typeface="メイリオ" panose="020B0604030504040204" pitchFamily="50" charset="-128"/>
              <a:ea typeface="メイリオ" panose="020B0604030504040204" pitchFamily="50" charset="-128"/>
            </a:endParaRPr>
          </a:p>
          <a:p>
            <a:pPr algn="l"/>
            <a:endParaRPr kumimoji="1" lang="en-US" altLang="ja-JP" sz="1200" dirty="0">
              <a:latin typeface="メイリオ" panose="020B0604030504040204" pitchFamily="50" charset="-128"/>
              <a:ea typeface="メイリオ" panose="020B0604030504040204" pitchFamily="50" charset="-128"/>
            </a:endParaRPr>
          </a:p>
          <a:p>
            <a:pPr algn="l"/>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＃＃点数の計算</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１</a:t>
            </a:r>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変数名：</a:t>
            </a:r>
            <a:r>
              <a:rPr lang="en-US" altLang="ja-JP" sz="1200" dirty="0">
                <a:latin typeface="メイリオ" panose="020B0604030504040204" pitchFamily="50" charset="-128"/>
                <a:ea typeface="メイリオ" panose="020B0604030504040204" pitchFamily="50" charset="-128"/>
              </a:rPr>
              <a:t>same</a:t>
            </a:r>
            <a:r>
              <a:rPr lang="ja-JP" altLang="en-US" sz="1200" dirty="0">
                <a:latin typeface="メイリオ" panose="020B0604030504040204" pitchFamily="50" charset="-128"/>
                <a:ea typeface="メイリオ" panose="020B0604030504040204" pitchFamily="50" charset="-128"/>
              </a:rPr>
              <a:t>　型</a:t>
            </a:r>
            <a:r>
              <a:rPr lang="en-US" altLang="ja-JP" sz="1200" dirty="0">
                <a:latin typeface="メイリオ" panose="020B0604030504040204" pitchFamily="50" charset="-128"/>
                <a:ea typeface="メイリオ" panose="020B0604030504040204" pitchFamily="50" charset="-128"/>
              </a:rPr>
              <a:t>:</a:t>
            </a:r>
            <a:r>
              <a:rPr lang="en-US" altLang="ja-JP" sz="1200" dirty="0" err="1">
                <a:latin typeface="メイリオ" panose="020B0604030504040204" pitchFamily="50" charset="-128"/>
                <a:ea typeface="メイリオ" panose="020B0604030504040204" pitchFamily="50" charset="-128"/>
              </a:rPr>
              <a:t>boolean</a:t>
            </a:r>
            <a:r>
              <a:rPr lang="en-US" altLang="ja-JP" sz="1200" dirty="0">
                <a:latin typeface="メイリオ" panose="020B0604030504040204" pitchFamily="50" charset="-128"/>
                <a:ea typeface="メイリオ" panose="020B0604030504040204" pitchFamily="50" charset="-128"/>
              </a:rPr>
              <a:t> </a:t>
            </a:r>
          </a:p>
          <a:p>
            <a:pPr algn="l"/>
            <a:r>
              <a:rPr lang="ja-JP" altLang="en-US" sz="1200" dirty="0">
                <a:latin typeface="メイリオ" panose="020B0604030504040204" pitchFamily="50" charset="-128"/>
                <a:ea typeface="メイリオ" panose="020B0604030504040204" pitchFamily="50" charset="-128"/>
              </a:rPr>
              <a:t>条件内容：</a:t>
            </a:r>
            <a:r>
              <a:rPr lang="en-US" altLang="ja-JP" sz="1200" dirty="0">
                <a:latin typeface="メイリオ" panose="020B0604030504040204" pitchFamily="50" charset="-128"/>
                <a:ea typeface="メイリオ" panose="020B0604030504040204" pitchFamily="50" charset="-128"/>
              </a:rPr>
              <a:t>symbols</a:t>
            </a:r>
            <a:r>
              <a:rPr lang="ja-JP" altLang="en-US" sz="1200" dirty="0">
                <a:latin typeface="メイリオ" panose="020B0604030504040204" pitchFamily="50" charset="-128"/>
                <a:ea typeface="メイリオ" panose="020B0604030504040204" pitchFamily="50" charset="-128"/>
              </a:rPr>
              <a:t>の中身がすべて同じである</a:t>
            </a:r>
            <a:endParaRPr kumimoji="1" lang="en-US" altLang="ja-JP" sz="1200" dirty="0">
              <a:latin typeface="メイリオ" panose="020B0604030504040204" pitchFamily="50" charset="-128"/>
              <a:ea typeface="メイリオ" panose="020B0604030504040204" pitchFamily="50" charset="-128"/>
            </a:endParaRPr>
          </a:p>
          <a:p>
            <a:pPr algn="l"/>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＃点数を代入する</a:t>
            </a:r>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変数名</a:t>
            </a:r>
            <a:r>
              <a:rPr lang="en-US" altLang="ja-JP" sz="1200" dirty="0">
                <a:latin typeface="メイリオ" panose="020B0604030504040204" pitchFamily="50" charset="-128"/>
                <a:ea typeface="メイリオ" panose="020B0604030504040204" pitchFamily="50" charset="-128"/>
              </a:rPr>
              <a:t>:prize</a:t>
            </a:r>
            <a:r>
              <a:rPr lang="ja-JP" altLang="en-US" sz="1200" dirty="0">
                <a:latin typeface="メイリオ" panose="020B0604030504040204" pitchFamily="50" charset="-128"/>
                <a:ea typeface="メイリオ" panose="020B0604030504040204" pitchFamily="50" charset="-128"/>
              </a:rPr>
              <a:t>　型：整数値</a:t>
            </a:r>
            <a:endParaRPr lang="en-US" altLang="ja-JP" sz="1200" dirty="0">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 条件１のとき、１要素目の得点を代入</a:t>
            </a:r>
            <a:endPar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endParaRPr>
          </a:p>
        </p:txBody>
      </p:sp>
      <p:cxnSp>
        <p:nvCxnSpPr>
          <p:cNvPr id="13" name="直線矢印コネクタ 12">
            <a:extLst>
              <a:ext uri="{FF2B5EF4-FFF2-40B4-BE49-F238E27FC236}">
                <a16:creationId xmlns:a16="http://schemas.microsoft.com/office/drawing/2014/main" id="{74FF8975-518B-E7D8-023D-CCCCAEBC6F95}"/>
              </a:ext>
            </a:extLst>
          </p:cNvPr>
          <p:cNvCxnSpPr>
            <a:cxnSpLocks/>
          </p:cNvCxnSpPr>
          <p:nvPr/>
        </p:nvCxnSpPr>
        <p:spPr>
          <a:xfrm>
            <a:off x="4001984" y="2298172"/>
            <a:ext cx="581891"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8" name="図 7">
            <a:extLst>
              <a:ext uri="{FF2B5EF4-FFF2-40B4-BE49-F238E27FC236}">
                <a16:creationId xmlns:a16="http://schemas.microsoft.com/office/drawing/2014/main" id="{43D9BC6F-D9A1-1207-8593-653B03AECDC6}"/>
              </a:ext>
            </a:extLst>
          </p:cNvPr>
          <p:cNvPicPr>
            <a:picLocks noChangeAspect="1"/>
          </p:cNvPicPr>
          <p:nvPr/>
        </p:nvPicPr>
        <p:blipFill>
          <a:blip r:embed="rId2"/>
          <a:stretch>
            <a:fillRect/>
          </a:stretch>
        </p:blipFill>
        <p:spPr>
          <a:xfrm>
            <a:off x="4819165" y="1263081"/>
            <a:ext cx="3200847" cy="1371791"/>
          </a:xfrm>
          <a:prstGeom prst="rect">
            <a:avLst/>
          </a:prstGeom>
          <a:ln>
            <a:solidFill>
              <a:schemeClr val="bg2">
                <a:lumMod val="90000"/>
              </a:schemeClr>
            </a:solidFill>
          </a:ln>
        </p:spPr>
      </p:pic>
      <p:pic>
        <p:nvPicPr>
          <p:cNvPr id="12" name="図 11">
            <a:extLst>
              <a:ext uri="{FF2B5EF4-FFF2-40B4-BE49-F238E27FC236}">
                <a16:creationId xmlns:a16="http://schemas.microsoft.com/office/drawing/2014/main" id="{9D575F3D-CCE5-CF73-C3DA-6790169349D9}"/>
              </a:ext>
            </a:extLst>
          </p:cNvPr>
          <p:cNvPicPr>
            <a:picLocks noChangeAspect="1"/>
          </p:cNvPicPr>
          <p:nvPr/>
        </p:nvPicPr>
        <p:blipFill>
          <a:blip r:embed="rId3"/>
          <a:stretch>
            <a:fillRect/>
          </a:stretch>
        </p:blipFill>
        <p:spPr>
          <a:xfrm>
            <a:off x="827651" y="2098119"/>
            <a:ext cx="2981741" cy="400106"/>
          </a:xfrm>
          <a:prstGeom prst="rect">
            <a:avLst/>
          </a:prstGeom>
          <a:ln>
            <a:solidFill>
              <a:schemeClr val="bg2">
                <a:lumMod val="90000"/>
              </a:schemeClr>
            </a:solidFill>
          </a:ln>
        </p:spPr>
      </p:pic>
      <p:pic>
        <p:nvPicPr>
          <p:cNvPr id="20" name="図 19">
            <a:extLst>
              <a:ext uri="{FF2B5EF4-FFF2-40B4-BE49-F238E27FC236}">
                <a16:creationId xmlns:a16="http://schemas.microsoft.com/office/drawing/2014/main" id="{E63407BA-FA48-FBB5-D05D-069BFB18CA0C}"/>
              </a:ext>
            </a:extLst>
          </p:cNvPr>
          <p:cNvPicPr>
            <a:picLocks noChangeAspect="1"/>
          </p:cNvPicPr>
          <p:nvPr/>
        </p:nvPicPr>
        <p:blipFill>
          <a:blip r:embed="rId4"/>
          <a:stretch>
            <a:fillRect/>
          </a:stretch>
        </p:blipFill>
        <p:spPr>
          <a:xfrm>
            <a:off x="7456239" y="2794458"/>
            <a:ext cx="2172003" cy="1038370"/>
          </a:xfrm>
          <a:prstGeom prst="rect">
            <a:avLst/>
          </a:prstGeom>
          <a:ln>
            <a:solidFill>
              <a:schemeClr val="bg2">
                <a:lumMod val="90000"/>
              </a:schemeClr>
            </a:solidFill>
          </a:ln>
        </p:spPr>
      </p:pic>
      <p:pic>
        <p:nvPicPr>
          <p:cNvPr id="22" name="図 21">
            <a:extLst>
              <a:ext uri="{FF2B5EF4-FFF2-40B4-BE49-F238E27FC236}">
                <a16:creationId xmlns:a16="http://schemas.microsoft.com/office/drawing/2014/main" id="{4256DFFB-E235-2610-3205-F45EEFE75BAA}"/>
              </a:ext>
            </a:extLst>
          </p:cNvPr>
          <p:cNvPicPr>
            <a:picLocks noChangeAspect="1"/>
          </p:cNvPicPr>
          <p:nvPr/>
        </p:nvPicPr>
        <p:blipFill>
          <a:blip r:embed="rId5"/>
          <a:stretch>
            <a:fillRect/>
          </a:stretch>
        </p:blipFill>
        <p:spPr>
          <a:xfrm>
            <a:off x="827651" y="4310789"/>
            <a:ext cx="6192114" cy="390580"/>
          </a:xfrm>
          <a:prstGeom prst="rect">
            <a:avLst/>
          </a:prstGeom>
          <a:ln>
            <a:solidFill>
              <a:schemeClr val="bg2">
                <a:lumMod val="90000"/>
              </a:schemeClr>
            </a:solidFill>
          </a:ln>
        </p:spPr>
      </p:pic>
      <p:sp>
        <p:nvSpPr>
          <p:cNvPr id="23" name="正方形/長方形 22">
            <a:extLst>
              <a:ext uri="{FF2B5EF4-FFF2-40B4-BE49-F238E27FC236}">
                <a16:creationId xmlns:a16="http://schemas.microsoft.com/office/drawing/2014/main" id="{19CFE1A9-41FC-F4FC-C2A4-EE7DF09753E7}"/>
              </a:ext>
            </a:extLst>
          </p:cNvPr>
          <p:cNvSpPr/>
          <p:nvPr/>
        </p:nvSpPr>
        <p:spPr>
          <a:xfrm>
            <a:off x="9359384" y="4017941"/>
            <a:ext cx="2401239" cy="1166447"/>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000" dirty="0" err="1">
                <a:solidFill>
                  <a:schemeClr val="tx1"/>
                </a:solidFill>
                <a:latin typeface="メイリオ" panose="020B0604030504040204" pitchFamily="50" charset="-128"/>
                <a:ea typeface="メイリオ" panose="020B0604030504040204" pitchFamily="50" charset="-128"/>
              </a:rPr>
              <a:t>unname</a:t>
            </a:r>
            <a:r>
              <a:rPr lang="en-US" altLang="ja-JP" sz="1000" dirty="0">
                <a:solidFill>
                  <a:schemeClr val="tx1"/>
                </a:solidFill>
                <a:latin typeface="メイリオ" panose="020B0604030504040204" pitchFamily="50" charset="-128"/>
                <a:ea typeface="メイリオ" panose="020B0604030504040204" pitchFamily="50" charset="-128"/>
              </a:rPr>
              <a:t>()      = ( names() &lt;- NULL)</a:t>
            </a:r>
          </a:p>
          <a:p>
            <a:r>
              <a:rPr lang="ja-JP" altLang="en-US" sz="1000" dirty="0">
                <a:solidFill>
                  <a:schemeClr val="tx1"/>
                </a:solidFill>
                <a:latin typeface="メイリオ" panose="020B0604030504040204" pitchFamily="50" charset="-128"/>
                <a:ea typeface="メイリオ" panose="020B0604030504040204" pitchFamily="50" charset="-128"/>
              </a:rPr>
              <a:t>ベクトル・行列の名前を消して返す。</a:t>
            </a:r>
            <a:endParaRPr lang="en-US" altLang="ja-JP" sz="1000" dirty="0">
              <a:solidFill>
                <a:schemeClr val="tx1"/>
              </a:solidFill>
              <a:latin typeface="メイリオ" panose="020B0604030504040204" pitchFamily="50" charset="-128"/>
              <a:ea typeface="メイリオ" panose="020B0604030504040204" pitchFamily="50" charset="-128"/>
            </a:endParaRPr>
          </a:p>
          <a:p>
            <a:endParaRPr lang="en-US" altLang="ja-JP" sz="1000" dirty="0">
              <a:solidFill>
                <a:schemeClr val="tx1"/>
              </a:solidFill>
              <a:latin typeface="メイリオ" panose="020B0604030504040204" pitchFamily="50" charset="-128"/>
              <a:ea typeface="メイリオ" panose="020B0604030504040204" pitchFamily="50" charset="-128"/>
            </a:endParaRPr>
          </a:p>
          <a:p>
            <a:r>
              <a:rPr lang="ja-JP" altLang="en-US" sz="1000" dirty="0">
                <a:solidFill>
                  <a:schemeClr val="tx1"/>
                </a:solidFill>
                <a:latin typeface="メイリオ" panose="020B0604030504040204" pitchFamily="50" charset="-128"/>
                <a:ea typeface="メイリオ" panose="020B0604030504040204" pitchFamily="50" charset="-128"/>
              </a:rPr>
              <a:t>（行列のとき）</a:t>
            </a:r>
            <a:endParaRPr lang="en-US" altLang="ja-JP" sz="1000" dirty="0">
              <a:solidFill>
                <a:schemeClr val="tx1"/>
              </a:solidFill>
              <a:latin typeface="メイリオ" panose="020B0604030504040204" pitchFamily="50" charset="-128"/>
              <a:ea typeface="メイリオ" panose="020B0604030504040204" pitchFamily="50" charset="-128"/>
            </a:endParaRPr>
          </a:p>
          <a:p>
            <a:r>
              <a:rPr lang="ja-JP" altLang="en-US" sz="1000" dirty="0">
                <a:solidFill>
                  <a:schemeClr val="tx1"/>
                </a:solidFill>
                <a:latin typeface="メイリオ" panose="020B0604030504040204" pitchFamily="50" charset="-128"/>
                <a:ea typeface="メイリオ" panose="020B0604030504040204" pitchFamily="50" charset="-128"/>
              </a:rPr>
              <a:t>列名のみ消す：</a:t>
            </a:r>
            <a:r>
              <a:rPr lang="en-US" altLang="ja-JP" sz="1000" dirty="0" err="1">
                <a:solidFill>
                  <a:schemeClr val="tx1"/>
                </a:solidFill>
                <a:latin typeface="メイリオ" panose="020B0604030504040204" pitchFamily="50" charset="-128"/>
                <a:ea typeface="メイリオ" panose="020B0604030504040204" pitchFamily="50" charset="-128"/>
              </a:rPr>
              <a:t>colnames</a:t>
            </a:r>
            <a:r>
              <a:rPr lang="en-US" altLang="ja-JP" sz="1000" dirty="0">
                <a:solidFill>
                  <a:schemeClr val="tx1"/>
                </a:solidFill>
                <a:latin typeface="メイリオ" panose="020B0604030504040204" pitchFamily="50" charset="-128"/>
                <a:ea typeface="メイリオ" panose="020B0604030504040204" pitchFamily="50" charset="-128"/>
              </a:rPr>
              <a:t>() &lt;- NULL</a:t>
            </a:r>
          </a:p>
          <a:p>
            <a:r>
              <a:rPr lang="ja-JP" altLang="en-US" sz="1000" dirty="0">
                <a:solidFill>
                  <a:schemeClr val="tx1"/>
                </a:solidFill>
                <a:latin typeface="メイリオ" panose="020B0604030504040204" pitchFamily="50" charset="-128"/>
                <a:ea typeface="メイリオ" panose="020B0604030504040204" pitchFamily="50" charset="-128"/>
              </a:rPr>
              <a:t>行名のみ消す：</a:t>
            </a:r>
            <a:r>
              <a:rPr lang="en-US" altLang="ja-JP" sz="1000" dirty="0" err="1">
                <a:solidFill>
                  <a:schemeClr val="tx1"/>
                </a:solidFill>
                <a:latin typeface="メイリオ" panose="020B0604030504040204" pitchFamily="50" charset="-128"/>
                <a:ea typeface="メイリオ" panose="020B0604030504040204" pitchFamily="50" charset="-128"/>
              </a:rPr>
              <a:t>rownames</a:t>
            </a:r>
            <a:r>
              <a:rPr lang="en-US" altLang="ja-JP" sz="1000" dirty="0">
                <a:solidFill>
                  <a:schemeClr val="tx1"/>
                </a:solidFill>
                <a:latin typeface="メイリオ" panose="020B0604030504040204" pitchFamily="50" charset="-128"/>
                <a:ea typeface="メイリオ" panose="020B0604030504040204" pitchFamily="50" charset="-128"/>
              </a:rPr>
              <a:t>() &lt;- NULL</a:t>
            </a:r>
          </a:p>
          <a:p>
            <a:endParaRPr lang="en-US" altLang="ja-JP" sz="1000" dirty="0">
              <a:solidFill>
                <a:schemeClr val="tx1"/>
              </a:solidFill>
              <a:latin typeface="メイリオ" panose="020B0604030504040204" pitchFamily="50" charset="-128"/>
              <a:ea typeface="メイリオ" panose="020B0604030504040204" pitchFamily="50" charset="-128"/>
            </a:endParaRPr>
          </a:p>
          <a:p>
            <a:endParaRPr lang="en-US" altLang="ja-JP" sz="1000" dirty="0">
              <a:solidFill>
                <a:schemeClr val="tx1"/>
              </a:solidFill>
              <a:latin typeface="メイリオ" panose="020B0604030504040204" pitchFamily="50" charset="-128"/>
              <a:ea typeface="メイリオ" panose="020B0604030504040204" pitchFamily="50" charset="-128"/>
            </a:endParaRPr>
          </a:p>
        </p:txBody>
      </p:sp>
      <p:pic>
        <p:nvPicPr>
          <p:cNvPr id="25" name="図 24">
            <a:extLst>
              <a:ext uri="{FF2B5EF4-FFF2-40B4-BE49-F238E27FC236}">
                <a16:creationId xmlns:a16="http://schemas.microsoft.com/office/drawing/2014/main" id="{5B05BFEA-621C-484A-6420-DD234BEB340B}"/>
              </a:ext>
            </a:extLst>
          </p:cNvPr>
          <p:cNvPicPr>
            <a:picLocks noChangeAspect="1"/>
          </p:cNvPicPr>
          <p:nvPr/>
        </p:nvPicPr>
        <p:blipFill>
          <a:blip r:embed="rId6"/>
          <a:stretch>
            <a:fillRect/>
          </a:stretch>
        </p:blipFill>
        <p:spPr>
          <a:xfrm>
            <a:off x="7456239" y="4065573"/>
            <a:ext cx="1819529" cy="314369"/>
          </a:xfrm>
          <a:prstGeom prst="rect">
            <a:avLst/>
          </a:prstGeom>
          <a:ln>
            <a:solidFill>
              <a:schemeClr val="bg2">
                <a:lumMod val="90000"/>
              </a:schemeClr>
            </a:solidFill>
          </a:ln>
        </p:spPr>
      </p:pic>
      <p:pic>
        <p:nvPicPr>
          <p:cNvPr id="14" name="図 13">
            <a:extLst>
              <a:ext uri="{FF2B5EF4-FFF2-40B4-BE49-F238E27FC236}">
                <a16:creationId xmlns:a16="http://schemas.microsoft.com/office/drawing/2014/main" id="{6500F86D-80BD-F4B8-52B1-EE37F5E315D1}"/>
              </a:ext>
            </a:extLst>
          </p:cNvPr>
          <p:cNvPicPr>
            <a:picLocks noChangeAspect="1"/>
          </p:cNvPicPr>
          <p:nvPr/>
        </p:nvPicPr>
        <p:blipFill>
          <a:blip r:embed="rId7"/>
          <a:stretch>
            <a:fillRect/>
          </a:stretch>
        </p:blipFill>
        <p:spPr>
          <a:xfrm>
            <a:off x="7456239" y="5222015"/>
            <a:ext cx="2305372" cy="924054"/>
          </a:xfrm>
          <a:prstGeom prst="rect">
            <a:avLst/>
          </a:prstGeom>
          <a:ln>
            <a:solidFill>
              <a:schemeClr val="bg2">
                <a:lumMod val="90000"/>
              </a:schemeClr>
            </a:solidFill>
          </a:ln>
        </p:spPr>
      </p:pic>
      <p:pic>
        <p:nvPicPr>
          <p:cNvPr id="16" name="図 15">
            <a:extLst>
              <a:ext uri="{FF2B5EF4-FFF2-40B4-BE49-F238E27FC236}">
                <a16:creationId xmlns:a16="http://schemas.microsoft.com/office/drawing/2014/main" id="{ADB8024D-3C11-C52B-F41B-28D2769D5D19}"/>
              </a:ext>
            </a:extLst>
          </p:cNvPr>
          <p:cNvPicPr>
            <a:picLocks noChangeAspect="1"/>
          </p:cNvPicPr>
          <p:nvPr/>
        </p:nvPicPr>
        <p:blipFill rotWithShape="1">
          <a:blip r:embed="rId8"/>
          <a:srcRect t="44391" b="-1"/>
          <a:stretch/>
        </p:blipFill>
        <p:spPr>
          <a:xfrm>
            <a:off x="949897" y="6146069"/>
            <a:ext cx="6249272" cy="185413"/>
          </a:xfrm>
          <a:prstGeom prst="rect">
            <a:avLst/>
          </a:prstGeom>
          <a:ln>
            <a:solidFill>
              <a:schemeClr val="bg2">
                <a:lumMod val="90000"/>
              </a:schemeClr>
            </a:solidFill>
          </a:ln>
        </p:spPr>
      </p:pic>
      <p:sp>
        <p:nvSpPr>
          <p:cNvPr id="17" name="楕円 16">
            <a:extLst>
              <a:ext uri="{FF2B5EF4-FFF2-40B4-BE49-F238E27FC236}">
                <a16:creationId xmlns:a16="http://schemas.microsoft.com/office/drawing/2014/main" id="{81FA8E4C-B42F-95B1-EB56-2D23186D42B1}"/>
              </a:ext>
            </a:extLst>
          </p:cNvPr>
          <p:cNvSpPr/>
          <p:nvPr/>
        </p:nvSpPr>
        <p:spPr>
          <a:xfrm>
            <a:off x="3351763" y="1184050"/>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ja-JP" altLang="en-US" dirty="0">
                <a:latin typeface="メイリオ" panose="020B0604030504040204" pitchFamily="50" charset="-128"/>
                <a:ea typeface="メイリオ" panose="020B0604030504040204" pitchFamily="50" charset="-128"/>
              </a:rPr>
              <a:t>５</a:t>
            </a:r>
          </a:p>
        </p:txBody>
      </p:sp>
      <p:sp>
        <p:nvSpPr>
          <p:cNvPr id="18" name="楕円 17">
            <a:extLst>
              <a:ext uri="{FF2B5EF4-FFF2-40B4-BE49-F238E27FC236}">
                <a16:creationId xmlns:a16="http://schemas.microsoft.com/office/drawing/2014/main" id="{DE7ED8C7-11EF-4FAA-D829-54110B060CB3}"/>
              </a:ext>
            </a:extLst>
          </p:cNvPr>
          <p:cNvSpPr/>
          <p:nvPr/>
        </p:nvSpPr>
        <p:spPr>
          <a:xfrm>
            <a:off x="2821969" y="3326445"/>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lang="ja-JP" altLang="en-US" dirty="0">
                <a:latin typeface="メイリオ" panose="020B0604030504040204" pitchFamily="50" charset="-128"/>
                <a:ea typeface="メイリオ" panose="020B0604030504040204" pitchFamily="50" charset="-128"/>
              </a:rPr>
              <a:t>６</a:t>
            </a:r>
            <a:endParaRPr kumimoji="1" lang="ja-JP" altLang="en-US" dirty="0">
              <a:latin typeface="メイリオ" panose="020B0604030504040204" pitchFamily="50" charset="-128"/>
              <a:ea typeface="メイリオ" panose="020B0604030504040204" pitchFamily="50" charset="-128"/>
            </a:endParaRPr>
          </a:p>
        </p:txBody>
      </p:sp>
      <p:sp>
        <p:nvSpPr>
          <p:cNvPr id="19" name="楕円 18">
            <a:extLst>
              <a:ext uri="{FF2B5EF4-FFF2-40B4-BE49-F238E27FC236}">
                <a16:creationId xmlns:a16="http://schemas.microsoft.com/office/drawing/2014/main" id="{CADBD0AC-8D38-11DB-9BF3-C78EF8CEFB3A}"/>
              </a:ext>
            </a:extLst>
          </p:cNvPr>
          <p:cNvSpPr/>
          <p:nvPr/>
        </p:nvSpPr>
        <p:spPr>
          <a:xfrm>
            <a:off x="3144581" y="5103363"/>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lang="ja-JP" altLang="en-US" dirty="0">
                <a:latin typeface="メイリオ" panose="020B0604030504040204" pitchFamily="50" charset="-128"/>
                <a:ea typeface="メイリオ" panose="020B0604030504040204" pitchFamily="50" charset="-128"/>
              </a:rPr>
              <a:t>６</a:t>
            </a:r>
            <a:endParaRPr kumimoji="1" lang="ja-JP" altLang="en-US" dirty="0">
              <a:latin typeface="メイリオ" panose="020B0604030504040204" pitchFamily="50" charset="-128"/>
              <a:ea typeface="メイリオ" panose="020B0604030504040204" pitchFamily="50" charset="-128"/>
            </a:endParaRPr>
          </a:p>
        </p:txBody>
      </p:sp>
      <p:cxnSp>
        <p:nvCxnSpPr>
          <p:cNvPr id="21" name="直線矢印コネクタ 20">
            <a:extLst>
              <a:ext uri="{FF2B5EF4-FFF2-40B4-BE49-F238E27FC236}">
                <a16:creationId xmlns:a16="http://schemas.microsoft.com/office/drawing/2014/main" id="{B2D8D670-3D58-2589-6A4F-9E2ADD754D02}"/>
              </a:ext>
            </a:extLst>
          </p:cNvPr>
          <p:cNvCxnSpPr>
            <a:cxnSpLocks/>
          </p:cNvCxnSpPr>
          <p:nvPr/>
        </p:nvCxnSpPr>
        <p:spPr>
          <a:xfrm flipV="1">
            <a:off x="6858000" y="3724507"/>
            <a:ext cx="490654" cy="498622"/>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4CC293DC-9604-7AF9-7AB0-D429D3C1526F}"/>
              </a:ext>
            </a:extLst>
          </p:cNvPr>
          <p:cNvCxnSpPr>
            <a:cxnSpLocks/>
          </p:cNvCxnSpPr>
          <p:nvPr/>
        </p:nvCxnSpPr>
        <p:spPr>
          <a:xfrm flipV="1">
            <a:off x="6858000" y="5783278"/>
            <a:ext cx="489350" cy="204927"/>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48516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281077"/>
            <a:ext cx="5891408" cy="700173"/>
          </a:xfrm>
        </p:spPr>
        <p:txBody>
          <a:bodyPr>
            <a:normAutofit/>
          </a:bodyPr>
          <a:lstStyle/>
          <a:p>
            <a:pPr algn="l"/>
            <a:r>
              <a:rPr kumimoji="1" lang="en-US" altLang="ja-JP" sz="3000" b="1" dirty="0">
                <a:solidFill>
                  <a:schemeClr val="tx1">
                    <a:lumMod val="65000"/>
                    <a:lumOff val="35000"/>
                  </a:schemeClr>
                </a:solidFill>
                <a:latin typeface="メイリオ" panose="020B0604030504040204" pitchFamily="50" charset="-128"/>
                <a:ea typeface="メイリオ" panose="020B0604030504040204" pitchFamily="50" charset="-128"/>
              </a:rPr>
              <a:t>7</a:t>
            </a:r>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章　プログラム</a:t>
            </a:r>
          </a:p>
        </p:txBody>
      </p:sp>
      <p:sp>
        <p:nvSpPr>
          <p:cNvPr id="4" name="正方形/長方形 3">
            <a:extLst>
              <a:ext uri="{FF2B5EF4-FFF2-40B4-BE49-F238E27FC236}">
                <a16:creationId xmlns:a16="http://schemas.microsoft.com/office/drawing/2014/main" id="{578782C7-6070-7C3A-DAB7-3101F4C6ED5C}"/>
              </a:ext>
            </a:extLst>
          </p:cNvPr>
          <p:cNvSpPr/>
          <p:nvPr/>
        </p:nvSpPr>
        <p:spPr>
          <a:xfrm>
            <a:off x="682560" y="1143635"/>
            <a:ext cx="10540261" cy="552895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
        <p:nvSpPr>
          <p:cNvPr id="3" name="字幕 2">
            <a:extLst>
              <a:ext uri="{FF2B5EF4-FFF2-40B4-BE49-F238E27FC236}">
                <a16:creationId xmlns:a16="http://schemas.microsoft.com/office/drawing/2014/main" id="{EF422FEA-2F34-70ED-56A9-01A65A2AD142}"/>
              </a:ext>
            </a:extLst>
          </p:cNvPr>
          <p:cNvSpPr>
            <a:spLocks noGrp="1"/>
          </p:cNvSpPr>
          <p:nvPr>
            <p:ph type="subTitle" idx="1"/>
          </p:nvPr>
        </p:nvSpPr>
        <p:spPr>
          <a:xfrm>
            <a:off x="682560" y="1143635"/>
            <a:ext cx="9391483" cy="5446283"/>
          </a:xfrm>
        </p:spPr>
        <p:txBody>
          <a:bodyPr>
            <a:normAutofit/>
          </a:bodyPr>
          <a:lstStyle/>
          <a:p>
            <a:pPr algn="l"/>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a:t>
            </a:r>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チェリー・ダイヤモンドの数を数える</a:t>
            </a:r>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実行内容：</a:t>
            </a:r>
            <a:r>
              <a:rPr lang="en-US" altLang="ja-JP" sz="1200" dirty="0">
                <a:latin typeface="メイリオ" panose="020B0604030504040204" pitchFamily="50" charset="-128"/>
                <a:ea typeface="メイリオ" panose="020B0604030504040204" pitchFamily="50" charset="-128"/>
              </a:rPr>
              <a:t>symbols</a:t>
            </a:r>
            <a:r>
              <a:rPr lang="ja-JP" altLang="en-US" sz="1200" dirty="0">
                <a:latin typeface="メイリオ" panose="020B0604030504040204" pitchFamily="50" charset="-128"/>
                <a:ea typeface="メイリオ" panose="020B0604030504040204" pitchFamily="50" charset="-128"/>
              </a:rPr>
              <a:t>が</a:t>
            </a:r>
            <a:r>
              <a:rPr lang="en-US" altLang="ja-JP" sz="1200" dirty="0">
                <a:latin typeface="メイリオ" panose="020B0604030504040204" pitchFamily="50" charset="-128"/>
                <a:ea typeface="メイリオ" panose="020B0604030504040204" pitchFamily="50" charset="-128"/>
              </a:rPr>
              <a:t>C,DD</a:t>
            </a:r>
            <a:r>
              <a:rPr lang="ja-JP" altLang="en-US" sz="1200" dirty="0">
                <a:latin typeface="メイリオ" panose="020B0604030504040204" pitchFamily="50" charset="-128"/>
                <a:ea typeface="メイリオ" panose="020B0604030504040204" pitchFamily="50" charset="-128"/>
              </a:rPr>
              <a:t>である要素を数える</a:t>
            </a:r>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kumimoji="1" lang="en-US" altLang="ja-JP" sz="1200" dirty="0">
              <a:latin typeface="メイリオ" panose="020B0604030504040204" pitchFamily="50" charset="-128"/>
              <a:ea typeface="メイリオ" panose="020B0604030504040204" pitchFamily="50" charset="-128"/>
            </a:endParaRPr>
          </a:p>
          <a:p>
            <a:pPr algn="l"/>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チェリーの数に合わせて賞金計算</a:t>
            </a:r>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実行内容</a:t>
            </a:r>
            <a:r>
              <a:rPr lang="en-US" altLang="ja-JP" sz="1200" dirty="0">
                <a:latin typeface="メイリオ" panose="020B0604030504040204" pitchFamily="50" charset="-128"/>
                <a:ea typeface="メイリオ" panose="020B0604030504040204" pitchFamily="50" charset="-128"/>
              </a:rPr>
              <a:t>:</a:t>
            </a:r>
            <a:r>
              <a:rPr lang="ja-JP" altLang="en-US" sz="1200" dirty="0">
                <a:latin typeface="メイリオ" panose="020B0604030504040204" pitchFamily="50" charset="-128"/>
                <a:ea typeface="メイリオ" panose="020B0604030504040204" pitchFamily="50" charset="-128"/>
              </a:rPr>
              <a:t>ルックアップテーブルを利用して場合分け・代入をする</a:t>
            </a:r>
            <a:endParaRPr lang="en-US" altLang="ja-JP" sz="1200" dirty="0">
              <a:latin typeface="メイリオ" panose="020B0604030504040204" pitchFamily="50" charset="-128"/>
              <a:ea typeface="メイリオ" panose="020B0604030504040204" pitchFamily="50" charset="-128"/>
            </a:endParaRPr>
          </a:p>
          <a:p>
            <a:pPr algn="l"/>
            <a:r>
              <a:rPr lang="en-US" altLang="ja-JP" sz="1200" dirty="0" err="1">
                <a:latin typeface="メイリオ" panose="020B0604030504040204" pitchFamily="50" charset="-128"/>
                <a:ea typeface="メイリオ" panose="020B0604030504040204" pitchFamily="50" charset="-128"/>
              </a:rPr>
              <a:t>cheries</a:t>
            </a:r>
            <a:r>
              <a:rPr lang="en-US" altLang="ja-JP" sz="1200" dirty="0">
                <a:latin typeface="メイリオ" panose="020B0604030504040204" pitchFamily="50" charset="-128"/>
                <a:ea typeface="メイリオ" panose="020B0604030504040204" pitchFamily="50" charset="-128"/>
              </a:rPr>
              <a:t> == </a:t>
            </a:r>
            <a:r>
              <a:rPr lang="ja-JP" altLang="en-US" sz="1200" dirty="0">
                <a:latin typeface="メイリオ" panose="020B0604030504040204" pitchFamily="50" charset="-128"/>
                <a:ea typeface="メイリオ" panose="020B0604030504040204" pitchFamily="50" charset="-128"/>
              </a:rPr>
              <a:t>０ のとき → </a:t>
            </a:r>
            <a:r>
              <a:rPr lang="en-US" altLang="ja-JP" sz="1200" dirty="0">
                <a:latin typeface="メイリオ" panose="020B0604030504040204" pitchFamily="50" charset="-128"/>
                <a:ea typeface="メイリオ" panose="020B0604030504040204" pitchFamily="50" charset="-128"/>
              </a:rPr>
              <a:t>prize &lt;-</a:t>
            </a:r>
            <a:r>
              <a:rPr lang="ja-JP" altLang="en-US" sz="1200" dirty="0">
                <a:latin typeface="メイリオ" panose="020B0604030504040204" pitchFamily="50" charset="-128"/>
                <a:ea typeface="メイリオ" panose="020B0604030504040204" pitchFamily="50" charset="-128"/>
              </a:rPr>
              <a:t>０</a:t>
            </a:r>
            <a:r>
              <a:rPr lang="en-US" altLang="ja-JP" sz="1200" dirty="0">
                <a:latin typeface="メイリオ" panose="020B0604030504040204" pitchFamily="50" charset="-128"/>
                <a:ea typeface="メイリオ" panose="020B0604030504040204" pitchFamily="50" charset="-128"/>
              </a:rPr>
              <a:t>		c(0,2,5)</a:t>
            </a:r>
            <a:r>
              <a:rPr lang="ja-JP" altLang="en-US" sz="1200" dirty="0">
                <a:latin typeface="メイリオ" panose="020B0604030504040204" pitchFamily="50" charset="-128"/>
                <a:ea typeface="メイリオ" panose="020B0604030504040204" pitchFamily="50" charset="-128"/>
              </a:rPr>
              <a:t> の１</a:t>
            </a:r>
            <a:r>
              <a:rPr lang="en-US" altLang="ja-JP" sz="1200" dirty="0">
                <a:latin typeface="メイリオ" panose="020B0604030504040204" pitchFamily="50" charset="-128"/>
                <a:ea typeface="メイリオ" panose="020B0604030504040204" pitchFamily="50" charset="-128"/>
              </a:rPr>
              <a:t>(cherries+1)</a:t>
            </a:r>
            <a:r>
              <a:rPr lang="ja-JP" altLang="en-US" sz="1200" dirty="0">
                <a:latin typeface="メイリオ" panose="020B0604030504040204" pitchFamily="50" charset="-128"/>
                <a:ea typeface="メイリオ" panose="020B0604030504040204" pitchFamily="50" charset="-128"/>
              </a:rPr>
              <a:t>番目の要素</a:t>
            </a:r>
            <a:endParaRPr lang="en-US" altLang="ja-JP" sz="1200" dirty="0">
              <a:latin typeface="メイリオ" panose="020B0604030504040204" pitchFamily="50" charset="-128"/>
              <a:ea typeface="メイリオ" panose="020B0604030504040204" pitchFamily="50" charset="-128"/>
            </a:endParaRPr>
          </a:p>
          <a:p>
            <a:pPr algn="l"/>
            <a:r>
              <a:rPr lang="en-US" altLang="ja-JP" sz="1200" dirty="0" err="1">
                <a:latin typeface="メイリオ" panose="020B0604030504040204" pitchFamily="50" charset="-128"/>
                <a:ea typeface="メイリオ" panose="020B0604030504040204" pitchFamily="50" charset="-128"/>
              </a:rPr>
              <a:t>cheries</a:t>
            </a:r>
            <a:r>
              <a:rPr lang="en-US" altLang="ja-JP" sz="1200" dirty="0">
                <a:latin typeface="メイリオ" panose="020B0604030504040204" pitchFamily="50" charset="-128"/>
                <a:ea typeface="メイリオ" panose="020B0604030504040204" pitchFamily="50" charset="-128"/>
              </a:rPr>
              <a:t> == </a:t>
            </a:r>
            <a:r>
              <a:rPr lang="ja-JP" altLang="en-US" sz="1200" dirty="0">
                <a:latin typeface="メイリオ" panose="020B0604030504040204" pitchFamily="50" charset="-128"/>
                <a:ea typeface="メイリオ" panose="020B0604030504040204" pitchFamily="50" charset="-128"/>
              </a:rPr>
              <a:t>１ のとき → </a:t>
            </a:r>
            <a:r>
              <a:rPr lang="en-US" altLang="ja-JP" sz="1200" dirty="0">
                <a:latin typeface="メイリオ" panose="020B0604030504040204" pitchFamily="50" charset="-128"/>
                <a:ea typeface="メイリオ" panose="020B0604030504040204" pitchFamily="50" charset="-128"/>
              </a:rPr>
              <a:t>prize &lt;- 2		c(0,2,5) </a:t>
            </a:r>
            <a:r>
              <a:rPr lang="ja-JP" altLang="en-US" sz="1200" dirty="0">
                <a:latin typeface="メイリオ" panose="020B0604030504040204" pitchFamily="50" charset="-128"/>
                <a:ea typeface="メイリオ" panose="020B0604030504040204" pitchFamily="50" charset="-128"/>
              </a:rPr>
              <a:t>の２</a:t>
            </a:r>
            <a:r>
              <a:rPr lang="en-US" altLang="ja-JP" sz="1200" dirty="0">
                <a:latin typeface="メイリオ" panose="020B0604030504040204" pitchFamily="50" charset="-128"/>
                <a:ea typeface="メイリオ" panose="020B0604030504040204" pitchFamily="50" charset="-128"/>
              </a:rPr>
              <a:t>(cherries+1)</a:t>
            </a:r>
            <a:r>
              <a:rPr lang="ja-JP" altLang="en-US" sz="1200" dirty="0">
                <a:latin typeface="メイリオ" panose="020B0604030504040204" pitchFamily="50" charset="-128"/>
                <a:ea typeface="メイリオ" panose="020B0604030504040204" pitchFamily="50" charset="-128"/>
              </a:rPr>
              <a:t>番目の要素</a:t>
            </a:r>
            <a:endParaRPr lang="en-US" altLang="ja-JP" sz="1200" dirty="0">
              <a:latin typeface="メイリオ" panose="020B0604030504040204" pitchFamily="50" charset="-128"/>
              <a:ea typeface="メイリオ" panose="020B0604030504040204" pitchFamily="50" charset="-128"/>
            </a:endParaRPr>
          </a:p>
          <a:p>
            <a:pPr algn="l"/>
            <a:r>
              <a:rPr lang="en-US" altLang="ja-JP" sz="1200" dirty="0" err="1">
                <a:latin typeface="メイリオ" panose="020B0604030504040204" pitchFamily="50" charset="-128"/>
                <a:ea typeface="メイリオ" panose="020B0604030504040204" pitchFamily="50" charset="-128"/>
              </a:rPr>
              <a:t>cheries</a:t>
            </a:r>
            <a:r>
              <a:rPr lang="en-US" altLang="ja-JP" sz="1200" dirty="0">
                <a:latin typeface="メイリオ" panose="020B0604030504040204" pitchFamily="50" charset="-128"/>
                <a:ea typeface="メイリオ" panose="020B0604030504040204" pitchFamily="50" charset="-128"/>
              </a:rPr>
              <a:t> == </a:t>
            </a:r>
            <a:r>
              <a:rPr lang="ja-JP" altLang="en-US" sz="1200" dirty="0">
                <a:latin typeface="メイリオ" panose="020B0604030504040204" pitchFamily="50" charset="-128"/>
                <a:ea typeface="メイリオ" panose="020B0604030504040204" pitchFamily="50" charset="-128"/>
              </a:rPr>
              <a:t>２ のとき → </a:t>
            </a:r>
            <a:r>
              <a:rPr lang="en-US" altLang="ja-JP" sz="1200" dirty="0" err="1">
                <a:latin typeface="メイリオ" panose="020B0604030504040204" pitchFamily="50" charset="-128"/>
                <a:ea typeface="メイリオ" panose="020B0604030504040204" pitchFamily="50" charset="-128"/>
              </a:rPr>
              <a:t>proze</a:t>
            </a:r>
            <a:r>
              <a:rPr lang="en-US" altLang="ja-JP" sz="1200" dirty="0">
                <a:latin typeface="メイリオ" panose="020B0604030504040204" pitchFamily="50" charset="-128"/>
                <a:ea typeface="メイリオ" panose="020B0604030504040204" pitchFamily="50" charset="-128"/>
              </a:rPr>
              <a:t> &lt;- 5		c(0,2,5) </a:t>
            </a:r>
            <a:r>
              <a:rPr lang="ja-JP" altLang="en-US" sz="1200" dirty="0">
                <a:latin typeface="メイリオ" panose="020B0604030504040204" pitchFamily="50" charset="-128"/>
                <a:ea typeface="メイリオ" panose="020B0604030504040204" pitchFamily="50" charset="-128"/>
              </a:rPr>
              <a:t>の２</a:t>
            </a:r>
            <a:r>
              <a:rPr lang="en-US" altLang="ja-JP" sz="1200" dirty="0">
                <a:latin typeface="メイリオ" panose="020B0604030504040204" pitchFamily="50" charset="-128"/>
                <a:ea typeface="メイリオ" panose="020B0604030504040204" pitchFamily="50" charset="-128"/>
              </a:rPr>
              <a:t>(cherries+1)</a:t>
            </a:r>
            <a:r>
              <a:rPr lang="ja-JP" altLang="en-US" sz="1200" dirty="0">
                <a:latin typeface="メイリオ" panose="020B0604030504040204" pitchFamily="50" charset="-128"/>
                <a:ea typeface="メイリオ" panose="020B0604030504040204" pitchFamily="50" charset="-128"/>
              </a:rPr>
              <a:t>番目の要素</a:t>
            </a:r>
            <a:endParaRPr lang="en-US" altLang="ja-JP" sz="1200" dirty="0">
              <a:latin typeface="メイリオ" panose="020B0604030504040204" pitchFamily="50" charset="-128"/>
              <a:ea typeface="メイリオ" panose="020B0604030504040204" pitchFamily="50" charset="-128"/>
            </a:endParaRPr>
          </a:p>
          <a:p>
            <a:pPr algn="l"/>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＃ダイヤの数に合わせて賞金計算</a:t>
            </a:r>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実行内容：ダイヤモンド１つあたり賞金２倍にする</a:t>
            </a:r>
            <a:endParaRPr lang="en-US" altLang="ja-JP" sz="1200" dirty="0">
              <a:latin typeface="メイリオ" panose="020B0604030504040204" pitchFamily="50" charset="-128"/>
              <a:ea typeface="メイリオ" panose="020B0604030504040204" pitchFamily="50" charset="-128"/>
            </a:endParaRPr>
          </a:p>
          <a:p>
            <a:pPr algn="l"/>
            <a:r>
              <a:rPr lang="en-US" altLang="ja-JP" sz="1200" dirty="0">
                <a:latin typeface="メイリオ" panose="020B0604030504040204" pitchFamily="50" charset="-128"/>
                <a:ea typeface="メイリオ" panose="020B0604030504040204" pitchFamily="50" charset="-128"/>
              </a:rPr>
              <a:t>	</a:t>
            </a:r>
            <a:r>
              <a:rPr lang="ja-JP" altLang="en-US" sz="1200" dirty="0">
                <a:latin typeface="メイリオ" panose="020B0604030504040204" pitchFamily="50" charset="-128"/>
                <a:ea typeface="メイリオ" panose="020B0604030504040204" pitchFamily="50" charset="-128"/>
              </a:rPr>
              <a:t>→賞金に２</a:t>
            </a:r>
            <a:r>
              <a:rPr lang="en-US" altLang="ja-JP" sz="1200" dirty="0">
                <a:latin typeface="メイリオ" panose="020B0604030504040204" pitchFamily="50" charset="-128"/>
                <a:ea typeface="メイリオ" panose="020B0604030504040204" pitchFamily="50" charset="-128"/>
              </a:rPr>
              <a:t>^</a:t>
            </a:r>
            <a:r>
              <a:rPr lang="en-US" altLang="ja-JP" sz="1200" dirty="0" err="1">
                <a:latin typeface="メイリオ" panose="020B0604030504040204" pitchFamily="50" charset="-128"/>
                <a:ea typeface="メイリオ" panose="020B0604030504040204" pitchFamily="50" charset="-128"/>
              </a:rPr>
              <a:t>daiamonds</a:t>
            </a:r>
            <a:r>
              <a:rPr lang="ja-JP" altLang="en-US" sz="1200" dirty="0">
                <a:latin typeface="メイリオ" panose="020B0604030504040204" pitchFamily="50" charset="-128"/>
                <a:ea typeface="メイリオ" panose="020B0604030504040204" pitchFamily="50" charset="-128"/>
              </a:rPr>
              <a:t>をかける</a:t>
            </a:r>
            <a:endParaRPr lang="en-US" altLang="ja-JP" sz="1200" dirty="0">
              <a:latin typeface="メイリオ" panose="020B0604030504040204" pitchFamily="50" charset="-128"/>
              <a:ea typeface="メイリオ" panose="020B0604030504040204" pitchFamily="50" charset="-128"/>
            </a:endParaRPr>
          </a:p>
        </p:txBody>
      </p:sp>
      <p:cxnSp>
        <p:nvCxnSpPr>
          <p:cNvPr id="13" name="直線矢印コネクタ 12">
            <a:extLst>
              <a:ext uri="{FF2B5EF4-FFF2-40B4-BE49-F238E27FC236}">
                <a16:creationId xmlns:a16="http://schemas.microsoft.com/office/drawing/2014/main" id="{74FF8975-518B-E7D8-023D-CCCCAEBC6F95}"/>
              </a:ext>
            </a:extLst>
          </p:cNvPr>
          <p:cNvCxnSpPr>
            <a:cxnSpLocks/>
          </p:cNvCxnSpPr>
          <p:nvPr/>
        </p:nvCxnSpPr>
        <p:spPr>
          <a:xfrm>
            <a:off x="3773384" y="2097371"/>
            <a:ext cx="581891"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1" name="図 10">
            <a:extLst>
              <a:ext uri="{FF2B5EF4-FFF2-40B4-BE49-F238E27FC236}">
                <a16:creationId xmlns:a16="http://schemas.microsoft.com/office/drawing/2014/main" id="{2B27AECC-8E7C-47CD-2977-B689E504B6F7}"/>
              </a:ext>
            </a:extLst>
          </p:cNvPr>
          <p:cNvPicPr>
            <a:picLocks noChangeAspect="1"/>
          </p:cNvPicPr>
          <p:nvPr/>
        </p:nvPicPr>
        <p:blipFill>
          <a:blip r:embed="rId2"/>
          <a:stretch>
            <a:fillRect/>
          </a:stretch>
        </p:blipFill>
        <p:spPr>
          <a:xfrm>
            <a:off x="4529155" y="1613784"/>
            <a:ext cx="2248214" cy="905001"/>
          </a:xfrm>
          <a:prstGeom prst="rect">
            <a:avLst/>
          </a:prstGeom>
          <a:ln>
            <a:solidFill>
              <a:schemeClr val="bg2">
                <a:lumMod val="90000"/>
              </a:schemeClr>
            </a:solidFill>
          </a:ln>
        </p:spPr>
      </p:pic>
      <p:sp>
        <p:nvSpPr>
          <p:cNvPr id="21" name="正方形/長方形 20">
            <a:extLst>
              <a:ext uri="{FF2B5EF4-FFF2-40B4-BE49-F238E27FC236}">
                <a16:creationId xmlns:a16="http://schemas.microsoft.com/office/drawing/2014/main" id="{4A97FC9F-9682-C1B4-9FC8-1265618F87C9}"/>
              </a:ext>
            </a:extLst>
          </p:cNvPr>
          <p:cNvSpPr/>
          <p:nvPr/>
        </p:nvSpPr>
        <p:spPr>
          <a:xfrm>
            <a:off x="7006285" y="1613784"/>
            <a:ext cx="2391170" cy="50131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000" dirty="0">
                <a:solidFill>
                  <a:schemeClr val="tx1"/>
                </a:solidFill>
                <a:latin typeface="メイリオ" panose="020B0604030504040204" pitchFamily="50" charset="-128"/>
                <a:ea typeface="メイリオ" panose="020B0604030504040204" pitchFamily="50" charset="-128"/>
              </a:rPr>
              <a:t>sum()</a:t>
            </a:r>
          </a:p>
          <a:p>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中身の</a:t>
            </a:r>
            <a:r>
              <a:rPr lang="en-US" altLang="ja-JP" sz="1000" dirty="0">
                <a:solidFill>
                  <a:schemeClr val="tx1"/>
                </a:solidFill>
                <a:latin typeface="メイリオ" panose="020B0604030504040204" pitchFamily="50" charset="-128"/>
                <a:ea typeface="メイリオ" panose="020B0604030504040204" pitchFamily="50" charset="-128"/>
              </a:rPr>
              <a:t>TRUE</a:t>
            </a:r>
            <a:r>
              <a:rPr lang="ja-JP" altLang="en-US" sz="1000" dirty="0">
                <a:solidFill>
                  <a:schemeClr val="tx1"/>
                </a:solidFill>
                <a:latin typeface="メイリオ" panose="020B0604030504040204" pitchFamily="50" charset="-128"/>
                <a:ea typeface="メイリオ" panose="020B0604030504040204" pitchFamily="50" charset="-128"/>
              </a:rPr>
              <a:t>をと</a:t>
            </a:r>
            <a:r>
              <a:rPr lang="en-US" altLang="ja-JP" sz="1000" dirty="0">
                <a:solidFill>
                  <a:schemeClr val="tx1"/>
                </a:solidFill>
                <a:latin typeface="メイリオ" panose="020B0604030504040204" pitchFamily="50" charset="-128"/>
                <a:ea typeface="メイリオ" panose="020B0604030504040204" pitchFamily="50" charset="-128"/>
              </a:rPr>
              <a:t>FALSE</a:t>
            </a:r>
            <a:r>
              <a:rPr lang="ja-JP" altLang="en-US" sz="1000" dirty="0">
                <a:solidFill>
                  <a:schemeClr val="tx1"/>
                </a:solidFill>
                <a:latin typeface="メイリオ" panose="020B0604030504040204" pitchFamily="50" charset="-128"/>
                <a:ea typeface="メイリオ" panose="020B0604030504040204" pitchFamily="50" charset="-128"/>
              </a:rPr>
              <a:t>を１と０に変換して合計する</a:t>
            </a:r>
            <a:endParaRPr lang="en-US" altLang="ja-JP" sz="1000" dirty="0">
              <a:solidFill>
                <a:schemeClr val="tx1"/>
              </a:solidFill>
              <a:latin typeface="メイリオ" panose="020B0604030504040204" pitchFamily="50" charset="-128"/>
              <a:ea typeface="メイリオ" panose="020B0604030504040204" pitchFamily="50" charset="-128"/>
            </a:endParaRPr>
          </a:p>
        </p:txBody>
      </p:sp>
      <p:pic>
        <p:nvPicPr>
          <p:cNvPr id="26" name="図 25">
            <a:extLst>
              <a:ext uri="{FF2B5EF4-FFF2-40B4-BE49-F238E27FC236}">
                <a16:creationId xmlns:a16="http://schemas.microsoft.com/office/drawing/2014/main" id="{EA16A4A2-10E1-0777-6237-1FB6EDDE4008}"/>
              </a:ext>
            </a:extLst>
          </p:cNvPr>
          <p:cNvPicPr>
            <a:picLocks noChangeAspect="1"/>
          </p:cNvPicPr>
          <p:nvPr/>
        </p:nvPicPr>
        <p:blipFill>
          <a:blip r:embed="rId3"/>
          <a:stretch>
            <a:fillRect/>
          </a:stretch>
        </p:blipFill>
        <p:spPr>
          <a:xfrm>
            <a:off x="958934" y="2130799"/>
            <a:ext cx="2514951" cy="190527"/>
          </a:xfrm>
          <a:prstGeom prst="rect">
            <a:avLst/>
          </a:prstGeom>
          <a:ln>
            <a:solidFill>
              <a:schemeClr val="bg2">
                <a:lumMod val="90000"/>
              </a:schemeClr>
            </a:solidFill>
          </a:ln>
        </p:spPr>
      </p:pic>
      <p:pic>
        <p:nvPicPr>
          <p:cNvPr id="28" name="図 27">
            <a:extLst>
              <a:ext uri="{FF2B5EF4-FFF2-40B4-BE49-F238E27FC236}">
                <a16:creationId xmlns:a16="http://schemas.microsoft.com/office/drawing/2014/main" id="{4CE016A1-AB5A-013D-B013-0A36AE93E91E}"/>
              </a:ext>
            </a:extLst>
          </p:cNvPr>
          <p:cNvPicPr>
            <a:picLocks noChangeAspect="1"/>
          </p:cNvPicPr>
          <p:nvPr/>
        </p:nvPicPr>
        <p:blipFill>
          <a:blip r:embed="rId4"/>
          <a:stretch>
            <a:fillRect/>
          </a:stretch>
        </p:blipFill>
        <p:spPr>
          <a:xfrm>
            <a:off x="958934" y="1913864"/>
            <a:ext cx="2429214" cy="152421"/>
          </a:xfrm>
          <a:prstGeom prst="rect">
            <a:avLst/>
          </a:prstGeom>
          <a:ln>
            <a:solidFill>
              <a:schemeClr val="bg2">
                <a:lumMod val="90000"/>
              </a:schemeClr>
            </a:solidFill>
          </a:ln>
        </p:spPr>
      </p:pic>
      <p:pic>
        <p:nvPicPr>
          <p:cNvPr id="30" name="図 29">
            <a:extLst>
              <a:ext uri="{FF2B5EF4-FFF2-40B4-BE49-F238E27FC236}">
                <a16:creationId xmlns:a16="http://schemas.microsoft.com/office/drawing/2014/main" id="{A7C8B6A2-C3A7-61E4-12B3-16C0914A992C}"/>
              </a:ext>
            </a:extLst>
          </p:cNvPr>
          <p:cNvPicPr>
            <a:picLocks noChangeAspect="1"/>
          </p:cNvPicPr>
          <p:nvPr/>
        </p:nvPicPr>
        <p:blipFill>
          <a:blip r:embed="rId5"/>
          <a:stretch>
            <a:fillRect/>
          </a:stretch>
        </p:blipFill>
        <p:spPr>
          <a:xfrm>
            <a:off x="958934" y="4455701"/>
            <a:ext cx="2286319" cy="161948"/>
          </a:xfrm>
          <a:prstGeom prst="rect">
            <a:avLst/>
          </a:prstGeom>
          <a:ln>
            <a:solidFill>
              <a:schemeClr val="bg2">
                <a:lumMod val="90000"/>
              </a:schemeClr>
            </a:solidFill>
          </a:ln>
        </p:spPr>
      </p:pic>
      <p:sp>
        <p:nvSpPr>
          <p:cNvPr id="31" name="正方形/長方形 30">
            <a:extLst>
              <a:ext uri="{FF2B5EF4-FFF2-40B4-BE49-F238E27FC236}">
                <a16:creationId xmlns:a16="http://schemas.microsoft.com/office/drawing/2014/main" id="{3085FE81-175D-265A-BF00-484F1BA8AAC4}"/>
              </a:ext>
            </a:extLst>
          </p:cNvPr>
          <p:cNvSpPr/>
          <p:nvPr/>
        </p:nvSpPr>
        <p:spPr>
          <a:xfrm>
            <a:off x="7727923" y="2853023"/>
            <a:ext cx="3293415" cy="1151954"/>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000" dirty="0">
                <a:solidFill>
                  <a:schemeClr val="tx1"/>
                </a:solidFill>
                <a:latin typeface="メイリオ" panose="020B0604030504040204" pitchFamily="50" charset="-128"/>
                <a:ea typeface="メイリオ" panose="020B0604030504040204" pitchFamily="50" charset="-128"/>
              </a:rPr>
              <a:t>ルックアップテーブルと</a:t>
            </a:r>
            <a:r>
              <a:rPr lang="en-US" altLang="ja-JP" sz="1000" dirty="0">
                <a:solidFill>
                  <a:schemeClr val="tx1"/>
                </a:solidFill>
                <a:latin typeface="メイリオ" panose="020B0604030504040204" pitchFamily="50" charset="-128"/>
                <a:ea typeface="メイリオ" panose="020B0604030504040204" pitchFamily="50" charset="-128"/>
              </a:rPr>
              <a:t>if</a:t>
            </a:r>
            <a:r>
              <a:rPr lang="ja-JP" altLang="en-US" sz="1000" dirty="0">
                <a:solidFill>
                  <a:schemeClr val="tx1"/>
                </a:solidFill>
                <a:latin typeface="メイリオ" panose="020B0604030504040204" pitchFamily="50" charset="-128"/>
                <a:ea typeface="メイリオ" panose="020B0604030504040204" pitchFamily="50" charset="-128"/>
              </a:rPr>
              <a:t>ツリーの使い分け</a:t>
            </a:r>
            <a:endParaRPr lang="en-US" altLang="ja-JP" sz="1000" dirty="0">
              <a:solidFill>
                <a:schemeClr val="tx1"/>
              </a:solidFill>
              <a:latin typeface="メイリオ" panose="020B0604030504040204" pitchFamily="50" charset="-128"/>
              <a:ea typeface="メイリオ" panose="020B0604030504040204" pitchFamily="50" charset="-128"/>
            </a:endParaRPr>
          </a:p>
          <a:p>
            <a:endParaRPr lang="en-US" altLang="ja-JP" sz="1000" dirty="0">
              <a:solidFill>
                <a:schemeClr val="tx1"/>
              </a:solidFill>
              <a:latin typeface="メイリオ" panose="020B0604030504040204" pitchFamily="50" charset="-128"/>
              <a:ea typeface="メイリオ" panose="020B0604030504040204" pitchFamily="50" charset="-128"/>
            </a:endParaRPr>
          </a:p>
          <a:p>
            <a:r>
              <a:rPr lang="ja-JP" altLang="en-US" sz="1000" dirty="0">
                <a:solidFill>
                  <a:schemeClr val="tx1"/>
                </a:solidFill>
                <a:latin typeface="メイリオ" panose="020B0604030504040204" pitchFamily="50" charset="-128"/>
                <a:ea typeface="メイリオ" panose="020B0604030504040204" pitchFamily="50" charset="-128"/>
              </a:rPr>
              <a:t>ルックアップテーブル</a:t>
            </a:r>
            <a:endParaRPr lang="en-US" altLang="ja-JP" sz="1000" dirty="0">
              <a:solidFill>
                <a:schemeClr val="tx1"/>
              </a:solidFill>
              <a:latin typeface="メイリオ" panose="020B0604030504040204" pitchFamily="50" charset="-128"/>
              <a:ea typeface="メイリオ" panose="020B0604030504040204" pitchFamily="50" charset="-128"/>
            </a:endParaRPr>
          </a:p>
          <a:p>
            <a:r>
              <a:rPr lang="ja-JP" altLang="en-US" sz="1000" dirty="0">
                <a:solidFill>
                  <a:schemeClr val="tx1"/>
                </a:solidFill>
                <a:latin typeface="メイリオ" panose="020B0604030504040204" pitchFamily="50" charset="-128"/>
                <a:ea typeface="メイリオ" panose="020B0604030504040204" pitchFamily="50" charset="-128"/>
              </a:rPr>
              <a:t>ツリー個々の分岐が異なる値を割り当てるとき</a:t>
            </a:r>
            <a:endParaRPr lang="en-US" altLang="ja-JP" sz="1000" dirty="0">
              <a:solidFill>
                <a:schemeClr val="tx1"/>
              </a:solidFill>
              <a:latin typeface="メイリオ" panose="020B0604030504040204" pitchFamily="50" charset="-128"/>
              <a:ea typeface="メイリオ" panose="020B0604030504040204" pitchFamily="50" charset="-128"/>
            </a:endParaRPr>
          </a:p>
          <a:p>
            <a:endParaRPr lang="en-US" altLang="ja-JP" sz="1000" dirty="0">
              <a:solidFill>
                <a:schemeClr val="tx1"/>
              </a:solidFill>
              <a:latin typeface="メイリオ" panose="020B0604030504040204" pitchFamily="50" charset="-128"/>
              <a:ea typeface="メイリオ" panose="020B0604030504040204" pitchFamily="50" charset="-128"/>
            </a:endParaRPr>
          </a:p>
          <a:p>
            <a:r>
              <a:rPr lang="en-US" altLang="ja-JP" sz="1000" dirty="0">
                <a:solidFill>
                  <a:schemeClr val="tx1"/>
                </a:solidFill>
                <a:latin typeface="メイリオ" panose="020B0604030504040204" pitchFamily="50" charset="-128"/>
                <a:ea typeface="メイリオ" panose="020B0604030504040204" pitchFamily="50" charset="-128"/>
              </a:rPr>
              <a:t>If</a:t>
            </a:r>
            <a:r>
              <a:rPr lang="ja-JP" altLang="en-US" sz="1000" dirty="0">
                <a:solidFill>
                  <a:schemeClr val="tx1"/>
                </a:solidFill>
                <a:latin typeface="メイリオ" panose="020B0604030504040204" pitchFamily="50" charset="-128"/>
                <a:ea typeface="メイリオ" panose="020B0604030504040204" pitchFamily="50" charset="-128"/>
              </a:rPr>
              <a:t>ツリー</a:t>
            </a:r>
            <a:endParaRPr lang="en-US" altLang="ja-JP" sz="1000" dirty="0">
              <a:solidFill>
                <a:schemeClr val="tx1"/>
              </a:solidFill>
              <a:latin typeface="メイリオ" panose="020B0604030504040204" pitchFamily="50" charset="-128"/>
              <a:ea typeface="メイリオ" panose="020B0604030504040204" pitchFamily="50" charset="-128"/>
            </a:endParaRPr>
          </a:p>
          <a:p>
            <a:r>
              <a:rPr lang="ja-JP" altLang="en-US" sz="1000" dirty="0">
                <a:solidFill>
                  <a:schemeClr val="tx1"/>
                </a:solidFill>
                <a:latin typeface="メイリオ" panose="020B0604030504040204" pitchFamily="50" charset="-128"/>
                <a:ea typeface="メイリオ" panose="020B0604030504040204" pitchFamily="50" charset="-128"/>
              </a:rPr>
              <a:t>個々のツリーに対して異なる実行をするとき</a:t>
            </a:r>
            <a:endParaRPr lang="en-US" altLang="ja-JP" sz="1000"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E99328AF-B8D6-82EA-B526-1E2BA0C6A3A2}"/>
              </a:ext>
            </a:extLst>
          </p:cNvPr>
          <p:cNvSpPr/>
          <p:nvPr/>
        </p:nvSpPr>
        <p:spPr>
          <a:xfrm>
            <a:off x="7727924" y="4166924"/>
            <a:ext cx="3293415" cy="1077292"/>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000" dirty="0">
                <a:solidFill>
                  <a:schemeClr val="tx1"/>
                </a:solidFill>
                <a:latin typeface="メイリオ" panose="020B0604030504040204" pitchFamily="50" charset="-128"/>
                <a:ea typeface="メイリオ" panose="020B0604030504040204" pitchFamily="50" charset="-128"/>
              </a:rPr>
              <a:t>ルックアップテーブルの使い方</a:t>
            </a:r>
            <a:endParaRPr lang="en-US" altLang="ja-JP" sz="1000" dirty="0">
              <a:solidFill>
                <a:schemeClr val="tx1"/>
              </a:solidFill>
              <a:latin typeface="メイリオ" panose="020B0604030504040204" pitchFamily="50" charset="-128"/>
              <a:ea typeface="メイリオ" panose="020B0604030504040204" pitchFamily="50" charset="-128"/>
            </a:endParaRPr>
          </a:p>
          <a:p>
            <a:endParaRPr lang="en-US" altLang="ja-JP" sz="1000" dirty="0">
              <a:solidFill>
                <a:schemeClr val="tx1"/>
              </a:solidFill>
              <a:latin typeface="メイリオ" panose="020B0604030504040204" pitchFamily="50" charset="-128"/>
              <a:ea typeface="メイリオ" panose="020B0604030504040204" pitchFamily="50" charset="-128"/>
            </a:endParaRPr>
          </a:p>
          <a:p>
            <a:r>
              <a:rPr lang="ja-JP" altLang="en-US" sz="1000" dirty="0">
                <a:solidFill>
                  <a:schemeClr val="tx1"/>
                </a:solidFill>
                <a:latin typeface="メイリオ" panose="020B0604030504040204" pitchFamily="50" charset="-128"/>
                <a:ea typeface="メイリオ" panose="020B0604030504040204" pitchFamily="50" charset="-128"/>
              </a:rPr>
              <a:t>割り当てる値をベクトルに格納する。</a:t>
            </a:r>
            <a:endParaRPr lang="en-US" altLang="ja-JP" sz="1000" dirty="0">
              <a:solidFill>
                <a:schemeClr val="tx1"/>
              </a:solidFill>
              <a:latin typeface="メイリオ" panose="020B0604030504040204" pitchFamily="50" charset="-128"/>
              <a:ea typeface="メイリオ" panose="020B0604030504040204" pitchFamily="50" charset="-128"/>
            </a:endParaRPr>
          </a:p>
          <a:p>
            <a:r>
              <a:rPr lang="ja-JP" altLang="en-US" sz="1000" dirty="0">
                <a:solidFill>
                  <a:schemeClr val="tx1"/>
                </a:solidFill>
                <a:latin typeface="メイリオ" panose="020B0604030504040204" pitchFamily="50" charset="-128"/>
                <a:ea typeface="メイリオ" panose="020B0604030504040204" pitchFamily="50" charset="-128"/>
              </a:rPr>
              <a:t>条件が文字列を使う場合、ベクトルに名前を与え、名前に基づく添字操作を利用する。条件が整数なら、整数による添え字操作を利用する。</a:t>
            </a:r>
            <a:endParaRPr lang="en-US" altLang="ja-JP" sz="1000" dirty="0">
              <a:solidFill>
                <a:schemeClr val="tx1"/>
              </a:solidFill>
              <a:latin typeface="メイリオ" panose="020B0604030504040204" pitchFamily="50" charset="-128"/>
              <a:ea typeface="メイリオ" panose="020B0604030504040204" pitchFamily="50" charset="-128"/>
            </a:endParaRPr>
          </a:p>
        </p:txBody>
      </p:sp>
      <p:pic>
        <p:nvPicPr>
          <p:cNvPr id="36" name="図 35">
            <a:extLst>
              <a:ext uri="{FF2B5EF4-FFF2-40B4-BE49-F238E27FC236}">
                <a16:creationId xmlns:a16="http://schemas.microsoft.com/office/drawing/2014/main" id="{8D818FA3-5D53-C66F-775B-5F387D726AB5}"/>
              </a:ext>
            </a:extLst>
          </p:cNvPr>
          <p:cNvPicPr>
            <a:picLocks noChangeAspect="1"/>
          </p:cNvPicPr>
          <p:nvPr/>
        </p:nvPicPr>
        <p:blipFill>
          <a:blip r:embed="rId6"/>
          <a:stretch>
            <a:fillRect/>
          </a:stretch>
        </p:blipFill>
        <p:spPr>
          <a:xfrm>
            <a:off x="906993" y="6288698"/>
            <a:ext cx="1276528" cy="209579"/>
          </a:xfrm>
          <a:prstGeom prst="rect">
            <a:avLst/>
          </a:prstGeom>
          <a:ln>
            <a:solidFill>
              <a:schemeClr val="bg2">
                <a:lumMod val="90000"/>
              </a:schemeClr>
            </a:solidFill>
          </a:ln>
        </p:spPr>
      </p:pic>
      <p:pic>
        <p:nvPicPr>
          <p:cNvPr id="42" name="図 41">
            <a:extLst>
              <a:ext uri="{FF2B5EF4-FFF2-40B4-BE49-F238E27FC236}">
                <a16:creationId xmlns:a16="http://schemas.microsoft.com/office/drawing/2014/main" id="{9488A0E4-7736-597D-E525-88A7D7260093}"/>
              </a:ext>
            </a:extLst>
          </p:cNvPr>
          <p:cNvPicPr>
            <a:picLocks noChangeAspect="1"/>
          </p:cNvPicPr>
          <p:nvPr/>
        </p:nvPicPr>
        <p:blipFill>
          <a:blip r:embed="rId7"/>
          <a:stretch>
            <a:fillRect/>
          </a:stretch>
        </p:blipFill>
        <p:spPr>
          <a:xfrm>
            <a:off x="4955761" y="4580368"/>
            <a:ext cx="2772162" cy="1714739"/>
          </a:xfrm>
          <a:prstGeom prst="rect">
            <a:avLst/>
          </a:prstGeom>
          <a:ln>
            <a:solidFill>
              <a:schemeClr val="bg2">
                <a:lumMod val="90000"/>
              </a:schemeClr>
            </a:solidFill>
          </a:ln>
        </p:spPr>
      </p:pic>
      <p:cxnSp>
        <p:nvCxnSpPr>
          <p:cNvPr id="43" name="直線矢印コネクタ 42">
            <a:extLst>
              <a:ext uri="{FF2B5EF4-FFF2-40B4-BE49-F238E27FC236}">
                <a16:creationId xmlns:a16="http://schemas.microsoft.com/office/drawing/2014/main" id="{9B97C1CF-37FD-1B6B-A2BE-78686A17432C}"/>
              </a:ext>
            </a:extLst>
          </p:cNvPr>
          <p:cNvCxnSpPr>
            <a:cxnSpLocks/>
          </p:cNvCxnSpPr>
          <p:nvPr/>
        </p:nvCxnSpPr>
        <p:spPr>
          <a:xfrm>
            <a:off x="3773383" y="4589346"/>
            <a:ext cx="1027217" cy="274754"/>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直線矢印コネクタ 44">
            <a:extLst>
              <a:ext uri="{FF2B5EF4-FFF2-40B4-BE49-F238E27FC236}">
                <a16:creationId xmlns:a16="http://schemas.microsoft.com/office/drawing/2014/main" id="{3228B8E2-63C8-0C04-807D-12FF03CC7B70}"/>
              </a:ext>
            </a:extLst>
          </p:cNvPr>
          <p:cNvCxnSpPr>
            <a:cxnSpLocks/>
          </p:cNvCxnSpPr>
          <p:nvPr/>
        </p:nvCxnSpPr>
        <p:spPr>
          <a:xfrm flipV="1">
            <a:off x="3684482" y="6146800"/>
            <a:ext cx="1116118" cy="246688"/>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CBFB3501-E5E6-622F-2025-1E8B027A9173}"/>
              </a:ext>
            </a:extLst>
          </p:cNvPr>
          <p:cNvSpPr/>
          <p:nvPr/>
        </p:nvSpPr>
        <p:spPr>
          <a:xfrm>
            <a:off x="1545257" y="6543565"/>
            <a:ext cx="2119725" cy="190527"/>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000" dirty="0">
                <a:solidFill>
                  <a:schemeClr val="tx1"/>
                </a:solidFill>
              </a:rPr>
              <a:t>最後の計算結果が戻り値となる</a:t>
            </a:r>
            <a:endParaRPr lang="en-US" altLang="ja-JP" sz="1000" dirty="0">
              <a:solidFill>
                <a:schemeClr val="tx1"/>
              </a:solidFill>
            </a:endParaRPr>
          </a:p>
        </p:txBody>
      </p:sp>
      <p:sp>
        <p:nvSpPr>
          <p:cNvPr id="48" name="楕円 47">
            <a:extLst>
              <a:ext uri="{FF2B5EF4-FFF2-40B4-BE49-F238E27FC236}">
                <a16:creationId xmlns:a16="http://schemas.microsoft.com/office/drawing/2014/main" id="{B08AA567-2D08-2D6D-609E-8626A875A9DC}"/>
              </a:ext>
            </a:extLst>
          </p:cNvPr>
          <p:cNvSpPr/>
          <p:nvPr/>
        </p:nvSpPr>
        <p:spPr>
          <a:xfrm>
            <a:off x="5653262" y="1195943"/>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ja-JP" altLang="en-US" dirty="0">
                <a:latin typeface="メイリオ" panose="020B0604030504040204" pitchFamily="50" charset="-128"/>
                <a:ea typeface="メイリオ" panose="020B0604030504040204" pitchFamily="50" charset="-128"/>
              </a:rPr>
              <a:t>７</a:t>
            </a:r>
          </a:p>
        </p:txBody>
      </p:sp>
      <p:sp>
        <p:nvSpPr>
          <p:cNvPr id="49" name="楕円 48">
            <a:extLst>
              <a:ext uri="{FF2B5EF4-FFF2-40B4-BE49-F238E27FC236}">
                <a16:creationId xmlns:a16="http://schemas.microsoft.com/office/drawing/2014/main" id="{C98A928A-0A72-F61A-D728-CD239F85EC95}"/>
              </a:ext>
            </a:extLst>
          </p:cNvPr>
          <p:cNvSpPr/>
          <p:nvPr/>
        </p:nvSpPr>
        <p:spPr>
          <a:xfrm>
            <a:off x="5973878" y="1210034"/>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ja-JP" altLang="en-US">
                <a:latin typeface="メイリオ" panose="020B0604030504040204" pitchFamily="50" charset="-128"/>
                <a:ea typeface="メイリオ" panose="020B0604030504040204" pitchFamily="50" charset="-128"/>
              </a:rPr>
              <a:t>９</a:t>
            </a:r>
            <a:endParaRPr kumimoji="1" lang="ja-JP" altLang="en-US" dirty="0">
              <a:latin typeface="メイリオ" panose="020B0604030504040204" pitchFamily="50" charset="-128"/>
              <a:ea typeface="メイリオ" panose="020B0604030504040204" pitchFamily="50" charset="-128"/>
            </a:endParaRPr>
          </a:p>
        </p:txBody>
      </p:sp>
      <p:sp>
        <p:nvSpPr>
          <p:cNvPr id="50" name="楕円 49">
            <a:extLst>
              <a:ext uri="{FF2B5EF4-FFF2-40B4-BE49-F238E27FC236}">
                <a16:creationId xmlns:a16="http://schemas.microsoft.com/office/drawing/2014/main" id="{C42E325D-BFB1-9EDC-E3AD-5794A46F700C}"/>
              </a:ext>
            </a:extLst>
          </p:cNvPr>
          <p:cNvSpPr/>
          <p:nvPr/>
        </p:nvSpPr>
        <p:spPr>
          <a:xfrm>
            <a:off x="5256179" y="2872879"/>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en-US" altLang="ja-JP" dirty="0">
                <a:latin typeface="メイリオ" panose="020B0604030504040204" pitchFamily="50" charset="-128"/>
                <a:ea typeface="メイリオ" panose="020B0604030504040204" pitchFamily="50" charset="-128"/>
              </a:rPr>
              <a:t>8</a:t>
            </a:r>
          </a:p>
        </p:txBody>
      </p:sp>
      <p:sp>
        <p:nvSpPr>
          <p:cNvPr id="51" name="楕円 50">
            <a:extLst>
              <a:ext uri="{FF2B5EF4-FFF2-40B4-BE49-F238E27FC236}">
                <a16:creationId xmlns:a16="http://schemas.microsoft.com/office/drawing/2014/main" id="{977B9171-A7E3-1BF1-0AD7-5B7A799625A7}"/>
              </a:ext>
            </a:extLst>
          </p:cNvPr>
          <p:cNvSpPr/>
          <p:nvPr/>
        </p:nvSpPr>
        <p:spPr>
          <a:xfrm>
            <a:off x="4633937" y="5482256"/>
            <a:ext cx="244244"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ja-JP" altLang="en-US">
                <a:latin typeface="メイリオ" panose="020B0604030504040204" pitchFamily="50" charset="-128"/>
                <a:ea typeface="メイリオ" panose="020B0604030504040204" pitchFamily="50" charset="-128"/>
              </a:rPr>
              <a:t>９</a:t>
            </a:r>
            <a:endParaRPr kumimoji="1"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1656560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kumimoji="1" lang="en-US" altLang="ja-JP" sz="3000" b="1" dirty="0">
                <a:solidFill>
                  <a:schemeClr val="tx1">
                    <a:lumMod val="65000"/>
                    <a:lumOff val="35000"/>
                  </a:schemeClr>
                </a:solidFill>
                <a:latin typeface="メイリオ" panose="020B0604030504040204" pitchFamily="50" charset="-128"/>
                <a:ea typeface="メイリオ" panose="020B0604030504040204" pitchFamily="50" charset="-128"/>
              </a:rPr>
              <a:t>7</a:t>
            </a:r>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章　プログラム　</a:t>
            </a:r>
            <a:r>
              <a:rPr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最終コード</a:t>
            </a:r>
            <a:endPar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661A3A95-316A-208D-1006-9B4CAF8277CA}"/>
              </a:ext>
            </a:extLst>
          </p:cNvPr>
          <p:cNvSpPr/>
          <p:nvPr/>
        </p:nvSpPr>
        <p:spPr>
          <a:xfrm>
            <a:off x="528181" y="892099"/>
            <a:ext cx="11135638" cy="5965902"/>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pic>
        <p:nvPicPr>
          <p:cNvPr id="14" name="図 13">
            <a:extLst>
              <a:ext uri="{FF2B5EF4-FFF2-40B4-BE49-F238E27FC236}">
                <a16:creationId xmlns:a16="http://schemas.microsoft.com/office/drawing/2014/main" id="{1F24A9A6-5DDE-E357-2FFA-F33E60C5B76D}"/>
              </a:ext>
            </a:extLst>
          </p:cNvPr>
          <p:cNvPicPr>
            <a:picLocks noChangeAspect="1"/>
          </p:cNvPicPr>
          <p:nvPr/>
        </p:nvPicPr>
        <p:blipFill rotWithShape="1">
          <a:blip r:embed="rId2"/>
          <a:srcRect b="5194"/>
          <a:stretch/>
        </p:blipFill>
        <p:spPr>
          <a:xfrm>
            <a:off x="969179" y="986417"/>
            <a:ext cx="6601746" cy="5843392"/>
          </a:xfrm>
          <a:prstGeom prst="rect">
            <a:avLst/>
          </a:prstGeom>
          <a:ln>
            <a:solidFill>
              <a:schemeClr val="accent4">
                <a:lumMod val="75000"/>
              </a:schemeClr>
            </a:solidFill>
          </a:ln>
        </p:spPr>
      </p:pic>
      <p:pic>
        <p:nvPicPr>
          <p:cNvPr id="16" name="図 15">
            <a:extLst>
              <a:ext uri="{FF2B5EF4-FFF2-40B4-BE49-F238E27FC236}">
                <a16:creationId xmlns:a16="http://schemas.microsoft.com/office/drawing/2014/main" id="{218FBA66-A5A7-9CAA-B246-CE0F79645A6D}"/>
              </a:ext>
            </a:extLst>
          </p:cNvPr>
          <p:cNvPicPr>
            <a:picLocks noChangeAspect="1"/>
          </p:cNvPicPr>
          <p:nvPr/>
        </p:nvPicPr>
        <p:blipFill rotWithShape="1">
          <a:blip r:embed="rId3"/>
          <a:srcRect t="17459"/>
          <a:stretch/>
        </p:blipFill>
        <p:spPr>
          <a:xfrm>
            <a:off x="9249096" y="986417"/>
            <a:ext cx="1499661" cy="5660657"/>
          </a:xfrm>
          <a:prstGeom prst="rect">
            <a:avLst/>
          </a:prstGeom>
          <a:ln>
            <a:solidFill>
              <a:schemeClr val="accent4">
                <a:lumMod val="75000"/>
              </a:schemeClr>
            </a:solidFill>
          </a:ln>
        </p:spPr>
      </p:pic>
      <p:cxnSp>
        <p:nvCxnSpPr>
          <p:cNvPr id="18" name="直線矢印コネクタ 17">
            <a:extLst>
              <a:ext uri="{FF2B5EF4-FFF2-40B4-BE49-F238E27FC236}">
                <a16:creationId xmlns:a16="http://schemas.microsoft.com/office/drawing/2014/main" id="{2C5E4660-7186-CB5E-419A-17884A25EC39}"/>
              </a:ext>
            </a:extLst>
          </p:cNvPr>
          <p:cNvCxnSpPr>
            <a:cxnSpLocks/>
          </p:cNvCxnSpPr>
          <p:nvPr/>
        </p:nvCxnSpPr>
        <p:spPr>
          <a:xfrm>
            <a:off x="8017727" y="3777488"/>
            <a:ext cx="950436"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 name="テキスト ボックス 19">
            <a:extLst>
              <a:ext uri="{FF2B5EF4-FFF2-40B4-BE49-F238E27FC236}">
                <a16:creationId xmlns:a16="http://schemas.microsoft.com/office/drawing/2014/main" id="{3195DA3D-9113-A7B9-1EE6-AABD19DE6625}"/>
              </a:ext>
            </a:extLst>
          </p:cNvPr>
          <p:cNvSpPr txBox="1"/>
          <p:nvPr/>
        </p:nvSpPr>
        <p:spPr>
          <a:xfrm>
            <a:off x="7923514" y="3385471"/>
            <a:ext cx="1185115" cy="369332"/>
          </a:xfrm>
          <a:prstGeom prst="rect">
            <a:avLst/>
          </a:prstGeom>
          <a:noFill/>
        </p:spPr>
        <p:txBody>
          <a:bodyPr wrap="square" rtlCol="0">
            <a:spAutoFit/>
          </a:bodyPr>
          <a:lstStyle/>
          <a:p>
            <a:r>
              <a:rPr kumimoji="1" lang="ja-JP" altLang="en-US" dirty="0">
                <a:solidFill>
                  <a:schemeClr val="accent4">
                    <a:lumMod val="75000"/>
                  </a:schemeClr>
                </a:solidFill>
                <a:latin typeface="メイリオ" panose="020B0604030504040204" pitchFamily="50" charset="-128"/>
                <a:ea typeface="メイリオ" panose="020B0604030504040204" pitchFamily="50" charset="-128"/>
              </a:rPr>
              <a:t>実行結果</a:t>
            </a:r>
          </a:p>
        </p:txBody>
      </p:sp>
    </p:spTree>
    <p:extLst>
      <p:ext uri="{BB962C8B-B14F-4D97-AF65-F5344CB8AC3E}">
        <p14:creationId xmlns:p14="http://schemas.microsoft.com/office/powerpoint/2010/main" val="31064409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８</a:t>
            </a:r>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章　</a:t>
            </a:r>
            <a:r>
              <a:rPr kumimoji="1" lang="en-US" altLang="ja-JP" sz="3000" b="1" dirty="0">
                <a:solidFill>
                  <a:schemeClr val="tx1">
                    <a:lumMod val="65000"/>
                    <a:lumOff val="35000"/>
                  </a:schemeClr>
                </a:solidFill>
                <a:latin typeface="メイリオ" panose="020B0604030504040204" pitchFamily="50" charset="-128"/>
                <a:ea typeface="メイリオ" panose="020B0604030504040204" pitchFamily="50" charset="-128"/>
              </a:rPr>
              <a:t>S</a:t>
            </a:r>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３　フローチャート</a:t>
            </a:r>
          </a:p>
        </p:txBody>
      </p:sp>
      <p:sp>
        <p:nvSpPr>
          <p:cNvPr id="4" name="正方形/長方形 3">
            <a:extLst>
              <a:ext uri="{FF2B5EF4-FFF2-40B4-BE49-F238E27FC236}">
                <a16:creationId xmlns:a16="http://schemas.microsoft.com/office/drawing/2014/main" id="{578782C7-6070-7C3A-DAB7-3101F4C6ED5C}"/>
              </a:ext>
            </a:extLst>
          </p:cNvPr>
          <p:cNvSpPr/>
          <p:nvPr/>
        </p:nvSpPr>
        <p:spPr>
          <a:xfrm>
            <a:off x="884439" y="1097282"/>
            <a:ext cx="10613447" cy="5528957"/>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rPr>
              <a:t>## </a:t>
            </a:r>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７章の改善点</a:t>
            </a:r>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r>
              <a:rPr lang="ja-JP" altLang="en-US" dirty="0">
                <a:solidFill>
                  <a:schemeClr val="tx1"/>
                </a:solidFill>
                <a:latin typeface="メイリオ" panose="020B0604030504040204" pitchFamily="50" charset="-128"/>
                <a:ea typeface="メイリオ" panose="020B0604030504040204" pitchFamily="50" charset="-128"/>
              </a:rPr>
              <a:t>　</a:t>
            </a:r>
            <a:r>
              <a:rPr kumimoji="1" lang="ja-JP" altLang="en-US" dirty="0">
                <a:solidFill>
                  <a:schemeClr val="tx1"/>
                </a:solidFill>
                <a:latin typeface="メイリオ" panose="020B0604030504040204" pitchFamily="50" charset="-128"/>
                <a:ea typeface="メイリオ" panose="020B0604030504040204" pitchFamily="50" charset="-128"/>
              </a:rPr>
              <a:t>・</a:t>
            </a:r>
            <a:r>
              <a:rPr kumimoji="1" lang="en-US" altLang="ja-JP" dirty="0">
                <a:solidFill>
                  <a:schemeClr val="tx1"/>
                </a:solidFill>
                <a:latin typeface="メイリオ" panose="020B0604030504040204" pitchFamily="50" charset="-128"/>
                <a:ea typeface="メイリオ" panose="020B0604030504040204" pitchFamily="50" charset="-128"/>
              </a:rPr>
              <a:t>prize</a:t>
            </a:r>
            <a:r>
              <a:rPr kumimoji="1" lang="ja-JP" altLang="en-US" dirty="0">
                <a:solidFill>
                  <a:schemeClr val="tx1"/>
                </a:solidFill>
                <a:latin typeface="メイリオ" panose="020B0604030504040204" pitchFamily="50" charset="-128"/>
                <a:ea typeface="メイリオ" panose="020B0604030504040204" pitchFamily="50" charset="-128"/>
              </a:rPr>
              <a:t>に</a:t>
            </a:r>
            <a:r>
              <a:rPr kumimoji="1" lang="en-US" altLang="ja-JP" dirty="0">
                <a:solidFill>
                  <a:schemeClr val="tx1"/>
                </a:solidFill>
                <a:latin typeface="メイリオ" panose="020B0604030504040204" pitchFamily="50" charset="-128"/>
                <a:ea typeface="メイリオ" panose="020B0604030504040204" pitchFamily="50" charset="-128"/>
              </a:rPr>
              <a:t>symbols</a:t>
            </a:r>
            <a:r>
              <a:rPr kumimoji="1" lang="ja-JP" altLang="en-US" dirty="0">
                <a:solidFill>
                  <a:schemeClr val="tx1"/>
                </a:solidFill>
                <a:latin typeface="メイリオ" panose="020B0604030504040204" pitchFamily="50" charset="-128"/>
                <a:ea typeface="メイリオ" panose="020B0604030504040204" pitchFamily="50" charset="-128"/>
              </a:rPr>
              <a:t>を属性として追加して、</a:t>
            </a:r>
            <a:r>
              <a:rPr kumimoji="1" lang="en-US" altLang="ja-JP" dirty="0">
                <a:solidFill>
                  <a:schemeClr val="tx1"/>
                </a:solidFill>
                <a:latin typeface="メイリオ" panose="020B0604030504040204" pitchFamily="50" charset="-128"/>
                <a:ea typeface="メイリオ" panose="020B0604030504040204" pitchFamily="50" charset="-128"/>
              </a:rPr>
              <a:t>symbols</a:t>
            </a:r>
            <a:r>
              <a:rPr kumimoji="1" lang="ja-JP" altLang="en-US" dirty="0">
                <a:solidFill>
                  <a:schemeClr val="tx1"/>
                </a:solidFill>
                <a:latin typeface="メイリオ" panose="020B0604030504040204" pitchFamily="50" charset="-128"/>
                <a:ea typeface="メイリオ" panose="020B0604030504040204" pitchFamily="50" charset="-128"/>
              </a:rPr>
              <a:t>も</a:t>
            </a:r>
            <a:r>
              <a:rPr kumimoji="1" lang="en-US" altLang="ja-JP" dirty="0">
                <a:solidFill>
                  <a:schemeClr val="tx1"/>
                </a:solidFill>
                <a:latin typeface="メイリオ" panose="020B0604030504040204" pitchFamily="50" charset="-128"/>
                <a:ea typeface="メイリオ" panose="020B0604030504040204" pitchFamily="50" charset="-128"/>
              </a:rPr>
              <a:t>prize</a:t>
            </a:r>
            <a:r>
              <a:rPr kumimoji="1" lang="ja-JP" altLang="en-US" dirty="0">
                <a:solidFill>
                  <a:schemeClr val="tx1"/>
                </a:solidFill>
                <a:latin typeface="メイリオ" panose="020B0604030504040204" pitchFamily="50" charset="-128"/>
                <a:ea typeface="メイリオ" panose="020B0604030504040204" pitchFamily="50" charset="-128"/>
              </a:rPr>
              <a:t>も保存できるようにする</a:t>
            </a:r>
            <a:r>
              <a:rPr lang="ja-JP" altLang="en-US" dirty="0">
                <a:solidFill>
                  <a:schemeClr val="tx1"/>
                </a:solidFill>
                <a:latin typeface="メイリオ" panose="020B0604030504040204" pitchFamily="50" charset="-128"/>
                <a:ea typeface="メイリオ" panose="020B0604030504040204" pitchFamily="50" charset="-128"/>
              </a:rPr>
              <a:t>　</a:t>
            </a:r>
            <a:endParaRPr lang="en-US" altLang="ja-JP" dirty="0">
              <a:solidFill>
                <a:schemeClr val="tx1"/>
              </a:solidFill>
              <a:latin typeface="メイリオ" panose="020B0604030504040204" pitchFamily="50" charset="-128"/>
              <a:ea typeface="メイリオ" panose="020B0604030504040204" pitchFamily="50" charset="-128"/>
            </a:endParaRPr>
          </a:p>
          <a:p>
            <a:endParaRPr lang="en-US" altLang="ja-JP" dirty="0">
              <a:solidFill>
                <a:schemeClr val="tx1"/>
              </a:solidFill>
              <a:latin typeface="メイリオ" panose="020B0604030504040204" pitchFamily="50" charset="-128"/>
              <a:ea typeface="メイリオ" panose="020B0604030504040204" pitchFamily="50" charset="-128"/>
            </a:endParaRPr>
          </a:p>
          <a:p>
            <a:endParaRPr lang="en-US" altLang="ja-JP" dirty="0">
              <a:solidFill>
                <a:schemeClr val="tx1"/>
              </a:solidFill>
              <a:latin typeface="メイリオ" panose="020B0604030504040204" pitchFamily="50" charset="-128"/>
              <a:ea typeface="メイリオ" panose="020B0604030504040204" pitchFamily="50" charset="-128"/>
            </a:endParaRPr>
          </a:p>
          <a:p>
            <a:r>
              <a:rPr lang="ja-JP" altLang="en-US" dirty="0">
                <a:solidFill>
                  <a:schemeClr val="tx1"/>
                </a:solidFill>
                <a:latin typeface="メイリオ" panose="020B0604030504040204" pitchFamily="50" charset="-128"/>
                <a:ea typeface="メイリオ" panose="020B0604030504040204" pitchFamily="50" charset="-128"/>
              </a:rPr>
              <a:t>　・</a:t>
            </a:r>
            <a:r>
              <a:rPr lang="en-US" altLang="ja-JP" dirty="0">
                <a:solidFill>
                  <a:schemeClr val="tx1"/>
                </a:solidFill>
                <a:latin typeface="メイリオ" panose="020B0604030504040204" pitchFamily="50" charset="-128"/>
                <a:ea typeface="メイリオ" panose="020B0604030504040204" pitchFamily="50" charset="-128"/>
              </a:rPr>
              <a:t>symbol</a:t>
            </a:r>
            <a:r>
              <a:rPr lang="ja-JP" altLang="en-US" dirty="0">
                <a:solidFill>
                  <a:schemeClr val="tx1"/>
                </a:solidFill>
                <a:latin typeface="メイリオ" panose="020B0604030504040204" pitchFamily="50" charset="-128"/>
                <a:ea typeface="メイリオ" panose="020B0604030504040204" pitchFamily="50" charset="-128"/>
              </a:rPr>
              <a:t>の出力をきれいにする</a:t>
            </a:r>
            <a:endParaRPr lang="en-US" altLang="ja-JP" dirty="0">
              <a:solidFill>
                <a:schemeClr val="tx1"/>
              </a:solidFill>
              <a:latin typeface="メイリオ" panose="020B0604030504040204" pitchFamily="50" charset="-128"/>
              <a:ea typeface="メイリオ" panose="020B0604030504040204" pitchFamily="50" charset="-128"/>
            </a:endParaRPr>
          </a:p>
          <a:p>
            <a:endParaRPr lang="en-US" altLang="ja-JP" dirty="0">
              <a:solidFill>
                <a:schemeClr val="tx1"/>
              </a:solidFill>
              <a:latin typeface="メイリオ" panose="020B0604030504040204" pitchFamily="50" charset="-128"/>
              <a:ea typeface="メイリオ" panose="020B0604030504040204" pitchFamily="50" charset="-128"/>
            </a:endParaRPr>
          </a:p>
          <a:p>
            <a:endParaRPr lang="en-US" altLang="ja-JP" dirty="0">
              <a:solidFill>
                <a:schemeClr val="tx1"/>
              </a:solidFill>
              <a:latin typeface="メイリオ" panose="020B0604030504040204" pitchFamily="50" charset="-128"/>
              <a:ea typeface="メイリオ" panose="020B0604030504040204" pitchFamily="50" charset="-128"/>
            </a:endParaRPr>
          </a:p>
          <a:p>
            <a:endParaRPr lang="en-US" altLang="ja-JP" dirty="0">
              <a:solidFill>
                <a:schemeClr val="tx1"/>
              </a:solidFill>
              <a:latin typeface="メイリオ" panose="020B0604030504040204" pitchFamily="50" charset="-128"/>
              <a:ea typeface="メイリオ" panose="020B0604030504040204" pitchFamily="50" charset="-128"/>
            </a:endParaRPr>
          </a:p>
          <a:p>
            <a:endParaRPr lang="en-US" altLang="ja-JP" dirty="0">
              <a:solidFill>
                <a:schemeClr val="tx1"/>
              </a:solidFill>
              <a:latin typeface="メイリオ" panose="020B0604030504040204" pitchFamily="50" charset="-128"/>
              <a:ea typeface="メイリオ" panose="020B0604030504040204" pitchFamily="50" charset="-128"/>
            </a:endParaRPr>
          </a:p>
          <a:p>
            <a:endParaRPr lang="en-US" altLang="ja-JP" dirty="0">
              <a:solidFill>
                <a:schemeClr val="tx1"/>
              </a:solidFill>
              <a:latin typeface="メイリオ" panose="020B0604030504040204" pitchFamily="50" charset="-128"/>
              <a:ea typeface="メイリオ" panose="020B0604030504040204" pitchFamily="50" charset="-128"/>
            </a:endParaRPr>
          </a:p>
          <a:p>
            <a:r>
              <a:rPr kumimoji="1" lang="en-US" altLang="ja-JP" sz="1800" dirty="0">
                <a:solidFill>
                  <a:schemeClr val="accent4">
                    <a:lumMod val="75000"/>
                  </a:schemeClr>
                </a:solidFill>
                <a:latin typeface="メイリオ" panose="020B0604030504040204" pitchFamily="50" charset="-128"/>
                <a:ea typeface="メイリオ" panose="020B0604030504040204" pitchFamily="50" charset="-128"/>
              </a:rPr>
              <a:t>## </a:t>
            </a:r>
            <a:r>
              <a:rPr kumimoji="1" lang="ja-JP" altLang="en-US" sz="1800" dirty="0">
                <a:solidFill>
                  <a:schemeClr val="accent4">
                    <a:lumMod val="75000"/>
                  </a:schemeClr>
                </a:solidFill>
                <a:latin typeface="メイリオ" panose="020B0604030504040204" pitchFamily="50" charset="-128"/>
                <a:ea typeface="メイリオ" panose="020B0604030504040204" pitchFamily="50" charset="-128"/>
              </a:rPr>
              <a:t>ジェネリック関数</a:t>
            </a:r>
            <a:endParaRPr kumimoji="1" lang="en-US" altLang="ja-JP" sz="1800" dirty="0">
              <a:solidFill>
                <a:schemeClr val="accent4">
                  <a:lumMod val="75000"/>
                </a:schemeClr>
              </a:solidFill>
              <a:latin typeface="メイリオ" panose="020B0604030504040204" pitchFamily="50" charset="-128"/>
              <a:ea typeface="メイリオ" panose="020B0604030504040204" pitchFamily="50" charset="-128"/>
            </a:endParaRPr>
          </a:p>
          <a:p>
            <a:r>
              <a:rPr lang="ja-JP" altLang="en-US" dirty="0">
                <a:solidFill>
                  <a:schemeClr val="tx1"/>
                </a:solidFill>
                <a:latin typeface="メイリオ" panose="020B0604030504040204" pitchFamily="50" charset="-128"/>
                <a:ea typeface="メイリオ" panose="020B0604030504040204" pitchFamily="50" charset="-128"/>
              </a:rPr>
              <a:t>　・きれいに出力するための関数を毎回呼び出すのは手間なので、</a:t>
            </a:r>
            <a:r>
              <a:rPr lang="en-US" altLang="ja-JP" dirty="0">
                <a:solidFill>
                  <a:schemeClr val="tx1"/>
                </a:solidFill>
                <a:latin typeface="メイリオ" panose="020B0604030504040204" pitchFamily="50" charset="-128"/>
                <a:ea typeface="メイリオ" panose="020B0604030504040204" pitchFamily="50" charset="-128"/>
              </a:rPr>
              <a:t>print()</a:t>
            </a:r>
            <a:r>
              <a:rPr lang="ja-JP" altLang="en-US" dirty="0">
                <a:solidFill>
                  <a:schemeClr val="tx1"/>
                </a:solidFill>
                <a:latin typeface="メイリオ" panose="020B0604030504040204" pitchFamily="50" charset="-128"/>
                <a:ea typeface="メイリオ" panose="020B0604030504040204" pitchFamily="50" charset="-128"/>
              </a:rPr>
              <a:t>をしたときに毎回きれいに</a:t>
            </a:r>
            <a:endParaRPr lang="en-US" altLang="ja-JP" dirty="0">
              <a:solidFill>
                <a:schemeClr val="tx1"/>
              </a:solidFill>
              <a:latin typeface="メイリオ" panose="020B0604030504040204" pitchFamily="50" charset="-128"/>
              <a:ea typeface="メイリオ" panose="020B0604030504040204" pitchFamily="50" charset="-128"/>
            </a:endParaRPr>
          </a:p>
          <a:p>
            <a:r>
              <a:rPr lang="ja-JP" altLang="en-US" dirty="0">
                <a:solidFill>
                  <a:schemeClr val="tx1"/>
                </a:solidFill>
                <a:latin typeface="メイリオ" panose="020B0604030504040204" pitchFamily="50" charset="-128"/>
                <a:ea typeface="メイリオ" panose="020B0604030504040204" pitchFamily="50" charset="-128"/>
              </a:rPr>
              <a:t>　　表示できるようにしたい</a:t>
            </a:r>
            <a:endParaRPr kumimoji="1" lang="en-US" altLang="ja-JP" dirty="0">
              <a:solidFill>
                <a:schemeClr val="tx1"/>
              </a:solidFill>
              <a:latin typeface="メイリオ" panose="020B0604030504040204" pitchFamily="50" charset="-128"/>
              <a:ea typeface="メイリオ" panose="020B0604030504040204" pitchFamily="50" charset="-128"/>
            </a:endParaRPr>
          </a:p>
          <a:p>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0A35426C-87A9-67ED-50E9-B3BF71DBAEC2}"/>
              </a:ext>
            </a:extLst>
          </p:cNvPr>
          <p:cNvSpPr/>
          <p:nvPr/>
        </p:nvSpPr>
        <p:spPr>
          <a:xfrm>
            <a:off x="1354785" y="5362959"/>
            <a:ext cx="826201" cy="324203"/>
          </a:xfrm>
          <a:prstGeom prst="rect">
            <a:avLst/>
          </a:prstGeom>
          <a:solidFill>
            <a:srgbClr val="FFFFFF"/>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500" dirty="0">
                <a:solidFill>
                  <a:schemeClr val="tx1"/>
                </a:solidFill>
                <a:latin typeface="メイリオ" panose="020B0604030504040204" pitchFamily="50" charset="-128"/>
                <a:ea typeface="メイリオ" panose="020B0604030504040204" pitchFamily="50" charset="-128"/>
              </a:rPr>
              <a:t>p</a:t>
            </a:r>
            <a:r>
              <a:rPr kumimoji="1" lang="en-US" altLang="ja-JP" sz="1500" dirty="0">
                <a:solidFill>
                  <a:schemeClr val="tx1"/>
                </a:solidFill>
                <a:latin typeface="メイリオ" panose="020B0604030504040204" pitchFamily="50" charset="-128"/>
                <a:ea typeface="メイリオ" panose="020B0604030504040204" pitchFamily="50" charset="-128"/>
              </a:rPr>
              <a:t>rint()</a:t>
            </a:r>
            <a:endParaRPr lang="en-US" altLang="ja-JP" sz="1500" dirty="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1384A9D-520A-8BAB-9404-7BC395B769AA}"/>
              </a:ext>
            </a:extLst>
          </p:cNvPr>
          <p:cNvSpPr/>
          <p:nvPr/>
        </p:nvSpPr>
        <p:spPr>
          <a:xfrm>
            <a:off x="6327442" y="4709723"/>
            <a:ext cx="1907007" cy="324203"/>
          </a:xfrm>
          <a:prstGeom prst="rect">
            <a:avLst/>
          </a:prstGeom>
          <a:solidFill>
            <a:srgbClr val="FFFFFF"/>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500" dirty="0" err="1">
                <a:solidFill>
                  <a:schemeClr val="tx1"/>
                </a:solidFill>
                <a:latin typeface="メイリオ" panose="020B0604030504040204" pitchFamily="50" charset="-128"/>
                <a:ea typeface="メイリオ" panose="020B0604030504040204" pitchFamily="50" charset="-128"/>
              </a:rPr>
              <a:t>p</a:t>
            </a:r>
            <a:r>
              <a:rPr kumimoji="1" lang="en-US" altLang="ja-JP" sz="1500" dirty="0" err="1">
                <a:solidFill>
                  <a:schemeClr val="tx1"/>
                </a:solidFill>
                <a:latin typeface="メイリオ" panose="020B0604030504040204" pitchFamily="50" charset="-128"/>
                <a:ea typeface="メイリオ" panose="020B0604030504040204" pitchFamily="50" charset="-128"/>
              </a:rPr>
              <a:t>rint</a:t>
            </a:r>
            <a:r>
              <a:rPr lang="en-US" altLang="ja-JP" sz="1500" dirty="0" err="1">
                <a:solidFill>
                  <a:schemeClr val="tx1"/>
                </a:solidFill>
                <a:latin typeface="メイリオ" panose="020B0604030504040204" pitchFamily="50" charset="-128"/>
                <a:ea typeface="メイリオ" panose="020B0604030504040204" pitchFamily="50" charset="-128"/>
              </a:rPr>
              <a:t>.numetric</a:t>
            </a:r>
            <a:r>
              <a:rPr lang="en-US" altLang="ja-JP" sz="1500" dirty="0">
                <a:solidFill>
                  <a:schemeClr val="tx1"/>
                </a:solidFill>
                <a:latin typeface="メイリオ" panose="020B0604030504040204" pitchFamily="50" charset="-128"/>
                <a:ea typeface="メイリオ" panose="020B0604030504040204" pitchFamily="50" charset="-128"/>
              </a:rPr>
              <a:t>()</a:t>
            </a:r>
          </a:p>
        </p:txBody>
      </p:sp>
      <p:sp>
        <p:nvSpPr>
          <p:cNvPr id="6" name="正方形/長方形 5">
            <a:extLst>
              <a:ext uri="{FF2B5EF4-FFF2-40B4-BE49-F238E27FC236}">
                <a16:creationId xmlns:a16="http://schemas.microsoft.com/office/drawing/2014/main" id="{07245A8C-7980-89F7-5D95-10BFAA501AC0}"/>
              </a:ext>
            </a:extLst>
          </p:cNvPr>
          <p:cNvSpPr/>
          <p:nvPr/>
        </p:nvSpPr>
        <p:spPr>
          <a:xfrm>
            <a:off x="6327442" y="5134641"/>
            <a:ext cx="1907007" cy="324203"/>
          </a:xfrm>
          <a:prstGeom prst="rect">
            <a:avLst/>
          </a:prstGeom>
          <a:solidFill>
            <a:srgbClr val="FFFFFF"/>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500" dirty="0" err="1">
                <a:solidFill>
                  <a:schemeClr val="tx1"/>
                </a:solidFill>
                <a:latin typeface="メイリオ" panose="020B0604030504040204" pitchFamily="50" charset="-128"/>
                <a:ea typeface="メイリオ" panose="020B0604030504040204" pitchFamily="50" charset="-128"/>
              </a:rPr>
              <a:t>p</a:t>
            </a:r>
            <a:r>
              <a:rPr kumimoji="1" lang="en-US" altLang="ja-JP" sz="1500" dirty="0" err="1">
                <a:solidFill>
                  <a:schemeClr val="tx1"/>
                </a:solidFill>
                <a:latin typeface="メイリオ" panose="020B0604030504040204" pitchFamily="50" charset="-128"/>
                <a:ea typeface="メイリオ" panose="020B0604030504040204" pitchFamily="50" charset="-128"/>
              </a:rPr>
              <a:t>rint</a:t>
            </a:r>
            <a:r>
              <a:rPr lang="en-US" altLang="ja-JP" sz="1500" dirty="0" err="1">
                <a:solidFill>
                  <a:schemeClr val="tx1"/>
                </a:solidFill>
                <a:latin typeface="メイリオ" panose="020B0604030504040204" pitchFamily="50" charset="-128"/>
                <a:ea typeface="メイリオ" panose="020B0604030504040204" pitchFamily="50" charset="-128"/>
              </a:rPr>
              <a:t>.POSIXct</a:t>
            </a:r>
            <a:r>
              <a:rPr lang="en-US" altLang="ja-JP" sz="1500" dirty="0">
                <a:solidFill>
                  <a:schemeClr val="tx1"/>
                </a:solidFill>
                <a:latin typeface="メイリオ" panose="020B0604030504040204" pitchFamily="50" charset="-128"/>
                <a:ea typeface="メイリオ" panose="020B0604030504040204" pitchFamily="50" charset="-128"/>
              </a:rPr>
              <a:t>()</a:t>
            </a:r>
          </a:p>
        </p:txBody>
      </p:sp>
      <p:cxnSp>
        <p:nvCxnSpPr>
          <p:cNvPr id="10" name="コネクタ: カギ線 9">
            <a:extLst>
              <a:ext uri="{FF2B5EF4-FFF2-40B4-BE49-F238E27FC236}">
                <a16:creationId xmlns:a16="http://schemas.microsoft.com/office/drawing/2014/main" id="{C629AF9A-7568-17AF-A907-874899916B9A}"/>
              </a:ext>
            </a:extLst>
          </p:cNvPr>
          <p:cNvCxnSpPr>
            <a:cxnSpLocks/>
          </p:cNvCxnSpPr>
          <p:nvPr/>
        </p:nvCxnSpPr>
        <p:spPr>
          <a:xfrm flipV="1">
            <a:off x="2305616" y="4887859"/>
            <a:ext cx="3930830" cy="637202"/>
          </a:xfrm>
          <a:prstGeom prst="bentConnector3">
            <a:avLst>
              <a:gd name="adj1" fmla="val 8542"/>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コネクタ: カギ線 20">
            <a:extLst>
              <a:ext uri="{FF2B5EF4-FFF2-40B4-BE49-F238E27FC236}">
                <a16:creationId xmlns:a16="http://schemas.microsoft.com/office/drawing/2014/main" id="{292FFA02-A682-DC20-DFD1-343E9D590E40}"/>
              </a:ext>
            </a:extLst>
          </p:cNvPr>
          <p:cNvCxnSpPr>
            <a:cxnSpLocks/>
          </p:cNvCxnSpPr>
          <p:nvPr/>
        </p:nvCxnSpPr>
        <p:spPr>
          <a:xfrm flipV="1">
            <a:off x="2263471" y="5296743"/>
            <a:ext cx="3972975" cy="228318"/>
          </a:xfrm>
          <a:prstGeom prst="bentConnector3">
            <a:avLst>
              <a:gd name="adj1" fmla="val 9666"/>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コネクタ: カギ線 24">
            <a:extLst>
              <a:ext uri="{FF2B5EF4-FFF2-40B4-BE49-F238E27FC236}">
                <a16:creationId xmlns:a16="http://schemas.microsoft.com/office/drawing/2014/main" id="{F4627D21-2531-97C5-8CF1-E8F0F14F8FC4}"/>
              </a:ext>
            </a:extLst>
          </p:cNvPr>
          <p:cNvCxnSpPr>
            <a:cxnSpLocks/>
          </p:cNvCxnSpPr>
          <p:nvPr/>
        </p:nvCxnSpPr>
        <p:spPr>
          <a:xfrm>
            <a:off x="2316768" y="5525060"/>
            <a:ext cx="3955418" cy="225817"/>
          </a:xfrm>
          <a:prstGeom prst="bentConnector3">
            <a:avLst>
              <a:gd name="adj1" fmla="val 8342"/>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1" name="正方形/長方形 60">
            <a:extLst>
              <a:ext uri="{FF2B5EF4-FFF2-40B4-BE49-F238E27FC236}">
                <a16:creationId xmlns:a16="http://schemas.microsoft.com/office/drawing/2014/main" id="{8A63EF12-1747-017D-A713-5090FFAD1F3A}"/>
              </a:ext>
            </a:extLst>
          </p:cNvPr>
          <p:cNvSpPr/>
          <p:nvPr/>
        </p:nvSpPr>
        <p:spPr>
          <a:xfrm>
            <a:off x="2551687" y="5977992"/>
            <a:ext cx="5893806" cy="46679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lang="en-US" altLang="ja-JP" sz="1200" dirty="0">
              <a:solidFill>
                <a:schemeClr val="tx1"/>
              </a:solidFill>
            </a:endParaRPr>
          </a:p>
        </p:txBody>
      </p:sp>
      <p:cxnSp>
        <p:nvCxnSpPr>
          <p:cNvPr id="30" name="コネクタ: カギ線 29">
            <a:extLst>
              <a:ext uri="{FF2B5EF4-FFF2-40B4-BE49-F238E27FC236}">
                <a16:creationId xmlns:a16="http://schemas.microsoft.com/office/drawing/2014/main" id="{97ED67F3-7696-12FF-59A6-4E39C20DEEF8}"/>
              </a:ext>
            </a:extLst>
          </p:cNvPr>
          <p:cNvCxnSpPr>
            <a:cxnSpLocks/>
          </p:cNvCxnSpPr>
          <p:nvPr/>
        </p:nvCxnSpPr>
        <p:spPr>
          <a:xfrm>
            <a:off x="2261512" y="5525059"/>
            <a:ext cx="3973526" cy="672850"/>
          </a:xfrm>
          <a:prstGeom prst="bentConnector3">
            <a:avLst>
              <a:gd name="adj1" fmla="val 9444"/>
            </a:avLst>
          </a:prstGeom>
          <a:ln w="19050">
            <a:solidFill>
              <a:schemeClr val="bg2">
                <a:lumMod val="1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3" name="正方形/長方形 32">
            <a:extLst>
              <a:ext uri="{FF2B5EF4-FFF2-40B4-BE49-F238E27FC236}">
                <a16:creationId xmlns:a16="http://schemas.microsoft.com/office/drawing/2014/main" id="{8A9552AA-50D2-8D0D-54E9-940A849FF8D7}"/>
              </a:ext>
            </a:extLst>
          </p:cNvPr>
          <p:cNvSpPr/>
          <p:nvPr/>
        </p:nvSpPr>
        <p:spPr>
          <a:xfrm>
            <a:off x="6327442" y="5559559"/>
            <a:ext cx="1907007" cy="324203"/>
          </a:xfrm>
          <a:prstGeom prst="rect">
            <a:avLst/>
          </a:prstGeom>
          <a:solidFill>
            <a:srgbClr val="FFFFFF"/>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500" dirty="0" err="1">
                <a:solidFill>
                  <a:schemeClr val="tx1"/>
                </a:solidFill>
                <a:latin typeface="メイリオ" panose="020B0604030504040204" pitchFamily="50" charset="-128"/>
                <a:ea typeface="メイリオ" panose="020B0604030504040204" pitchFamily="50" charset="-128"/>
              </a:rPr>
              <a:t>p</a:t>
            </a:r>
            <a:r>
              <a:rPr kumimoji="1" lang="en-US" altLang="ja-JP" sz="1500" dirty="0" err="1">
                <a:solidFill>
                  <a:schemeClr val="tx1"/>
                </a:solidFill>
                <a:latin typeface="メイリオ" panose="020B0604030504040204" pitchFamily="50" charset="-128"/>
                <a:ea typeface="メイリオ" panose="020B0604030504040204" pitchFamily="50" charset="-128"/>
              </a:rPr>
              <a:t>rint</a:t>
            </a:r>
            <a:r>
              <a:rPr lang="en-US" altLang="ja-JP" sz="1500" dirty="0" err="1">
                <a:solidFill>
                  <a:schemeClr val="tx1"/>
                </a:solidFill>
                <a:latin typeface="メイリオ" panose="020B0604030504040204" pitchFamily="50" charset="-128"/>
                <a:ea typeface="メイリオ" panose="020B0604030504040204" pitchFamily="50" charset="-128"/>
              </a:rPr>
              <a:t>.data.frame</a:t>
            </a:r>
            <a:r>
              <a:rPr lang="en-US" altLang="ja-JP" sz="1500" dirty="0">
                <a:solidFill>
                  <a:schemeClr val="tx1"/>
                </a:solidFill>
                <a:latin typeface="メイリオ" panose="020B0604030504040204" pitchFamily="50" charset="-128"/>
                <a:ea typeface="メイリオ" panose="020B0604030504040204" pitchFamily="50" charset="-128"/>
              </a:rPr>
              <a:t>()</a:t>
            </a:r>
          </a:p>
        </p:txBody>
      </p:sp>
      <p:sp>
        <p:nvSpPr>
          <p:cNvPr id="40" name="正方形/長方形 39">
            <a:extLst>
              <a:ext uri="{FF2B5EF4-FFF2-40B4-BE49-F238E27FC236}">
                <a16:creationId xmlns:a16="http://schemas.microsoft.com/office/drawing/2014/main" id="{82106DCC-67E8-0DFB-368A-932231B04A3D}"/>
              </a:ext>
            </a:extLst>
          </p:cNvPr>
          <p:cNvSpPr/>
          <p:nvPr/>
        </p:nvSpPr>
        <p:spPr>
          <a:xfrm>
            <a:off x="6327441" y="6058829"/>
            <a:ext cx="1907007" cy="324203"/>
          </a:xfrm>
          <a:prstGeom prst="rect">
            <a:avLst/>
          </a:prstGeom>
          <a:solidFill>
            <a:srgbClr val="FFFFFF"/>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500" dirty="0" err="1">
                <a:solidFill>
                  <a:schemeClr val="tx1"/>
                </a:solidFill>
                <a:latin typeface="メイリオ" panose="020B0604030504040204" pitchFamily="50" charset="-128"/>
                <a:ea typeface="メイリオ" panose="020B0604030504040204" pitchFamily="50" charset="-128"/>
              </a:rPr>
              <a:t>p</a:t>
            </a:r>
            <a:r>
              <a:rPr kumimoji="1" lang="en-US" altLang="ja-JP" sz="1500" dirty="0" err="1">
                <a:solidFill>
                  <a:schemeClr val="tx1"/>
                </a:solidFill>
                <a:latin typeface="メイリオ" panose="020B0604030504040204" pitchFamily="50" charset="-128"/>
                <a:ea typeface="メイリオ" panose="020B0604030504040204" pitchFamily="50" charset="-128"/>
              </a:rPr>
              <a:t>rint</a:t>
            </a:r>
            <a:r>
              <a:rPr lang="en-US" altLang="ja-JP" sz="1500" dirty="0" err="1">
                <a:solidFill>
                  <a:schemeClr val="tx1"/>
                </a:solidFill>
                <a:latin typeface="メイリオ" panose="020B0604030504040204" pitchFamily="50" charset="-128"/>
                <a:ea typeface="メイリオ" panose="020B0604030504040204" pitchFamily="50" charset="-128"/>
              </a:rPr>
              <a:t>.slots</a:t>
            </a:r>
            <a:r>
              <a:rPr lang="en-US" altLang="ja-JP" sz="1500" dirty="0">
                <a:solidFill>
                  <a:schemeClr val="tx1"/>
                </a:solidFill>
                <a:latin typeface="メイリオ" panose="020B0604030504040204" pitchFamily="50" charset="-128"/>
                <a:ea typeface="メイリオ" panose="020B0604030504040204" pitchFamily="50" charset="-128"/>
              </a:rPr>
              <a:t>()</a:t>
            </a:r>
          </a:p>
        </p:txBody>
      </p:sp>
      <p:sp>
        <p:nvSpPr>
          <p:cNvPr id="48" name="四角形: 1 つの角を切り取る 47">
            <a:extLst>
              <a:ext uri="{FF2B5EF4-FFF2-40B4-BE49-F238E27FC236}">
                <a16:creationId xmlns:a16="http://schemas.microsoft.com/office/drawing/2014/main" id="{38278498-D5CD-B3A9-8754-2DD256E03A54}"/>
              </a:ext>
            </a:extLst>
          </p:cNvPr>
          <p:cNvSpPr/>
          <p:nvPr/>
        </p:nvSpPr>
        <p:spPr>
          <a:xfrm>
            <a:off x="2774161" y="4805185"/>
            <a:ext cx="2710848" cy="249851"/>
          </a:xfrm>
          <a:prstGeom prst="snip1Rect">
            <a:avLst>
              <a:gd name="adj" fmla="val 50000"/>
            </a:avLst>
          </a:prstGeom>
          <a:solidFill>
            <a:srgbClr val="FFFFFF"/>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引数の</a:t>
            </a:r>
            <a:r>
              <a:rPr lang="en-US" altLang="ja-JP" sz="1300" dirty="0">
                <a:solidFill>
                  <a:schemeClr val="tx1"/>
                </a:solidFill>
                <a:latin typeface="メイリオ" panose="020B0604030504040204" pitchFamily="50" charset="-128"/>
                <a:ea typeface="メイリオ" panose="020B0604030504040204" pitchFamily="50" charset="-128"/>
              </a:rPr>
              <a:t>class</a:t>
            </a:r>
            <a:r>
              <a:rPr lang="ja-JP" altLang="en-US" sz="1300" dirty="0">
                <a:solidFill>
                  <a:schemeClr val="tx1"/>
                </a:solidFill>
                <a:latin typeface="メイリオ" panose="020B0604030504040204" pitchFamily="50" charset="-128"/>
                <a:ea typeface="メイリオ" panose="020B0604030504040204" pitchFamily="50" charset="-128"/>
              </a:rPr>
              <a:t>が</a:t>
            </a:r>
            <a:r>
              <a:rPr lang="en-US" altLang="ja-JP" sz="1300" dirty="0" err="1">
                <a:solidFill>
                  <a:schemeClr val="tx1"/>
                </a:solidFill>
                <a:latin typeface="メイリオ" panose="020B0604030504040204" pitchFamily="50" charset="-128"/>
                <a:ea typeface="メイリオ" panose="020B0604030504040204" pitchFamily="50" charset="-128"/>
              </a:rPr>
              <a:t>numetric</a:t>
            </a:r>
            <a:r>
              <a:rPr lang="ja-JP" altLang="en-US" sz="1300" dirty="0">
                <a:solidFill>
                  <a:schemeClr val="tx1"/>
                </a:solidFill>
                <a:latin typeface="メイリオ" panose="020B0604030504040204" pitchFamily="50" charset="-128"/>
                <a:ea typeface="メイリオ" panose="020B0604030504040204" pitchFamily="50" charset="-128"/>
              </a:rPr>
              <a:t>のとき</a:t>
            </a:r>
            <a:endParaRPr lang="en-US" altLang="ja-JP" sz="1300" dirty="0">
              <a:solidFill>
                <a:schemeClr val="tx1"/>
              </a:solidFill>
              <a:latin typeface="メイリオ" panose="020B0604030504040204" pitchFamily="50" charset="-128"/>
              <a:ea typeface="メイリオ" panose="020B0604030504040204" pitchFamily="50" charset="-128"/>
            </a:endParaRPr>
          </a:p>
        </p:txBody>
      </p:sp>
      <p:sp>
        <p:nvSpPr>
          <p:cNvPr id="57" name="四角形: 1 つの角を切り取る 56">
            <a:extLst>
              <a:ext uri="{FF2B5EF4-FFF2-40B4-BE49-F238E27FC236}">
                <a16:creationId xmlns:a16="http://schemas.microsoft.com/office/drawing/2014/main" id="{14E66688-89D9-CE74-DC35-FE5CF75F44B2}"/>
              </a:ext>
            </a:extLst>
          </p:cNvPr>
          <p:cNvSpPr/>
          <p:nvPr/>
        </p:nvSpPr>
        <p:spPr>
          <a:xfrm>
            <a:off x="2774159" y="5228093"/>
            <a:ext cx="2710850" cy="249851"/>
          </a:xfrm>
          <a:prstGeom prst="snip1Rect">
            <a:avLst>
              <a:gd name="adj" fmla="val 50000"/>
            </a:avLst>
          </a:prstGeom>
          <a:solidFill>
            <a:srgbClr val="FFFFFF"/>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引数の</a:t>
            </a:r>
            <a:r>
              <a:rPr lang="en-US" altLang="ja-JP" sz="1300" dirty="0">
                <a:solidFill>
                  <a:schemeClr val="tx1"/>
                </a:solidFill>
                <a:latin typeface="メイリオ" panose="020B0604030504040204" pitchFamily="50" charset="-128"/>
                <a:ea typeface="メイリオ" panose="020B0604030504040204" pitchFamily="50" charset="-128"/>
              </a:rPr>
              <a:t>class</a:t>
            </a:r>
            <a:r>
              <a:rPr lang="ja-JP" altLang="en-US" sz="1300" dirty="0">
                <a:solidFill>
                  <a:schemeClr val="tx1"/>
                </a:solidFill>
                <a:latin typeface="メイリオ" panose="020B0604030504040204" pitchFamily="50" charset="-128"/>
                <a:ea typeface="メイリオ" panose="020B0604030504040204" pitchFamily="50" charset="-128"/>
              </a:rPr>
              <a:t>が</a:t>
            </a:r>
            <a:r>
              <a:rPr lang="en-US" altLang="ja-JP" sz="1300" dirty="0" err="1">
                <a:solidFill>
                  <a:schemeClr val="tx1"/>
                </a:solidFill>
                <a:latin typeface="メイリオ" panose="020B0604030504040204" pitchFamily="50" charset="-128"/>
                <a:ea typeface="メイリオ" panose="020B0604030504040204" pitchFamily="50" charset="-128"/>
              </a:rPr>
              <a:t>POSIXct</a:t>
            </a:r>
            <a:r>
              <a:rPr lang="ja-JP" altLang="en-US" sz="1300" dirty="0">
                <a:solidFill>
                  <a:schemeClr val="tx1"/>
                </a:solidFill>
                <a:latin typeface="メイリオ" panose="020B0604030504040204" pitchFamily="50" charset="-128"/>
                <a:ea typeface="メイリオ" panose="020B0604030504040204" pitchFamily="50" charset="-128"/>
              </a:rPr>
              <a:t>のとき</a:t>
            </a:r>
            <a:endParaRPr lang="en-US" altLang="ja-JP" sz="1300" dirty="0">
              <a:solidFill>
                <a:schemeClr val="tx1"/>
              </a:solidFill>
              <a:latin typeface="メイリオ" panose="020B0604030504040204" pitchFamily="50" charset="-128"/>
              <a:ea typeface="メイリオ" panose="020B0604030504040204" pitchFamily="50" charset="-128"/>
            </a:endParaRPr>
          </a:p>
        </p:txBody>
      </p:sp>
      <p:sp>
        <p:nvSpPr>
          <p:cNvPr id="58" name="四角形: 1 つの角を切り取る 57">
            <a:extLst>
              <a:ext uri="{FF2B5EF4-FFF2-40B4-BE49-F238E27FC236}">
                <a16:creationId xmlns:a16="http://schemas.microsoft.com/office/drawing/2014/main" id="{749C9DD8-F706-1D94-F3B5-11E3108A4EC3}"/>
              </a:ext>
            </a:extLst>
          </p:cNvPr>
          <p:cNvSpPr/>
          <p:nvPr/>
        </p:nvSpPr>
        <p:spPr>
          <a:xfrm>
            <a:off x="2774159" y="5619290"/>
            <a:ext cx="2710850" cy="249851"/>
          </a:xfrm>
          <a:prstGeom prst="snip1Rect">
            <a:avLst>
              <a:gd name="adj" fmla="val 50000"/>
            </a:avLst>
          </a:prstGeom>
          <a:solidFill>
            <a:srgbClr val="FFFFFF"/>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引数の</a:t>
            </a:r>
            <a:r>
              <a:rPr lang="en-US" altLang="ja-JP" sz="1300" dirty="0">
                <a:solidFill>
                  <a:schemeClr val="tx1"/>
                </a:solidFill>
                <a:latin typeface="メイリオ" panose="020B0604030504040204" pitchFamily="50" charset="-128"/>
                <a:ea typeface="メイリオ" panose="020B0604030504040204" pitchFamily="50" charset="-128"/>
              </a:rPr>
              <a:t>class</a:t>
            </a:r>
            <a:r>
              <a:rPr lang="ja-JP" altLang="en-US" sz="1300" dirty="0">
                <a:solidFill>
                  <a:schemeClr val="tx1"/>
                </a:solidFill>
                <a:latin typeface="メイリオ" panose="020B0604030504040204" pitchFamily="50" charset="-128"/>
                <a:ea typeface="メイリオ" panose="020B0604030504040204" pitchFamily="50" charset="-128"/>
              </a:rPr>
              <a:t>が</a:t>
            </a:r>
            <a:r>
              <a:rPr lang="en-US" altLang="ja-JP" sz="1300" dirty="0" err="1">
                <a:solidFill>
                  <a:schemeClr val="tx1"/>
                </a:solidFill>
                <a:latin typeface="メイリオ" panose="020B0604030504040204" pitchFamily="50" charset="-128"/>
                <a:ea typeface="メイリオ" panose="020B0604030504040204" pitchFamily="50" charset="-128"/>
              </a:rPr>
              <a:t>data.frame</a:t>
            </a:r>
            <a:r>
              <a:rPr lang="ja-JP" altLang="en-US" sz="1300" dirty="0">
                <a:solidFill>
                  <a:schemeClr val="tx1"/>
                </a:solidFill>
                <a:latin typeface="メイリオ" panose="020B0604030504040204" pitchFamily="50" charset="-128"/>
                <a:ea typeface="メイリオ" panose="020B0604030504040204" pitchFamily="50" charset="-128"/>
              </a:rPr>
              <a:t>のとき</a:t>
            </a:r>
            <a:endParaRPr lang="en-US" altLang="ja-JP" sz="1300" dirty="0">
              <a:solidFill>
                <a:schemeClr val="tx1"/>
              </a:solidFill>
              <a:latin typeface="メイリオ" panose="020B0604030504040204" pitchFamily="50" charset="-128"/>
              <a:ea typeface="メイリオ" panose="020B0604030504040204" pitchFamily="50" charset="-128"/>
            </a:endParaRPr>
          </a:p>
        </p:txBody>
      </p:sp>
      <p:sp>
        <p:nvSpPr>
          <p:cNvPr id="59" name="四角形: 1 つの角を切り取る 58">
            <a:extLst>
              <a:ext uri="{FF2B5EF4-FFF2-40B4-BE49-F238E27FC236}">
                <a16:creationId xmlns:a16="http://schemas.microsoft.com/office/drawing/2014/main" id="{832DE27B-47C1-FFB8-D747-900CF9B01E34}"/>
              </a:ext>
            </a:extLst>
          </p:cNvPr>
          <p:cNvSpPr/>
          <p:nvPr/>
        </p:nvSpPr>
        <p:spPr>
          <a:xfrm>
            <a:off x="2774159" y="6058829"/>
            <a:ext cx="2710850" cy="249851"/>
          </a:xfrm>
          <a:prstGeom prst="snip1Rect">
            <a:avLst>
              <a:gd name="adj" fmla="val 50000"/>
            </a:avLst>
          </a:prstGeom>
          <a:solidFill>
            <a:srgbClr val="FFFFFF"/>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引数の</a:t>
            </a:r>
            <a:r>
              <a:rPr lang="en-US" altLang="ja-JP" sz="1300" dirty="0">
                <a:solidFill>
                  <a:schemeClr val="tx1"/>
                </a:solidFill>
                <a:latin typeface="メイリオ" panose="020B0604030504040204" pitchFamily="50" charset="-128"/>
                <a:ea typeface="メイリオ" panose="020B0604030504040204" pitchFamily="50" charset="-128"/>
              </a:rPr>
              <a:t>class</a:t>
            </a:r>
            <a:r>
              <a:rPr lang="ja-JP" altLang="en-US" sz="1300" dirty="0">
                <a:solidFill>
                  <a:schemeClr val="tx1"/>
                </a:solidFill>
                <a:latin typeface="メイリオ" panose="020B0604030504040204" pitchFamily="50" charset="-128"/>
                <a:ea typeface="メイリオ" panose="020B0604030504040204" pitchFamily="50" charset="-128"/>
              </a:rPr>
              <a:t>が</a:t>
            </a:r>
            <a:r>
              <a:rPr lang="en-US" altLang="ja-JP" sz="1300" dirty="0">
                <a:solidFill>
                  <a:schemeClr val="tx1"/>
                </a:solidFill>
                <a:latin typeface="メイリオ" panose="020B0604030504040204" pitchFamily="50" charset="-128"/>
                <a:ea typeface="メイリオ" panose="020B0604030504040204" pitchFamily="50" charset="-128"/>
              </a:rPr>
              <a:t>slots</a:t>
            </a:r>
            <a:r>
              <a:rPr lang="ja-JP" altLang="en-US" sz="1300" dirty="0">
                <a:solidFill>
                  <a:schemeClr val="tx1"/>
                </a:solidFill>
                <a:latin typeface="メイリオ" panose="020B0604030504040204" pitchFamily="50" charset="-128"/>
                <a:ea typeface="メイリオ" panose="020B0604030504040204" pitchFamily="50" charset="-128"/>
              </a:rPr>
              <a:t>のとき</a:t>
            </a:r>
            <a:endParaRPr lang="en-US" altLang="ja-JP" sz="1300" dirty="0">
              <a:solidFill>
                <a:schemeClr val="tx1"/>
              </a:solidFill>
              <a:latin typeface="メイリオ" panose="020B0604030504040204" pitchFamily="50" charset="-128"/>
              <a:ea typeface="メイリオ" panose="020B0604030504040204" pitchFamily="50" charset="-128"/>
            </a:endParaRPr>
          </a:p>
        </p:txBody>
      </p:sp>
      <p:cxnSp>
        <p:nvCxnSpPr>
          <p:cNvPr id="9" name="直線矢印コネクタ 8">
            <a:extLst>
              <a:ext uri="{FF2B5EF4-FFF2-40B4-BE49-F238E27FC236}">
                <a16:creationId xmlns:a16="http://schemas.microsoft.com/office/drawing/2014/main" id="{B48C651A-D08F-D1A2-D203-28C27758DA49}"/>
              </a:ext>
            </a:extLst>
          </p:cNvPr>
          <p:cNvCxnSpPr>
            <a:cxnSpLocks/>
          </p:cNvCxnSpPr>
          <p:nvPr/>
        </p:nvCxnSpPr>
        <p:spPr>
          <a:xfrm flipH="1">
            <a:off x="7681869" y="6197909"/>
            <a:ext cx="896407" cy="0"/>
          </a:xfrm>
          <a:prstGeom prst="straightConnector1">
            <a:avLst/>
          </a:prstGeom>
          <a:ln w="7620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正方形/長方形 15">
            <a:extLst>
              <a:ext uri="{FF2B5EF4-FFF2-40B4-BE49-F238E27FC236}">
                <a16:creationId xmlns:a16="http://schemas.microsoft.com/office/drawing/2014/main" id="{232BA9EA-EF42-29F0-07D8-F3F5D641C47E}"/>
              </a:ext>
            </a:extLst>
          </p:cNvPr>
          <p:cNvSpPr/>
          <p:nvPr/>
        </p:nvSpPr>
        <p:spPr>
          <a:xfrm>
            <a:off x="8608195" y="6183754"/>
            <a:ext cx="1107996" cy="124917"/>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1CD162DD-84AC-1130-C80B-426132637F0D}"/>
              </a:ext>
            </a:extLst>
          </p:cNvPr>
          <p:cNvSpPr txBox="1"/>
          <p:nvPr/>
        </p:nvSpPr>
        <p:spPr>
          <a:xfrm>
            <a:off x="8618585" y="5992666"/>
            <a:ext cx="1107996" cy="369332"/>
          </a:xfrm>
          <a:prstGeom prst="rect">
            <a:avLst/>
          </a:prstGeom>
          <a:noFill/>
        </p:spPr>
        <p:txBody>
          <a:bodyPr wrap="none" rtlCol="0">
            <a:spAutoFit/>
          </a:bodyPr>
          <a:lstStyle/>
          <a:p>
            <a:r>
              <a:rPr kumimoji="1" lang="ja-JP" altLang="en-US" b="1" dirty="0">
                <a:solidFill>
                  <a:schemeClr val="accent4">
                    <a:lumMod val="75000"/>
                  </a:schemeClr>
                </a:solidFill>
              </a:rPr>
              <a:t>追加する</a:t>
            </a:r>
          </a:p>
        </p:txBody>
      </p:sp>
      <p:sp>
        <p:nvSpPr>
          <p:cNvPr id="17" name="楕円 16">
            <a:extLst>
              <a:ext uri="{FF2B5EF4-FFF2-40B4-BE49-F238E27FC236}">
                <a16:creationId xmlns:a16="http://schemas.microsoft.com/office/drawing/2014/main" id="{0DC0FCE4-F2DD-3488-04C0-734537323047}"/>
              </a:ext>
            </a:extLst>
          </p:cNvPr>
          <p:cNvSpPr/>
          <p:nvPr/>
        </p:nvSpPr>
        <p:spPr>
          <a:xfrm>
            <a:off x="1024756" y="1439856"/>
            <a:ext cx="206220"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ja-JP" altLang="en-US" dirty="0">
                <a:latin typeface="メイリオ" panose="020B0604030504040204" pitchFamily="50" charset="-128"/>
                <a:ea typeface="メイリオ" panose="020B0604030504040204" pitchFamily="50" charset="-128"/>
              </a:rPr>
              <a:t>１</a:t>
            </a:r>
          </a:p>
        </p:txBody>
      </p:sp>
      <p:sp>
        <p:nvSpPr>
          <p:cNvPr id="18" name="楕円 17">
            <a:extLst>
              <a:ext uri="{FF2B5EF4-FFF2-40B4-BE49-F238E27FC236}">
                <a16:creationId xmlns:a16="http://schemas.microsoft.com/office/drawing/2014/main" id="{09EFB69E-C273-6784-D975-4CC65C4371DA}"/>
              </a:ext>
            </a:extLst>
          </p:cNvPr>
          <p:cNvSpPr/>
          <p:nvPr/>
        </p:nvSpPr>
        <p:spPr>
          <a:xfrm>
            <a:off x="1060883" y="2329787"/>
            <a:ext cx="206220"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19" name="楕円 18">
            <a:extLst>
              <a:ext uri="{FF2B5EF4-FFF2-40B4-BE49-F238E27FC236}">
                <a16:creationId xmlns:a16="http://schemas.microsoft.com/office/drawing/2014/main" id="{FD8AFE17-8B86-7CFF-3757-3B4A48AF4143}"/>
              </a:ext>
            </a:extLst>
          </p:cNvPr>
          <p:cNvSpPr/>
          <p:nvPr/>
        </p:nvSpPr>
        <p:spPr>
          <a:xfrm>
            <a:off x="9746110" y="6067699"/>
            <a:ext cx="206220"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ja-JP" altLang="en-US" dirty="0">
                <a:latin typeface="メイリオ" panose="020B0604030504040204" pitchFamily="50" charset="-128"/>
                <a:ea typeface="メイリオ" panose="020B0604030504040204" pitchFamily="50" charset="-128"/>
              </a:rPr>
              <a:t>３</a:t>
            </a:r>
          </a:p>
        </p:txBody>
      </p:sp>
      <p:sp>
        <p:nvSpPr>
          <p:cNvPr id="29" name="正方形/長方形 28">
            <a:extLst>
              <a:ext uri="{FF2B5EF4-FFF2-40B4-BE49-F238E27FC236}">
                <a16:creationId xmlns:a16="http://schemas.microsoft.com/office/drawing/2014/main" id="{991463B4-0289-5C06-FAF1-92E89EC07275}"/>
              </a:ext>
            </a:extLst>
          </p:cNvPr>
          <p:cNvSpPr/>
          <p:nvPr/>
        </p:nvSpPr>
        <p:spPr>
          <a:xfrm>
            <a:off x="6716393" y="1796885"/>
            <a:ext cx="4030940" cy="102147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lang="en-US" altLang="ja-JP" sz="1200" dirty="0">
              <a:solidFill>
                <a:schemeClr val="tx1"/>
              </a:solidFill>
            </a:endParaRPr>
          </a:p>
        </p:txBody>
      </p:sp>
      <p:pic>
        <p:nvPicPr>
          <p:cNvPr id="22" name="図 21">
            <a:extLst>
              <a:ext uri="{FF2B5EF4-FFF2-40B4-BE49-F238E27FC236}">
                <a16:creationId xmlns:a16="http://schemas.microsoft.com/office/drawing/2014/main" id="{37A768CB-6A81-71DB-479A-65242BF8D651}"/>
              </a:ext>
            </a:extLst>
          </p:cNvPr>
          <p:cNvPicPr>
            <a:picLocks noChangeAspect="1"/>
          </p:cNvPicPr>
          <p:nvPr/>
        </p:nvPicPr>
        <p:blipFill>
          <a:blip r:embed="rId2"/>
          <a:stretch>
            <a:fillRect/>
          </a:stretch>
        </p:blipFill>
        <p:spPr>
          <a:xfrm>
            <a:off x="6901901" y="1980557"/>
            <a:ext cx="1629002" cy="600159"/>
          </a:xfrm>
          <a:prstGeom prst="rect">
            <a:avLst/>
          </a:prstGeom>
          <a:ln>
            <a:solidFill>
              <a:schemeClr val="bg2">
                <a:lumMod val="90000"/>
              </a:schemeClr>
            </a:solidFill>
          </a:ln>
        </p:spPr>
      </p:pic>
      <p:pic>
        <p:nvPicPr>
          <p:cNvPr id="23" name="図 22">
            <a:extLst>
              <a:ext uri="{FF2B5EF4-FFF2-40B4-BE49-F238E27FC236}">
                <a16:creationId xmlns:a16="http://schemas.microsoft.com/office/drawing/2014/main" id="{90A4F5A3-F1D1-3A9A-0785-6EA2F510BBD5}"/>
              </a:ext>
            </a:extLst>
          </p:cNvPr>
          <p:cNvPicPr>
            <a:picLocks noChangeAspect="1"/>
          </p:cNvPicPr>
          <p:nvPr/>
        </p:nvPicPr>
        <p:blipFill>
          <a:blip r:embed="rId3"/>
          <a:stretch>
            <a:fillRect/>
          </a:stretch>
        </p:blipFill>
        <p:spPr>
          <a:xfrm>
            <a:off x="8966089" y="1904346"/>
            <a:ext cx="1590897" cy="752580"/>
          </a:xfrm>
          <a:prstGeom prst="rect">
            <a:avLst/>
          </a:prstGeom>
          <a:ln>
            <a:solidFill>
              <a:schemeClr val="bg2">
                <a:lumMod val="90000"/>
              </a:schemeClr>
            </a:solidFill>
          </a:ln>
        </p:spPr>
      </p:pic>
      <p:sp>
        <p:nvSpPr>
          <p:cNvPr id="31" name="正方形/長方形 30">
            <a:extLst>
              <a:ext uri="{FF2B5EF4-FFF2-40B4-BE49-F238E27FC236}">
                <a16:creationId xmlns:a16="http://schemas.microsoft.com/office/drawing/2014/main" id="{CC6A8057-71B1-8BBA-7CB8-AFA2479741BB}"/>
              </a:ext>
            </a:extLst>
          </p:cNvPr>
          <p:cNvSpPr/>
          <p:nvPr/>
        </p:nvSpPr>
        <p:spPr>
          <a:xfrm>
            <a:off x="2173830" y="2603244"/>
            <a:ext cx="4364269" cy="1173275"/>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lang="en-US" altLang="ja-JP" sz="1200" dirty="0">
              <a:solidFill>
                <a:schemeClr val="tx1"/>
              </a:solidFill>
            </a:endParaRPr>
          </a:p>
        </p:txBody>
      </p:sp>
      <p:pic>
        <p:nvPicPr>
          <p:cNvPr id="24" name="図 23">
            <a:extLst>
              <a:ext uri="{FF2B5EF4-FFF2-40B4-BE49-F238E27FC236}">
                <a16:creationId xmlns:a16="http://schemas.microsoft.com/office/drawing/2014/main" id="{D93ADC11-5118-8D45-6C6B-556E6B4F2E69}"/>
              </a:ext>
            </a:extLst>
          </p:cNvPr>
          <p:cNvPicPr>
            <a:picLocks noChangeAspect="1"/>
          </p:cNvPicPr>
          <p:nvPr/>
        </p:nvPicPr>
        <p:blipFill>
          <a:blip r:embed="rId4"/>
          <a:stretch>
            <a:fillRect/>
          </a:stretch>
        </p:blipFill>
        <p:spPr>
          <a:xfrm>
            <a:off x="2447474" y="2818355"/>
            <a:ext cx="1657581" cy="743054"/>
          </a:xfrm>
          <a:prstGeom prst="rect">
            <a:avLst/>
          </a:prstGeom>
          <a:ln>
            <a:solidFill>
              <a:schemeClr val="bg2">
                <a:lumMod val="90000"/>
              </a:schemeClr>
            </a:solidFill>
          </a:ln>
        </p:spPr>
      </p:pic>
      <p:pic>
        <p:nvPicPr>
          <p:cNvPr id="26" name="図 25">
            <a:extLst>
              <a:ext uri="{FF2B5EF4-FFF2-40B4-BE49-F238E27FC236}">
                <a16:creationId xmlns:a16="http://schemas.microsoft.com/office/drawing/2014/main" id="{B7F6324F-03DD-A90C-7A4D-6D7983B5AE41}"/>
              </a:ext>
            </a:extLst>
          </p:cNvPr>
          <p:cNvPicPr>
            <a:picLocks noChangeAspect="1"/>
          </p:cNvPicPr>
          <p:nvPr/>
        </p:nvPicPr>
        <p:blipFill>
          <a:blip r:embed="rId5"/>
          <a:stretch>
            <a:fillRect/>
          </a:stretch>
        </p:blipFill>
        <p:spPr>
          <a:xfrm>
            <a:off x="4419060" y="2915726"/>
            <a:ext cx="2000529" cy="495369"/>
          </a:xfrm>
          <a:prstGeom prst="rect">
            <a:avLst/>
          </a:prstGeom>
          <a:ln>
            <a:solidFill>
              <a:schemeClr val="bg2">
                <a:lumMod val="90000"/>
              </a:schemeClr>
            </a:solidFill>
          </a:ln>
        </p:spPr>
      </p:pic>
      <p:cxnSp>
        <p:nvCxnSpPr>
          <p:cNvPr id="32" name="直線矢印コネクタ 31">
            <a:extLst>
              <a:ext uri="{FF2B5EF4-FFF2-40B4-BE49-F238E27FC236}">
                <a16:creationId xmlns:a16="http://schemas.microsoft.com/office/drawing/2014/main" id="{02955551-19D7-3FDC-1CF9-6F10FA286C7C}"/>
              </a:ext>
            </a:extLst>
          </p:cNvPr>
          <p:cNvCxnSpPr>
            <a:cxnSpLocks/>
          </p:cNvCxnSpPr>
          <p:nvPr/>
        </p:nvCxnSpPr>
        <p:spPr>
          <a:xfrm>
            <a:off x="8357811" y="2317153"/>
            <a:ext cx="581891"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直線矢印コネクタ 33">
            <a:extLst>
              <a:ext uri="{FF2B5EF4-FFF2-40B4-BE49-F238E27FC236}">
                <a16:creationId xmlns:a16="http://schemas.microsoft.com/office/drawing/2014/main" id="{3B96D947-F719-0E0C-7C34-737F65042B40}"/>
              </a:ext>
            </a:extLst>
          </p:cNvPr>
          <p:cNvCxnSpPr>
            <a:cxnSpLocks/>
          </p:cNvCxnSpPr>
          <p:nvPr/>
        </p:nvCxnSpPr>
        <p:spPr>
          <a:xfrm>
            <a:off x="3814109" y="3158539"/>
            <a:ext cx="581891"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08989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８</a:t>
            </a:r>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章　</a:t>
            </a:r>
            <a:r>
              <a:rPr kumimoji="1" lang="en-US" altLang="ja-JP" sz="3000" b="1" dirty="0">
                <a:solidFill>
                  <a:schemeClr val="tx1">
                    <a:lumMod val="65000"/>
                    <a:lumOff val="35000"/>
                  </a:schemeClr>
                </a:solidFill>
                <a:latin typeface="メイリオ" panose="020B0604030504040204" pitchFamily="50" charset="-128"/>
                <a:ea typeface="メイリオ" panose="020B0604030504040204" pitchFamily="50" charset="-128"/>
              </a:rPr>
              <a:t>S3</a:t>
            </a:r>
            <a:endPar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78782C7-6070-7C3A-DAB7-3101F4C6ED5C}"/>
              </a:ext>
            </a:extLst>
          </p:cNvPr>
          <p:cNvSpPr/>
          <p:nvPr/>
        </p:nvSpPr>
        <p:spPr>
          <a:xfrm>
            <a:off x="698353" y="1019123"/>
            <a:ext cx="10540261" cy="552895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
        <p:nvSpPr>
          <p:cNvPr id="6" name="正方形/長方形 5">
            <a:extLst>
              <a:ext uri="{FF2B5EF4-FFF2-40B4-BE49-F238E27FC236}">
                <a16:creationId xmlns:a16="http://schemas.microsoft.com/office/drawing/2014/main" id="{75CE81D2-C5EE-4E63-DA6F-4D50A6E33162}"/>
              </a:ext>
            </a:extLst>
          </p:cNvPr>
          <p:cNvSpPr/>
          <p:nvPr/>
        </p:nvSpPr>
        <p:spPr>
          <a:xfrm>
            <a:off x="7475472" y="1878117"/>
            <a:ext cx="3353937" cy="1012286"/>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200" dirty="0">
                <a:solidFill>
                  <a:schemeClr val="tx1"/>
                </a:solidFill>
              </a:rPr>
              <a:t>play()</a:t>
            </a:r>
            <a:r>
              <a:rPr lang="ja-JP" altLang="en-US" sz="1200" dirty="0">
                <a:solidFill>
                  <a:schemeClr val="tx1"/>
                </a:solidFill>
              </a:rPr>
              <a:t>の返り値 </a:t>
            </a:r>
            <a:r>
              <a:rPr lang="en-US" altLang="ja-JP" sz="1200" dirty="0">
                <a:solidFill>
                  <a:schemeClr val="tx1"/>
                </a:solidFill>
              </a:rPr>
              <a:t>prize</a:t>
            </a:r>
          </a:p>
          <a:p>
            <a:endParaRPr lang="en-US" altLang="ja-JP" sz="1200" dirty="0">
              <a:solidFill>
                <a:schemeClr val="tx1"/>
              </a:solidFill>
            </a:endParaRPr>
          </a:p>
          <a:p>
            <a:r>
              <a:rPr lang="ja-JP" altLang="en-US" sz="1200" dirty="0">
                <a:solidFill>
                  <a:schemeClr val="tx1"/>
                </a:solidFill>
              </a:rPr>
              <a:t>元々：数値０のみ</a:t>
            </a:r>
            <a:endParaRPr lang="en-US" altLang="ja-JP" sz="1200" dirty="0">
              <a:solidFill>
                <a:schemeClr val="tx1"/>
              </a:solidFill>
            </a:endParaRPr>
          </a:p>
          <a:p>
            <a:endParaRPr lang="en-US" altLang="ja-JP" sz="1200" dirty="0">
              <a:solidFill>
                <a:schemeClr val="tx1"/>
              </a:solidFill>
            </a:endParaRPr>
          </a:p>
          <a:p>
            <a:r>
              <a:rPr lang="ja-JP" altLang="en-US" sz="1200" dirty="0">
                <a:solidFill>
                  <a:schemeClr val="tx1"/>
                </a:solidFill>
              </a:rPr>
              <a:t>変更後：数値</a:t>
            </a:r>
            <a:r>
              <a:rPr lang="en-US" altLang="ja-JP" sz="1200" dirty="0">
                <a:solidFill>
                  <a:schemeClr val="tx1"/>
                </a:solidFill>
              </a:rPr>
              <a:t>0</a:t>
            </a:r>
            <a:r>
              <a:rPr lang="ja-JP" altLang="en-US" sz="1200" dirty="0">
                <a:solidFill>
                  <a:schemeClr val="tx1"/>
                </a:solidFill>
              </a:rPr>
              <a:t> </a:t>
            </a:r>
            <a:r>
              <a:rPr lang="en-US" altLang="ja-JP" sz="1200" dirty="0">
                <a:solidFill>
                  <a:schemeClr val="tx1"/>
                </a:solidFill>
              </a:rPr>
              <a:t>+</a:t>
            </a:r>
            <a:r>
              <a:rPr lang="ja-JP" altLang="en-US" sz="1200" dirty="0">
                <a:solidFill>
                  <a:schemeClr val="tx1"/>
                </a:solidFill>
              </a:rPr>
              <a:t> 属性 </a:t>
            </a:r>
            <a:r>
              <a:rPr lang="en-US" altLang="ja-JP" sz="1200" dirty="0">
                <a:solidFill>
                  <a:schemeClr val="tx1"/>
                </a:solidFill>
              </a:rPr>
              <a:t>symbols(“</a:t>
            </a:r>
            <a:r>
              <a:rPr lang="ja-JP" altLang="en-US" sz="1200" dirty="0">
                <a:solidFill>
                  <a:schemeClr val="tx1"/>
                </a:solidFill>
              </a:rPr>
              <a:t>０</a:t>
            </a:r>
            <a:r>
              <a:rPr lang="en-US" altLang="ja-JP" sz="1200" dirty="0">
                <a:solidFill>
                  <a:schemeClr val="tx1"/>
                </a:solidFill>
              </a:rPr>
              <a:t>”, ”7”, “0”)</a:t>
            </a:r>
          </a:p>
        </p:txBody>
      </p:sp>
      <p:sp>
        <p:nvSpPr>
          <p:cNvPr id="29" name="正方形/長方形 28">
            <a:extLst>
              <a:ext uri="{FF2B5EF4-FFF2-40B4-BE49-F238E27FC236}">
                <a16:creationId xmlns:a16="http://schemas.microsoft.com/office/drawing/2014/main" id="{8E431E00-8AE2-6915-AB24-8C9D81B6E91E}"/>
              </a:ext>
            </a:extLst>
          </p:cNvPr>
          <p:cNvSpPr/>
          <p:nvPr/>
        </p:nvSpPr>
        <p:spPr>
          <a:xfrm>
            <a:off x="4814665" y="1787719"/>
            <a:ext cx="2578465" cy="1895097"/>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lang="en-US" altLang="ja-JP" sz="1200" dirty="0">
              <a:solidFill>
                <a:schemeClr val="tx1"/>
              </a:solidFill>
            </a:endParaRPr>
          </a:p>
        </p:txBody>
      </p:sp>
      <p:sp>
        <p:nvSpPr>
          <p:cNvPr id="3" name="字幕 2">
            <a:extLst>
              <a:ext uri="{FF2B5EF4-FFF2-40B4-BE49-F238E27FC236}">
                <a16:creationId xmlns:a16="http://schemas.microsoft.com/office/drawing/2014/main" id="{EF422FEA-2F34-70ED-56A9-01A65A2AD142}"/>
              </a:ext>
            </a:extLst>
          </p:cNvPr>
          <p:cNvSpPr>
            <a:spLocks noGrp="1"/>
          </p:cNvSpPr>
          <p:nvPr>
            <p:ph type="subTitle" idx="1"/>
          </p:nvPr>
        </p:nvSpPr>
        <p:spPr>
          <a:xfrm>
            <a:off x="682560" y="1143635"/>
            <a:ext cx="9391483" cy="5446283"/>
          </a:xfrm>
        </p:spPr>
        <p:txBody>
          <a:bodyPr>
            <a:normAutofit/>
          </a:bodyPr>
          <a:lstStyle/>
          <a:p>
            <a:pPr algn="l"/>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a:t>
            </a:r>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戻り値に属性を追加する</a:t>
            </a:r>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実行内容：</a:t>
            </a:r>
            <a:r>
              <a:rPr lang="en-US" altLang="ja-JP" sz="1200" dirty="0" err="1">
                <a:latin typeface="メイリオ" panose="020B0604030504040204" pitchFamily="50" charset="-128"/>
                <a:ea typeface="メイリオ" panose="020B0604030504040204" pitchFamily="50" charset="-128"/>
              </a:rPr>
              <a:t>attr</a:t>
            </a:r>
            <a:r>
              <a:rPr lang="en-US" altLang="ja-JP" sz="1200" dirty="0">
                <a:latin typeface="メイリオ" panose="020B0604030504040204" pitchFamily="50" charset="-128"/>
                <a:ea typeface="メイリオ" panose="020B0604030504040204" pitchFamily="50" charset="-128"/>
              </a:rPr>
              <a:t>(</a:t>
            </a:r>
            <a:r>
              <a:rPr lang="en-US" altLang="ja-JP" sz="1200" dirty="0" err="1">
                <a:latin typeface="メイリオ" panose="020B0604030504040204" pitchFamily="50" charset="-128"/>
                <a:ea typeface="メイリオ" panose="020B0604030504040204" pitchFamily="50" charset="-128"/>
              </a:rPr>
              <a:t>prize,”symbols</a:t>
            </a:r>
            <a:r>
              <a:rPr lang="en-US" altLang="ja-JP" sz="1200" dirty="0">
                <a:latin typeface="メイリオ" panose="020B0604030504040204" pitchFamily="50" charset="-128"/>
                <a:ea typeface="メイリオ" panose="020B0604030504040204" pitchFamily="50" charset="-128"/>
              </a:rPr>
              <a:t>”) &lt;- symbols</a:t>
            </a:r>
            <a:r>
              <a:rPr lang="ja-JP" altLang="en-US" sz="1200" dirty="0">
                <a:latin typeface="メイリオ" panose="020B0604030504040204" pitchFamily="50" charset="-128"/>
                <a:ea typeface="メイリオ" panose="020B0604030504040204" pitchFamily="50" charset="-128"/>
              </a:rPr>
              <a:t>　で、</a:t>
            </a:r>
            <a:r>
              <a:rPr lang="en-US" altLang="ja-JP" sz="1200" dirty="0">
                <a:latin typeface="メイリオ" panose="020B0604030504040204" pitchFamily="50" charset="-128"/>
                <a:ea typeface="メイリオ" panose="020B0604030504040204" pitchFamily="50" charset="-128"/>
              </a:rPr>
              <a:t>prize</a:t>
            </a:r>
            <a:r>
              <a:rPr lang="ja-JP" altLang="en-US" sz="1200" dirty="0">
                <a:latin typeface="メイリオ" panose="020B0604030504040204" pitchFamily="50" charset="-128"/>
                <a:ea typeface="メイリオ" panose="020B0604030504040204" pitchFamily="50" charset="-128"/>
              </a:rPr>
              <a:t>に</a:t>
            </a:r>
            <a:r>
              <a:rPr lang="en-US" altLang="ja-JP" sz="1200" dirty="0">
                <a:latin typeface="メイリオ" panose="020B0604030504040204" pitchFamily="50" charset="-128"/>
                <a:ea typeface="メイリオ" panose="020B0604030504040204" pitchFamily="50" charset="-128"/>
              </a:rPr>
              <a:t>symbols</a:t>
            </a:r>
            <a:r>
              <a:rPr lang="ja-JP" altLang="en-US" sz="1200" dirty="0">
                <a:latin typeface="メイリオ" panose="020B0604030504040204" pitchFamily="50" charset="-128"/>
                <a:ea typeface="メイリオ" panose="020B0604030504040204" pitchFamily="50" charset="-128"/>
              </a:rPr>
              <a:t>を属性として追加する</a:t>
            </a:r>
            <a:endParaRPr lang="en-US" altLang="ja-JP" sz="1200" dirty="0">
              <a:latin typeface="メイリオ" panose="020B0604030504040204" pitchFamily="50" charset="-128"/>
              <a:ea typeface="メイリオ" panose="020B0604030504040204" pitchFamily="50" charset="-128"/>
            </a:endParaRPr>
          </a:p>
          <a:p>
            <a:pPr algn="l"/>
            <a:r>
              <a:rPr lang="en-US" altLang="ja-JP" sz="1200" dirty="0">
                <a:latin typeface="メイリオ" panose="020B0604030504040204" pitchFamily="50" charset="-128"/>
                <a:ea typeface="メイリオ" panose="020B0604030504040204" pitchFamily="50" charset="-128"/>
              </a:rPr>
              <a:t>				</a:t>
            </a:r>
            <a:r>
              <a:rPr lang="ja-JP" altLang="en-US" sz="1200" dirty="0">
                <a:latin typeface="メイリオ" panose="020B0604030504040204" pitchFamily="50" charset="-128"/>
                <a:ea typeface="メイリオ" panose="020B0604030504040204" pitchFamily="50" charset="-128"/>
              </a:rPr>
              <a:t>　　　変更前</a:t>
            </a:r>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r>
              <a:rPr lang="en-US" altLang="ja-JP" sz="1200" dirty="0">
                <a:latin typeface="メイリオ" panose="020B0604030504040204" pitchFamily="50" charset="-128"/>
                <a:ea typeface="メイリオ" panose="020B0604030504040204" pitchFamily="50" charset="-128"/>
              </a:rPr>
              <a:t>				</a:t>
            </a:r>
            <a:r>
              <a:rPr lang="ja-JP" altLang="en-US" sz="1200" dirty="0">
                <a:latin typeface="メイリオ" panose="020B0604030504040204" pitchFamily="50" charset="-128"/>
                <a:ea typeface="メイリオ" panose="020B0604030504040204" pitchFamily="50" charset="-128"/>
              </a:rPr>
              <a:t>　　　変更後</a:t>
            </a:r>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実行内容：</a:t>
            </a:r>
            <a:r>
              <a:rPr lang="en-US" altLang="ja-JP" sz="1200" dirty="0">
                <a:latin typeface="メイリオ" panose="020B0604030504040204" pitchFamily="50" charset="-128"/>
                <a:ea typeface="メイリオ" panose="020B0604030504040204" pitchFamily="50" charset="-128"/>
              </a:rPr>
              <a:t>structure(score(symbols),symbols = symbols)</a:t>
            </a:r>
            <a:r>
              <a:rPr lang="ja-JP" altLang="en-US" sz="1200" dirty="0">
                <a:latin typeface="メイリオ" panose="020B0604030504040204" pitchFamily="50" charset="-128"/>
                <a:ea typeface="メイリオ" panose="020B0604030504040204" pitchFamily="50" charset="-128"/>
              </a:rPr>
              <a:t>　で、</a:t>
            </a:r>
            <a:r>
              <a:rPr lang="en-US" altLang="ja-JP" sz="1200" dirty="0">
                <a:latin typeface="メイリオ" panose="020B0604030504040204" pitchFamily="50" charset="-128"/>
                <a:ea typeface="メイリオ" panose="020B0604030504040204" pitchFamily="50" charset="-128"/>
              </a:rPr>
              <a:t> prize</a:t>
            </a:r>
            <a:r>
              <a:rPr lang="ja-JP" altLang="en-US" sz="1200" dirty="0">
                <a:latin typeface="メイリオ" panose="020B0604030504040204" pitchFamily="50" charset="-128"/>
                <a:ea typeface="メイリオ" panose="020B0604030504040204" pitchFamily="50" charset="-128"/>
              </a:rPr>
              <a:t>に</a:t>
            </a:r>
            <a:r>
              <a:rPr lang="en-US" altLang="ja-JP" sz="1200" dirty="0">
                <a:latin typeface="メイリオ" panose="020B0604030504040204" pitchFamily="50" charset="-128"/>
                <a:ea typeface="メイリオ" panose="020B0604030504040204" pitchFamily="50" charset="-128"/>
              </a:rPr>
              <a:t>symbols</a:t>
            </a:r>
            <a:r>
              <a:rPr lang="ja-JP" altLang="en-US" sz="1200" dirty="0">
                <a:latin typeface="メイリオ" panose="020B0604030504040204" pitchFamily="50" charset="-128"/>
                <a:ea typeface="メイリオ" panose="020B0604030504040204" pitchFamily="50" charset="-128"/>
              </a:rPr>
              <a:t>を属性として追加する</a:t>
            </a:r>
            <a:endParaRPr lang="en-US" altLang="ja-JP" sz="1200" dirty="0">
              <a:latin typeface="メイリオ" panose="020B0604030504040204" pitchFamily="50" charset="-128"/>
              <a:ea typeface="メイリオ" panose="020B0604030504040204" pitchFamily="50" charset="-128"/>
            </a:endParaRPr>
          </a:p>
        </p:txBody>
      </p:sp>
      <p:cxnSp>
        <p:nvCxnSpPr>
          <p:cNvPr id="13" name="直線矢印コネクタ 12">
            <a:extLst>
              <a:ext uri="{FF2B5EF4-FFF2-40B4-BE49-F238E27FC236}">
                <a16:creationId xmlns:a16="http://schemas.microsoft.com/office/drawing/2014/main" id="{74FF8975-518B-E7D8-023D-CCCCAEBC6F95}"/>
              </a:ext>
            </a:extLst>
          </p:cNvPr>
          <p:cNvCxnSpPr>
            <a:cxnSpLocks/>
          </p:cNvCxnSpPr>
          <p:nvPr/>
        </p:nvCxnSpPr>
        <p:spPr>
          <a:xfrm>
            <a:off x="4232774" y="2435710"/>
            <a:ext cx="581891"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7" name="図 16">
            <a:extLst>
              <a:ext uri="{FF2B5EF4-FFF2-40B4-BE49-F238E27FC236}">
                <a16:creationId xmlns:a16="http://schemas.microsoft.com/office/drawing/2014/main" id="{A8D0E8B1-681A-ADC3-82BE-ACEA70982A43}"/>
              </a:ext>
            </a:extLst>
          </p:cNvPr>
          <p:cNvPicPr>
            <a:picLocks noChangeAspect="1"/>
          </p:cNvPicPr>
          <p:nvPr/>
        </p:nvPicPr>
        <p:blipFill>
          <a:blip r:embed="rId3"/>
          <a:stretch>
            <a:fillRect/>
          </a:stretch>
        </p:blipFill>
        <p:spPr>
          <a:xfrm>
            <a:off x="5584053" y="1878117"/>
            <a:ext cx="1629002" cy="600159"/>
          </a:xfrm>
          <a:prstGeom prst="rect">
            <a:avLst/>
          </a:prstGeom>
          <a:ln>
            <a:solidFill>
              <a:schemeClr val="bg2">
                <a:lumMod val="90000"/>
              </a:schemeClr>
            </a:solidFill>
          </a:ln>
        </p:spPr>
      </p:pic>
      <p:pic>
        <p:nvPicPr>
          <p:cNvPr id="19" name="図 18">
            <a:extLst>
              <a:ext uri="{FF2B5EF4-FFF2-40B4-BE49-F238E27FC236}">
                <a16:creationId xmlns:a16="http://schemas.microsoft.com/office/drawing/2014/main" id="{DAA0D1C2-51F9-DA11-DA75-E18227D8701D}"/>
              </a:ext>
            </a:extLst>
          </p:cNvPr>
          <p:cNvPicPr>
            <a:picLocks noChangeAspect="1"/>
          </p:cNvPicPr>
          <p:nvPr/>
        </p:nvPicPr>
        <p:blipFill>
          <a:blip r:embed="rId4"/>
          <a:stretch>
            <a:fillRect/>
          </a:stretch>
        </p:blipFill>
        <p:spPr>
          <a:xfrm>
            <a:off x="5584053" y="2684340"/>
            <a:ext cx="1590897" cy="752580"/>
          </a:xfrm>
          <a:prstGeom prst="rect">
            <a:avLst/>
          </a:prstGeom>
          <a:ln>
            <a:solidFill>
              <a:schemeClr val="bg2">
                <a:lumMod val="90000"/>
              </a:schemeClr>
            </a:solidFill>
          </a:ln>
        </p:spPr>
      </p:pic>
      <p:pic>
        <p:nvPicPr>
          <p:cNvPr id="21" name="図 20">
            <a:extLst>
              <a:ext uri="{FF2B5EF4-FFF2-40B4-BE49-F238E27FC236}">
                <a16:creationId xmlns:a16="http://schemas.microsoft.com/office/drawing/2014/main" id="{6ADA160F-357A-6F9B-D53F-792423DD23A8}"/>
              </a:ext>
            </a:extLst>
          </p:cNvPr>
          <p:cNvPicPr>
            <a:picLocks noChangeAspect="1"/>
          </p:cNvPicPr>
          <p:nvPr/>
        </p:nvPicPr>
        <p:blipFill>
          <a:blip r:embed="rId5"/>
          <a:stretch>
            <a:fillRect/>
          </a:stretch>
        </p:blipFill>
        <p:spPr>
          <a:xfrm>
            <a:off x="1362591" y="1914223"/>
            <a:ext cx="2724530" cy="1133633"/>
          </a:xfrm>
          <a:prstGeom prst="rect">
            <a:avLst/>
          </a:prstGeom>
          <a:ln>
            <a:solidFill>
              <a:schemeClr val="bg2">
                <a:lumMod val="90000"/>
              </a:schemeClr>
            </a:solidFill>
          </a:ln>
        </p:spPr>
      </p:pic>
      <p:pic>
        <p:nvPicPr>
          <p:cNvPr id="23" name="図 22">
            <a:extLst>
              <a:ext uri="{FF2B5EF4-FFF2-40B4-BE49-F238E27FC236}">
                <a16:creationId xmlns:a16="http://schemas.microsoft.com/office/drawing/2014/main" id="{980B561A-DADC-161F-09B7-89EBCE8C84AF}"/>
              </a:ext>
            </a:extLst>
          </p:cNvPr>
          <p:cNvPicPr>
            <a:picLocks noChangeAspect="1"/>
          </p:cNvPicPr>
          <p:nvPr/>
        </p:nvPicPr>
        <p:blipFill>
          <a:blip r:embed="rId6"/>
          <a:stretch>
            <a:fillRect/>
          </a:stretch>
        </p:blipFill>
        <p:spPr>
          <a:xfrm>
            <a:off x="1362591" y="4317776"/>
            <a:ext cx="3591426" cy="771633"/>
          </a:xfrm>
          <a:prstGeom prst="rect">
            <a:avLst/>
          </a:prstGeom>
          <a:ln>
            <a:solidFill>
              <a:schemeClr val="bg2">
                <a:lumMod val="90000"/>
              </a:schemeClr>
            </a:solidFill>
          </a:ln>
        </p:spPr>
      </p:pic>
      <p:pic>
        <p:nvPicPr>
          <p:cNvPr id="25" name="図 24">
            <a:extLst>
              <a:ext uri="{FF2B5EF4-FFF2-40B4-BE49-F238E27FC236}">
                <a16:creationId xmlns:a16="http://schemas.microsoft.com/office/drawing/2014/main" id="{398D2A48-47F7-8039-6634-6C1BEC2070A1}"/>
              </a:ext>
            </a:extLst>
          </p:cNvPr>
          <p:cNvPicPr>
            <a:picLocks noChangeAspect="1"/>
          </p:cNvPicPr>
          <p:nvPr/>
        </p:nvPicPr>
        <p:blipFill>
          <a:blip r:embed="rId7"/>
          <a:stretch>
            <a:fillRect/>
          </a:stretch>
        </p:blipFill>
        <p:spPr>
          <a:xfrm>
            <a:off x="5573282" y="4322884"/>
            <a:ext cx="1790950" cy="781159"/>
          </a:xfrm>
          <a:prstGeom prst="rect">
            <a:avLst/>
          </a:prstGeom>
          <a:ln>
            <a:solidFill>
              <a:schemeClr val="bg2">
                <a:lumMod val="90000"/>
              </a:schemeClr>
            </a:solidFill>
          </a:ln>
        </p:spPr>
      </p:pic>
      <p:cxnSp>
        <p:nvCxnSpPr>
          <p:cNvPr id="26" name="直線矢印コネクタ 25">
            <a:extLst>
              <a:ext uri="{FF2B5EF4-FFF2-40B4-BE49-F238E27FC236}">
                <a16:creationId xmlns:a16="http://schemas.microsoft.com/office/drawing/2014/main" id="{9E725804-674B-8583-A2D0-B18CB170B5F6}"/>
              </a:ext>
            </a:extLst>
          </p:cNvPr>
          <p:cNvCxnSpPr>
            <a:cxnSpLocks/>
          </p:cNvCxnSpPr>
          <p:nvPr/>
        </p:nvCxnSpPr>
        <p:spPr>
          <a:xfrm>
            <a:off x="5005561" y="4607406"/>
            <a:ext cx="372740"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 name="正方形/長方形 27">
            <a:extLst>
              <a:ext uri="{FF2B5EF4-FFF2-40B4-BE49-F238E27FC236}">
                <a16:creationId xmlns:a16="http://schemas.microsoft.com/office/drawing/2014/main" id="{46B8BAB7-7787-0444-B662-BAC025D7468F}"/>
              </a:ext>
            </a:extLst>
          </p:cNvPr>
          <p:cNvSpPr/>
          <p:nvPr/>
        </p:nvSpPr>
        <p:spPr>
          <a:xfrm>
            <a:off x="7705446" y="4317776"/>
            <a:ext cx="2802859" cy="1012286"/>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200" dirty="0">
                <a:solidFill>
                  <a:schemeClr val="tx1"/>
                </a:solidFill>
              </a:rPr>
              <a:t>structure</a:t>
            </a:r>
            <a:r>
              <a:rPr lang="ja-JP" altLang="en-US" sz="1200" dirty="0">
                <a:solidFill>
                  <a:schemeClr val="tx1"/>
                </a:solidFill>
              </a:rPr>
              <a:t>関数</a:t>
            </a:r>
            <a:endParaRPr lang="en-US" altLang="ja-JP" sz="1200" dirty="0">
              <a:solidFill>
                <a:schemeClr val="tx1"/>
              </a:solidFill>
            </a:endParaRPr>
          </a:p>
          <a:p>
            <a:endParaRPr lang="en-US" altLang="ja-JP" sz="1200" dirty="0">
              <a:solidFill>
                <a:schemeClr val="tx1"/>
              </a:solidFill>
            </a:endParaRPr>
          </a:p>
          <a:p>
            <a:r>
              <a:rPr lang="en-US" altLang="ja-JP" sz="1200" dirty="0">
                <a:solidFill>
                  <a:schemeClr val="tx1"/>
                </a:solidFill>
              </a:rPr>
              <a:t>structure(data, tag = value)</a:t>
            </a:r>
          </a:p>
          <a:p>
            <a:r>
              <a:rPr lang="en-US" altLang="ja-JP" sz="1200" dirty="0">
                <a:solidFill>
                  <a:schemeClr val="tx1"/>
                </a:solidFill>
              </a:rPr>
              <a:t>data : </a:t>
            </a:r>
            <a:r>
              <a:rPr lang="ja-JP" altLang="en-US" sz="1200" dirty="0">
                <a:solidFill>
                  <a:schemeClr val="tx1"/>
                </a:solidFill>
              </a:rPr>
              <a:t>オブジェクト</a:t>
            </a:r>
            <a:endParaRPr lang="en-US" altLang="ja-JP" sz="1200" dirty="0">
              <a:solidFill>
                <a:schemeClr val="tx1"/>
              </a:solidFill>
            </a:endParaRPr>
          </a:p>
          <a:p>
            <a:r>
              <a:rPr lang="en-US" altLang="ja-JP" sz="1200" dirty="0">
                <a:solidFill>
                  <a:schemeClr val="tx1"/>
                </a:solidFill>
              </a:rPr>
              <a:t>tag = value  : data</a:t>
            </a:r>
            <a:r>
              <a:rPr lang="ja-JP" altLang="en-US" sz="1200" dirty="0">
                <a:solidFill>
                  <a:schemeClr val="tx1"/>
                </a:solidFill>
              </a:rPr>
              <a:t>に付与する属性</a:t>
            </a:r>
            <a:endParaRPr lang="en-US" altLang="ja-JP" sz="1200" dirty="0">
              <a:solidFill>
                <a:schemeClr val="tx1"/>
              </a:solidFill>
            </a:endParaRPr>
          </a:p>
        </p:txBody>
      </p:sp>
      <p:cxnSp>
        <p:nvCxnSpPr>
          <p:cNvPr id="30" name="直線矢印コネクタ 29">
            <a:extLst>
              <a:ext uri="{FF2B5EF4-FFF2-40B4-BE49-F238E27FC236}">
                <a16:creationId xmlns:a16="http://schemas.microsoft.com/office/drawing/2014/main" id="{B3D6F570-977E-EB1E-266D-214AEA31F9E2}"/>
              </a:ext>
            </a:extLst>
          </p:cNvPr>
          <p:cNvCxnSpPr>
            <a:cxnSpLocks/>
          </p:cNvCxnSpPr>
          <p:nvPr/>
        </p:nvCxnSpPr>
        <p:spPr>
          <a:xfrm>
            <a:off x="5158239" y="2078465"/>
            <a:ext cx="0" cy="605875"/>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 name="楕円 7">
            <a:extLst>
              <a:ext uri="{FF2B5EF4-FFF2-40B4-BE49-F238E27FC236}">
                <a16:creationId xmlns:a16="http://schemas.microsoft.com/office/drawing/2014/main" id="{7C88862C-DC1D-159D-02CB-60BFB2588B62}"/>
              </a:ext>
            </a:extLst>
          </p:cNvPr>
          <p:cNvSpPr/>
          <p:nvPr/>
        </p:nvSpPr>
        <p:spPr>
          <a:xfrm>
            <a:off x="4129664" y="1188605"/>
            <a:ext cx="206220"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ja-JP" altLang="en-US" dirty="0">
                <a:latin typeface="メイリオ" panose="020B0604030504040204" pitchFamily="50" charset="-128"/>
                <a:ea typeface="メイリオ" panose="020B0604030504040204" pitchFamily="50" charset="-128"/>
              </a:rPr>
              <a:t>１</a:t>
            </a:r>
          </a:p>
        </p:txBody>
      </p:sp>
    </p:spTree>
    <p:extLst>
      <p:ext uri="{BB962C8B-B14F-4D97-AF65-F5344CB8AC3E}">
        <p14:creationId xmlns:p14="http://schemas.microsoft.com/office/powerpoint/2010/main" val="3175234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８</a:t>
            </a:r>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章　</a:t>
            </a:r>
            <a:r>
              <a:rPr kumimoji="1" lang="en-US" altLang="ja-JP" sz="3000" b="1" dirty="0">
                <a:solidFill>
                  <a:schemeClr val="tx1">
                    <a:lumMod val="65000"/>
                    <a:lumOff val="35000"/>
                  </a:schemeClr>
                </a:solidFill>
                <a:latin typeface="メイリオ" panose="020B0604030504040204" pitchFamily="50" charset="-128"/>
                <a:ea typeface="メイリオ" panose="020B0604030504040204" pitchFamily="50" charset="-128"/>
              </a:rPr>
              <a:t>S3</a:t>
            </a:r>
            <a:endPar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78782C7-6070-7C3A-DAB7-3101F4C6ED5C}"/>
              </a:ext>
            </a:extLst>
          </p:cNvPr>
          <p:cNvSpPr/>
          <p:nvPr/>
        </p:nvSpPr>
        <p:spPr>
          <a:xfrm>
            <a:off x="698353" y="1019123"/>
            <a:ext cx="10540261" cy="552895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
        <p:nvSpPr>
          <p:cNvPr id="6" name="正方形/長方形 5">
            <a:extLst>
              <a:ext uri="{FF2B5EF4-FFF2-40B4-BE49-F238E27FC236}">
                <a16:creationId xmlns:a16="http://schemas.microsoft.com/office/drawing/2014/main" id="{75CE81D2-C5EE-4E63-DA6F-4D50A6E33162}"/>
              </a:ext>
            </a:extLst>
          </p:cNvPr>
          <p:cNvSpPr/>
          <p:nvPr/>
        </p:nvSpPr>
        <p:spPr>
          <a:xfrm>
            <a:off x="5881765" y="2947087"/>
            <a:ext cx="2784606" cy="1895097"/>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lang="en-US" altLang="ja-JP" sz="1200" dirty="0">
              <a:solidFill>
                <a:schemeClr val="tx1"/>
              </a:solidFill>
            </a:endParaRPr>
          </a:p>
        </p:txBody>
      </p:sp>
      <p:sp>
        <p:nvSpPr>
          <p:cNvPr id="3" name="字幕 2">
            <a:extLst>
              <a:ext uri="{FF2B5EF4-FFF2-40B4-BE49-F238E27FC236}">
                <a16:creationId xmlns:a16="http://schemas.microsoft.com/office/drawing/2014/main" id="{EF422FEA-2F34-70ED-56A9-01A65A2AD142}"/>
              </a:ext>
            </a:extLst>
          </p:cNvPr>
          <p:cNvSpPr>
            <a:spLocks noGrp="1"/>
          </p:cNvSpPr>
          <p:nvPr>
            <p:ph type="subTitle" idx="1"/>
          </p:nvPr>
        </p:nvSpPr>
        <p:spPr>
          <a:xfrm>
            <a:off x="682560" y="1143635"/>
            <a:ext cx="10540261" cy="5446283"/>
          </a:xfrm>
        </p:spPr>
        <p:txBody>
          <a:bodyPr>
            <a:normAutofit/>
          </a:bodyPr>
          <a:lstStyle/>
          <a:p>
            <a:pPr algn="l"/>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a:t>
            </a:r>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出力をきれいにする</a:t>
            </a:r>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関数名：</a:t>
            </a:r>
            <a:r>
              <a:rPr lang="en-US" altLang="ja-JP" sz="1200" dirty="0" err="1">
                <a:latin typeface="メイリオ" panose="020B0604030504040204" pitchFamily="50" charset="-128"/>
                <a:ea typeface="メイリオ" panose="020B0604030504040204" pitchFamily="50" charset="-128"/>
              </a:rPr>
              <a:t>slot_display</a:t>
            </a:r>
            <a:r>
              <a:rPr lang="en-US" altLang="ja-JP" sz="1200" dirty="0">
                <a:latin typeface="メイリオ" panose="020B0604030504040204" pitchFamily="50" charset="-128"/>
                <a:ea typeface="メイリオ" panose="020B0604030504040204" pitchFamily="50" charset="-128"/>
              </a:rPr>
              <a:t>  </a:t>
            </a:r>
            <a:r>
              <a:rPr lang="ja-JP" altLang="en-US" sz="1200" dirty="0">
                <a:latin typeface="メイリオ" panose="020B0604030504040204" pitchFamily="50" charset="-128"/>
                <a:ea typeface="メイリオ" panose="020B0604030504040204" pitchFamily="50" charset="-128"/>
              </a:rPr>
              <a:t>引数：</a:t>
            </a:r>
            <a:r>
              <a:rPr lang="en-US" altLang="ja-JP" sz="1200" dirty="0">
                <a:latin typeface="メイリオ" panose="020B0604030504040204" pitchFamily="50" charset="-128"/>
                <a:ea typeface="メイリオ" panose="020B0604030504040204" pitchFamily="50" charset="-128"/>
              </a:rPr>
              <a:t>prize</a:t>
            </a:r>
          </a:p>
          <a:p>
            <a:pPr algn="l"/>
            <a:r>
              <a:rPr lang="ja-JP" altLang="en-US" sz="1200" dirty="0">
                <a:latin typeface="メイリオ" panose="020B0604030504040204" pitchFamily="50" charset="-128"/>
                <a:ea typeface="メイリオ" panose="020B0604030504040204" pitchFamily="50" charset="-128"/>
              </a:rPr>
              <a:t>　　　　・シンボルの抽出：</a:t>
            </a:r>
            <a:r>
              <a:rPr lang="en-US" altLang="ja-JP" sz="1200" dirty="0">
                <a:latin typeface="メイリオ" panose="020B0604030504040204" pitchFamily="50" charset="-128"/>
                <a:ea typeface="メイリオ" panose="020B0604030504040204" pitchFamily="50" charset="-128"/>
              </a:rPr>
              <a:t>prize </a:t>
            </a:r>
            <a:r>
              <a:rPr lang="ja-JP" altLang="en-US" sz="1200" dirty="0">
                <a:latin typeface="メイリオ" panose="020B0604030504040204" pitchFamily="50" charset="-128"/>
                <a:ea typeface="メイリオ" panose="020B0604030504040204" pitchFamily="50" charset="-128"/>
              </a:rPr>
              <a:t>から </a:t>
            </a:r>
            <a:r>
              <a:rPr lang="en-US" altLang="ja-JP" sz="1200" dirty="0">
                <a:latin typeface="メイリオ" panose="020B0604030504040204" pitchFamily="50" charset="-128"/>
                <a:ea typeface="メイリオ" panose="020B0604030504040204" pitchFamily="50" charset="-128"/>
              </a:rPr>
              <a:t>symbols </a:t>
            </a:r>
            <a:r>
              <a:rPr lang="ja-JP" altLang="en-US" sz="1200" dirty="0">
                <a:latin typeface="メイリオ" panose="020B0604030504040204" pitchFamily="50" charset="-128"/>
                <a:ea typeface="メイリオ" panose="020B0604030504040204" pitchFamily="50" charset="-128"/>
              </a:rPr>
              <a:t>のみを抽出する。</a:t>
            </a:r>
            <a:endParaRPr lang="en-US" altLang="ja-JP" sz="1200" dirty="0">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　　　　・</a:t>
            </a:r>
            <a:r>
              <a:rPr lang="en-US" altLang="ja-JP" sz="1200" dirty="0">
                <a:latin typeface="メイリオ" panose="020B0604030504040204" pitchFamily="50" charset="-128"/>
                <a:ea typeface="メイリオ" panose="020B0604030504040204" pitchFamily="50" charset="-128"/>
              </a:rPr>
              <a:t>symbols</a:t>
            </a:r>
            <a:r>
              <a:rPr lang="ja-JP" altLang="en-US" sz="1200" dirty="0">
                <a:latin typeface="メイリオ" panose="020B0604030504040204" pitchFamily="50" charset="-128"/>
                <a:ea typeface="メイリオ" panose="020B0604030504040204" pitchFamily="50" charset="-128"/>
              </a:rPr>
              <a:t>を１つの文字列に変換：</a:t>
            </a:r>
            <a:r>
              <a:rPr lang="en-US" altLang="ja-JP" sz="1200" dirty="0">
                <a:latin typeface="メイリオ" panose="020B0604030504040204" pitchFamily="50" charset="-128"/>
                <a:ea typeface="メイリオ" panose="020B0604030504040204" pitchFamily="50" charset="-128"/>
              </a:rPr>
              <a:t>”0” “0” “0” </a:t>
            </a:r>
            <a:r>
              <a:rPr lang="ja-JP" altLang="en-US" sz="1200" dirty="0">
                <a:latin typeface="メイリオ" panose="020B0604030504040204" pitchFamily="50" charset="-128"/>
                <a:ea typeface="メイリオ" panose="020B0604030504040204" pitchFamily="50" charset="-128"/>
              </a:rPr>
              <a:t>→ </a:t>
            </a:r>
            <a:r>
              <a:rPr lang="en-US" altLang="ja-JP" sz="1200" dirty="0">
                <a:latin typeface="メイリオ" panose="020B0604030504040204" pitchFamily="50" charset="-128"/>
                <a:ea typeface="メイリオ" panose="020B0604030504040204" pitchFamily="50" charset="-128"/>
              </a:rPr>
              <a:t>“0 0 0”</a:t>
            </a:r>
          </a:p>
          <a:p>
            <a:pPr algn="l"/>
            <a:r>
              <a:rPr lang="ja-JP" altLang="en-US" sz="1200" dirty="0">
                <a:latin typeface="メイリオ" panose="020B0604030504040204" pitchFamily="50" charset="-128"/>
                <a:ea typeface="メイリオ" panose="020B0604030504040204" pitchFamily="50" charset="-128"/>
              </a:rPr>
              <a:t>　　　　・シンボルと賞金額を正規表現として結合：文字列に変換した</a:t>
            </a:r>
            <a:r>
              <a:rPr lang="en-US" altLang="ja-JP" sz="1200" dirty="0">
                <a:latin typeface="メイリオ" panose="020B0604030504040204" pitchFamily="50" charset="-128"/>
                <a:ea typeface="メイリオ" panose="020B0604030504040204" pitchFamily="50" charset="-128"/>
              </a:rPr>
              <a:t> symbols </a:t>
            </a:r>
            <a:r>
              <a:rPr lang="ja-JP" altLang="en-US" sz="1200" dirty="0">
                <a:latin typeface="メイリオ" panose="020B0604030504040204" pitchFamily="50" charset="-128"/>
                <a:ea typeface="メイリオ" panose="020B0604030504040204" pitchFamily="50" charset="-128"/>
              </a:rPr>
              <a:t>と </a:t>
            </a:r>
            <a:r>
              <a:rPr lang="en-US" altLang="ja-JP" sz="1200" dirty="0">
                <a:latin typeface="メイリオ" panose="020B0604030504040204" pitchFamily="50" charset="-128"/>
                <a:ea typeface="メイリオ" panose="020B0604030504040204" pitchFamily="50" charset="-128"/>
              </a:rPr>
              <a:t>prize</a:t>
            </a:r>
            <a:r>
              <a:rPr lang="ja-JP" altLang="en-US" sz="1200" dirty="0">
                <a:latin typeface="メイリオ" panose="020B0604030504040204" pitchFamily="50" charset="-128"/>
                <a:ea typeface="メイリオ" panose="020B0604030504040204" pitchFamily="50" charset="-128"/>
              </a:rPr>
              <a:t> を結合する。その間では改行をし、</a:t>
            </a:r>
            <a:r>
              <a:rPr lang="en-US" altLang="ja-JP" sz="1200" dirty="0">
                <a:latin typeface="メイリオ" panose="020B0604030504040204" pitchFamily="50" charset="-128"/>
                <a:ea typeface="メイリオ" panose="020B0604030504040204" pitchFamily="50" charset="-128"/>
              </a:rPr>
              <a:t>prize</a:t>
            </a:r>
            <a:r>
              <a:rPr lang="ja-JP" altLang="en-US" sz="1200" dirty="0">
                <a:latin typeface="メイリオ" panose="020B0604030504040204" pitchFamily="50" charset="-128"/>
                <a:ea typeface="メイリオ" panose="020B0604030504040204" pitchFamily="50" charset="-128"/>
              </a:rPr>
              <a:t>には</a:t>
            </a:r>
            <a:r>
              <a:rPr lang="en-US" altLang="ja-JP" sz="1200" dirty="0">
                <a:latin typeface="メイリオ" panose="020B0604030504040204" pitchFamily="50" charset="-128"/>
                <a:ea typeface="メイリオ" panose="020B0604030504040204" pitchFamily="50" charset="-128"/>
              </a:rPr>
              <a:t>$</a:t>
            </a:r>
            <a:r>
              <a:rPr lang="ja-JP" altLang="en-US" sz="1200" dirty="0">
                <a:latin typeface="メイリオ" panose="020B0604030504040204" pitchFamily="50" charset="-128"/>
                <a:ea typeface="メイリオ" panose="020B0604030504040204" pitchFamily="50" charset="-128"/>
              </a:rPr>
              <a:t>をつける。</a:t>
            </a:r>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r>
              <a:rPr lang="en-US" altLang="ja-JP" sz="1200" dirty="0">
                <a:latin typeface="メイリオ" panose="020B0604030504040204" pitchFamily="50" charset="-128"/>
                <a:ea typeface="メイリオ" panose="020B0604030504040204" pitchFamily="50" charset="-128"/>
              </a:rPr>
              <a:t>					</a:t>
            </a:r>
            <a:r>
              <a:rPr lang="ja-JP" altLang="en-US" sz="1200" dirty="0">
                <a:latin typeface="メイリオ" panose="020B0604030504040204" pitchFamily="50" charset="-128"/>
                <a:ea typeface="メイリオ" panose="020B0604030504040204" pitchFamily="50" charset="-128"/>
              </a:rPr>
              <a:t>　　　　変更前</a:t>
            </a:r>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r>
              <a:rPr lang="en-US" altLang="ja-JP" sz="1200" dirty="0">
                <a:latin typeface="メイリオ" panose="020B0604030504040204" pitchFamily="50" charset="-128"/>
                <a:ea typeface="メイリオ" panose="020B0604030504040204" pitchFamily="50" charset="-128"/>
              </a:rPr>
              <a:t>					</a:t>
            </a:r>
            <a:r>
              <a:rPr lang="ja-JP" altLang="en-US" sz="1200" dirty="0">
                <a:latin typeface="メイリオ" panose="020B0604030504040204" pitchFamily="50" charset="-128"/>
                <a:ea typeface="メイリオ" panose="020B0604030504040204" pitchFamily="50" charset="-128"/>
              </a:rPr>
              <a:t>　　　　変更後</a:t>
            </a:r>
            <a:endParaRPr lang="en-US" altLang="ja-JP" sz="1200" dirty="0">
              <a:latin typeface="メイリオ" panose="020B0604030504040204" pitchFamily="50" charset="-128"/>
              <a:ea typeface="メイリオ" panose="020B0604030504040204" pitchFamily="50" charset="-128"/>
            </a:endParaRPr>
          </a:p>
        </p:txBody>
      </p:sp>
      <p:cxnSp>
        <p:nvCxnSpPr>
          <p:cNvPr id="13" name="直線矢印コネクタ 12">
            <a:extLst>
              <a:ext uri="{FF2B5EF4-FFF2-40B4-BE49-F238E27FC236}">
                <a16:creationId xmlns:a16="http://schemas.microsoft.com/office/drawing/2014/main" id="{74FF8975-518B-E7D8-023D-CCCCAEBC6F95}"/>
              </a:ext>
            </a:extLst>
          </p:cNvPr>
          <p:cNvCxnSpPr>
            <a:cxnSpLocks/>
          </p:cNvCxnSpPr>
          <p:nvPr/>
        </p:nvCxnSpPr>
        <p:spPr>
          <a:xfrm>
            <a:off x="5066610" y="3800527"/>
            <a:ext cx="579279"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9" name="図 8">
            <a:extLst>
              <a:ext uri="{FF2B5EF4-FFF2-40B4-BE49-F238E27FC236}">
                <a16:creationId xmlns:a16="http://schemas.microsoft.com/office/drawing/2014/main" id="{7F335295-C7CC-72E3-994D-0E98EB37CA10}"/>
              </a:ext>
            </a:extLst>
          </p:cNvPr>
          <p:cNvPicPr>
            <a:picLocks noChangeAspect="1"/>
          </p:cNvPicPr>
          <p:nvPr/>
        </p:nvPicPr>
        <p:blipFill>
          <a:blip r:embed="rId3"/>
          <a:stretch>
            <a:fillRect/>
          </a:stretch>
        </p:blipFill>
        <p:spPr>
          <a:xfrm>
            <a:off x="6561414" y="3057473"/>
            <a:ext cx="1657581" cy="743054"/>
          </a:xfrm>
          <a:prstGeom prst="rect">
            <a:avLst/>
          </a:prstGeom>
          <a:ln>
            <a:solidFill>
              <a:schemeClr val="bg2">
                <a:lumMod val="90000"/>
              </a:schemeClr>
            </a:solidFill>
          </a:ln>
        </p:spPr>
      </p:pic>
      <p:pic>
        <p:nvPicPr>
          <p:cNvPr id="11" name="図 10">
            <a:extLst>
              <a:ext uri="{FF2B5EF4-FFF2-40B4-BE49-F238E27FC236}">
                <a16:creationId xmlns:a16="http://schemas.microsoft.com/office/drawing/2014/main" id="{2EA25C3C-3DD1-992A-DEF3-EB8346BF7E48}"/>
              </a:ext>
            </a:extLst>
          </p:cNvPr>
          <p:cNvPicPr>
            <a:picLocks noChangeAspect="1"/>
          </p:cNvPicPr>
          <p:nvPr/>
        </p:nvPicPr>
        <p:blipFill>
          <a:blip r:embed="rId4"/>
          <a:stretch>
            <a:fillRect/>
          </a:stretch>
        </p:blipFill>
        <p:spPr>
          <a:xfrm>
            <a:off x="6557193" y="4118220"/>
            <a:ext cx="2000529" cy="495369"/>
          </a:xfrm>
          <a:prstGeom prst="rect">
            <a:avLst/>
          </a:prstGeom>
          <a:ln>
            <a:solidFill>
              <a:schemeClr val="bg2">
                <a:lumMod val="90000"/>
              </a:schemeClr>
            </a:solidFill>
          </a:ln>
        </p:spPr>
      </p:pic>
      <p:cxnSp>
        <p:nvCxnSpPr>
          <p:cNvPr id="14" name="直線矢印コネクタ 13">
            <a:extLst>
              <a:ext uri="{FF2B5EF4-FFF2-40B4-BE49-F238E27FC236}">
                <a16:creationId xmlns:a16="http://schemas.microsoft.com/office/drawing/2014/main" id="{A4E5A545-F232-4F9F-B17C-03B4E0B25176}"/>
              </a:ext>
            </a:extLst>
          </p:cNvPr>
          <p:cNvCxnSpPr>
            <a:cxnSpLocks/>
          </p:cNvCxnSpPr>
          <p:nvPr/>
        </p:nvCxnSpPr>
        <p:spPr>
          <a:xfrm>
            <a:off x="6125361" y="3327583"/>
            <a:ext cx="0" cy="790637"/>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 name="正方形/長方形 19">
            <a:extLst>
              <a:ext uri="{FF2B5EF4-FFF2-40B4-BE49-F238E27FC236}">
                <a16:creationId xmlns:a16="http://schemas.microsoft.com/office/drawing/2014/main" id="{5283B15D-C396-0481-9999-32D9694D8941}"/>
              </a:ext>
            </a:extLst>
          </p:cNvPr>
          <p:cNvSpPr/>
          <p:nvPr/>
        </p:nvSpPr>
        <p:spPr>
          <a:xfrm>
            <a:off x="8870046" y="2853897"/>
            <a:ext cx="2784606" cy="225661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200" dirty="0">
                <a:solidFill>
                  <a:schemeClr val="tx1"/>
                </a:solidFill>
              </a:rPr>
              <a:t>paste()</a:t>
            </a:r>
          </a:p>
          <a:p>
            <a:r>
              <a:rPr lang="en-US" altLang="ja-JP" sz="1200" dirty="0">
                <a:solidFill>
                  <a:schemeClr val="tx1"/>
                </a:solidFill>
              </a:rPr>
              <a:t>()</a:t>
            </a:r>
            <a:r>
              <a:rPr lang="ja-JP" altLang="en-US" sz="1200" dirty="0">
                <a:solidFill>
                  <a:schemeClr val="tx1"/>
                </a:solidFill>
              </a:rPr>
              <a:t>の中の要素を文字型に変えて、つなげて出力する関数</a:t>
            </a:r>
            <a:endParaRPr lang="en-US" altLang="ja-JP" sz="1200" dirty="0">
              <a:solidFill>
                <a:schemeClr val="tx1"/>
              </a:solidFill>
            </a:endParaRPr>
          </a:p>
          <a:p>
            <a:endParaRPr lang="en-US" altLang="ja-JP" sz="1200" dirty="0">
              <a:solidFill>
                <a:schemeClr val="tx1"/>
              </a:solidFill>
            </a:endParaRPr>
          </a:p>
          <a:p>
            <a:r>
              <a:rPr lang="en-US" altLang="ja-JP" sz="1200" dirty="0">
                <a:solidFill>
                  <a:schemeClr val="tx1"/>
                </a:solidFill>
              </a:rPr>
              <a:t>collapse = “ “</a:t>
            </a:r>
          </a:p>
          <a:p>
            <a:r>
              <a:rPr lang="ja-JP" altLang="en-US" sz="1200" dirty="0">
                <a:solidFill>
                  <a:schemeClr val="tx1"/>
                </a:solidFill>
              </a:rPr>
              <a:t>要素間をスペースで区切る</a:t>
            </a:r>
            <a:endParaRPr lang="en-US" altLang="ja-JP" sz="1200" dirty="0">
              <a:solidFill>
                <a:schemeClr val="tx1"/>
              </a:solidFill>
            </a:endParaRPr>
          </a:p>
          <a:p>
            <a:r>
              <a:rPr lang="ja-JP" altLang="en-US" sz="1200" dirty="0">
                <a:solidFill>
                  <a:schemeClr val="tx1"/>
                </a:solidFill>
              </a:rPr>
              <a:t>単一ベクトルの全要素をまとめる際</a:t>
            </a:r>
            <a:endParaRPr lang="en-US" altLang="ja-JP" sz="1200" dirty="0">
              <a:solidFill>
                <a:schemeClr val="tx1"/>
              </a:solidFill>
            </a:endParaRPr>
          </a:p>
          <a:p>
            <a:endParaRPr lang="en-US" altLang="ja-JP" sz="1200" dirty="0">
              <a:solidFill>
                <a:schemeClr val="tx1"/>
              </a:solidFill>
            </a:endParaRPr>
          </a:p>
          <a:p>
            <a:r>
              <a:rPr lang="en-US" altLang="ja-JP" sz="1200" dirty="0" err="1">
                <a:solidFill>
                  <a:schemeClr val="tx1"/>
                </a:solidFill>
              </a:rPr>
              <a:t>sep</a:t>
            </a:r>
            <a:r>
              <a:rPr lang="en-US" altLang="ja-JP" sz="1200" dirty="0">
                <a:solidFill>
                  <a:schemeClr val="tx1"/>
                </a:solidFill>
              </a:rPr>
              <a:t> = “ “</a:t>
            </a:r>
          </a:p>
          <a:p>
            <a:r>
              <a:rPr lang="ja-JP" altLang="en-US" sz="1200" dirty="0">
                <a:solidFill>
                  <a:schemeClr val="tx1"/>
                </a:solidFill>
              </a:rPr>
              <a:t>要素間をスペースで区切る</a:t>
            </a:r>
            <a:endParaRPr lang="en-US" altLang="ja-JP" sz="1200" dirty="0">
              <a:solidFill>
                <a:schemeClr val="tx1"/>
              </a:solidFill>
            </a:endParaRPr>
          </a:p>
          <a:p>
            <a:r>
              <a:rPr lang="ja-JP" altLang="en-US" sz="1200" dirty="0">
                <a:solidFill>
                  <a:schemeClr val="tx1"/>
                </a:solidFill>
              </a:rPr>
              <a:t>複数ベクトルの要素同士を結合する際</a:t>
            </a:r>
            <a:endParaRPr lang="en-US" altLang="ja-JP" sz="1200" dirty="0">
              <a:solidFill>
                <a:schemeClr val="tx1"/>
              </a:solidFill>
            </a:endParaRPr>
          </a:p>
        </p:txBody>
      </p:sp>
      <p:sp>
        <p:nvSpPr>
          <p:cNvPr id="27" name="正方形/長方形 26">
            <a:extLst>
              <a:ext uri="{FF2B5EF4-FFF2-40B4-BE49-F238E27FC236}">
                <a16:creationId xmlns:a16="http://schemas.microsoft.com/office/drawing/2014/main" id="{F70BE05E-CCBE-3495-A303-4F3D5787529E}"/>
              </a:ext>
            </a:extLst>
          </p:cNvPr>
          <p:cNvSpPr/>
          <p:nvPr/>
        </p:nvSpPr>
        <p:spPr>
          <a:xfrm>
            <a:off x="8870046" y="5303283"/>
            <a:ext cx="1059529" cy="302473"/>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200" dirty="0">
                <a:solidFill>
                  <a:schemeClr val="tx1"/>
                </a:solidFill>
              </a:rPr>
              <a:t>\n</a:t>
            </a:r>
            <a:r>
              <a:rPr lang="ja-JP" altLang="en-US" sz="1200" dirty="0">
                <a:solidFill>
                  <a:schemeClr val="tx1"/>
                </a:solidFill>
              </a:rPr>
              <a:t> ： 改行</a:t>
            </a:r>
            <a:endParaRPr lang="en-US" altLang="ja-JP" sz="1200" dirty="0">
              <a:solidFill>
                <a:schemeClr val="tx1"/>
              </a:solidFill>
            </a:endParaRPr>
          </a:p>
        </p:txBody>
      </p:sp>
      <p:pic>
        <p:nvPicPr>
          <p:cNvPr id="30" name="図 29">
            <a:extLst>
              <a:ext uri="{FF2B5EF4-FFF2-40B4-BE49-F238E27FC236}">
                <a16:creationId xmlns:a16="http://schemas.microsoft.com/office/drawing/2014/main" id="{CF6FD371-28C1-D400-AA1B-5E6561E47744}"/>
              </a:ext>
            </a:extLst>
          </p:cNvPr>
          <p:cNvPicPr>
            <a:picLocks noChangeAspect="1"/>
          </p:cNvPicPr>
          <p:nvPr/>
        </p:nvPicPr>
        <p:blipFill>
          <a:blip r:embed="rId5"/>
          <a:stretch>
            <a:fillRect/>
          </a:stretch>
        </p:blipFill>
        <p:spPr>
          <a:xfrm>
            <a:off x="1173163" y="2890802"/>
            <a:ext cx="3610479" cy="2333951"/>
          </a:xfrm>
          <a:prstGeom prst="rect">
            <a:avLst/>
          </a:prstGeom>
          <a:ln>
            <a:solidFill>
              <a:schemeClr val="bg2">
                <a:lumMod val="90000"/>
              </a:schemeClr>
            </a:solidFill>
          </a:ln>
        </p:spPr>
      </p:pic>
      <p:sp>
        <p:nvSpPr>
          <p:cNvPr id="31" name="正方形/長方形 30">
            <a:extLst>
              <a:ext uri="{FF2B5EF4-FFF2-40B4-BE49-F238E27FC236}">
                <a16:creationId xmlns:a16="http://schemas.microsoft.com/office/drawing/2014/main" id="{BE449088-C6B6-95B9-330D-75FBE046A0A8}"/>
              </a:ext>
            </a:extLst>
          </p:cNvPr>
          <p:cNvSpPr/>
          <p:nvPr/>
        </p:nvSpPr>
        <p:spPr>
          <a:xfrm>
            <a:off x="8870046" y="5798532"/>
            <a:ext cx="2337230" cy="302472"/>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200" dirty="0">
                <a:solidFill>
                  <a:schemeClr val="tx1"/>
                </a:solidFill>
              </a:rPr>
              <a:t>cat()</a:t>
            </a:r>
            <a:r>
              <a:rPr lang="ja-JP" altLang="en-US" sz="1200" dirty="0">
                <a:solidFill>
                  <a:schemeClr val="tx1"/>
                </a:solidFill>
              </a:rPr>
              <a:t> </a:t>
            </a:r>
            <a:r>
              <a:rPr lang="en-US" altLang="ja-JP" sz="1200" dirty="0">
                <a:solidFill>
                  <a:schemeClr val="tx1"/>
                </a:solidFill>
              </a:rPr>
              <a:t>:</a:t>
            </a:r>
            <a:r>
              <a:rPr lang="ja-JP" altLang="en-US" sz="1200" dirty="0">
                <a:solidFill>
                  <a:schemeClr val="tx1"/>
                </a:solidFill>
              </a:rPr>
              <a:t> できた文字列を表示する</a:t>
            </a:r>
            <a:endParaRPr lang="en-US" altLang="ja-JP" sz="1200" dirty="0">
              <a:solidFill>
                <a:schemeClr val="tx1"/>
              </a:solidFill>
            </a:endParaRPr>
          </a:p>
        </p:txBody>
      </p:sp>
      <p:sp>
        <p:nvSpPr>
          <p:cNvPr id="5" name="楕円 4">
            <a:extLst>
              <a:ext uri="{FF2B5EF4-FFF2-40B4-BE49-F238E27FC236}">
                <a16:creationId xmlns:a16="http://schemas.microsoft.com/office/drawing/2014/main" id="{0A8634E9-3496-6346-ECD1-5C0140FF4587}"/>
              </a:ext>
            </a:extLst>
          </p:cNvPr>
          <p:cNvSpPr/>
          <p:nvPr/>
        </p:nvSpPr>
        <p:spPr>
          <a:xfrm>
            <a:off x="3581273" y="1181587"/>
            <a:ext cx="206220"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lang="ja-JP" altLang="en-US" dirty="0">
                <a:latin typeface="メイリオ" panose="020B0604030504040204" pitchFamily="50" charset="-128"/>
                <a:ea typeface="メイリオ" panose="020B0604030504040204" pitchFamily="50" charset="-128"/>
              </a:rPr>
              <a:t>２</a:t>
            </a:r>
            <a:endParaRPr kumimoji="1"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060022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８</a:t>
            </a:r>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章　</a:t>
            </a:r>
            <a:r>
              <a:rPr kumimoji="1" lang="en-US" altLang="ja-JP" sz="3000" b="1" dirty="0">
                <a:solidFill>
                  <a:schemeClr val="tx1">
                    <a:lumMod val="65000"/>
                    <a:lumOff val="35000"/>
                  </a:schemeClr>
                </a:solidFill>
                <a:latin typeface="メイリオ" panose="020B0604030504040204" pitchFamily="50" charset="-128"/>
                <a:ea typeface="メイリオ" panose="020B0604030504040204" pitchFamily="50" charset="-128"/>
              </a:rPr>
              <a:t>S3</a:t>
            </a:r>
            <a:endPar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78782C7-6070-7C3A-DAB7-3101F4C6ED5C}"/>
              </a:ext>
            </a:extLst>
          </p:cNvPr>
          <p:cNvSpPr/>
          <p:nvPr/>
        </p:nvSpPr>
        <p:spPr>
          <a:xfrm>
            <a:off x="825868" y="1028514"/>
            <a:ext cx="10540261" cy="552895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
        <p:nvSpPr>
          <p:cNvPr id="3" name="字幕 2">
            <a:extLst>
              <a:ext uri="{FF2B5EF4-FFF2-40B4-BE49-F238E27FC236}">
                <a16:creationId xmlns:a16="http://schemas.microsoft.com/office/drawing/2014/main" id="{EF422FEA-2F34-70ED-56A9-01A65A2AD142}"/>
              </a:ext>
            </a:extLst>
          </p:cNvPr>
          <p:cNvSpPr>
            <a:spLocks noGrp="1"/>
          </p:cNvSpPr>
          <p:nvPr>
            <p:ph type="subTitle" idx="1"/>
          </p:nvPr>
        </p:nvSpPr>
        <p:spPr>
          <a:xfrm>
            <a:off x="825869" y="1111188"/>
            <a:ext cx="10540261" cy="5446283"/>
          </a:xfrm>
        </p:spPr>
        <p:txBody>
          <a:bodyPr>
            <a:normAutofit/>
          </a:bodyPr>
          <a:lstStyle/>
          <a:p>
            <a:pPr algn="l"/>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a:t>
            </a:r>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ジェネリック関数</a:t>
            </a:r>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ジェネリック関数である </a:t>
            </a:r>
            <a:r>
              <a:rPr lang="en-US" altLang="ja-JP" sz="1200" dirty="0">
                <a:latin typeface="メイリオ" panose="020B0604030504040204" pitchFamily="50" charset="-128"/>
                <a:ea typeface="メイリオ" panose="020B0604030504040204" pitchFamily="50" charset="-128"/>
              </a:rPr>
              <a:t>print()</a:t>
            </a:r>
            <a:r>
              <a:rPr lang="ja-JP" altLang="en-US" sz="1200" dirty="0">
                <a:latin typeface="メイリオ" panose="020B0604030504040204" pitchFamily="50" charset="-128"/>
                <a:ea typeface="メイリオ" panose="020B0604030504040204" pitchFamily="50" charset="-128"/>
              </a:rPr>
              <a:t> は、引数の </a:t>
            </a:r>
            <a:r>
              <a:rPr lang="en-US" altLang="ja-JP" sz="1200" dirty="0">
                <a:latin typeface="メイリオ" panose="020B0604030504040204" pitchFamily="50" charset="-128"/>
                <a:ea typeface="メイリオ" panose="020B0604030504040204" pitchFamily="50" charset="-128"/>
              </a:rPr>
              <a:t>class </a:t>
            </a:r>
            <a:r>
              <a:rPr lang="ja-JP" altLang="en-US" sz="1200" dirty="0">
                <a:latin typeface="メイリオ" panose="020B0604030504040204" pitchFamily="50" charset="-128"/>
                <a:ea typeface="メイリオ" panose="020B0604030504040204" pitchFamily="50" charset="-128"/>
              </a:rPr>
              <a:t>によって実行内容が変わる。</a:t>
            </a:r>
            <a:endParaRPr lang="en-US" altLang="ja-JP" sz="1200" dirty="0">
              <a:latin typeface="メイリオ" panose="020B0604030504040204" pitchFamily="50" charset="-128"/>
              <a:ea typeface="メイリオ" panose="020B0604030504040204" pitchFamily="50" charset="-128"/>
            </a:endParaRPr>
          </a:p>
          <a:p>
            <a:pPr algn="l"/>
            <a:r>
              <a:rPr lang="en-US" altLang="ja-JP" sz="1200" dirty="0" err="1">
                <a:latin typeface="メイリオ" panose="020B0604030504040204" pitchFamily="50" charset="-128"/>
                <a:ea typeface="メイリオ" panose="020B0604030504040204" pitchFamily="50" charset="-128"/>
              </a:rPr>
              <a:t>one_play</a:t>
            </a:r>
            <a:r>
              <a:rPr lang="ja-JP" altLang="en-US" sz="1200" dirty="0">
                <a:latin typeface="メイリオ" panose="020B0604030504040204" pitchFamily="50" charset="-128"/>
                <a:ea typeface="メイリオ" panose="020B0604030504040204" pitchFamily="50" charset="-128"/>
              </a:rPr>
              <a:t> に新しい</a:t>
            </a:r>
            <a:r>
              <a:rPr lang="en-US" altLang="ja-JP" sz="1200" dirty="0">
                <a:latin typeface="メイリオ" panose="020B0604030504040204" pitchFamily="50" charset="-128"/>
                <a:ea typeface="メイリオ" panose="020B0604030504040204" pitchFamily="50" charset="-128"/>
              </a:rPr>
              <a:t>class</a:t>
            </a:r>
            <a:r>
              <a:rPr lang="ja-JP" altLang="en-US" sz="1200" dirty="0">
                <a:latin typeface="メイリオ" panose="020B0604030504040204" pitchFamily="50" charset="-128"/>
                <a:ea typeface="メイリオ" panose="020B0604030504040204" pitchFamily="50" charset="-128"/>
              </a:rPr>
              <a:t> </a:t>
            </a:r>
            <a:r>
              <a:rPr lang="en-US" altLang="ja-JP" sz="1200" dirty="0">
                <a:latin typeface="メイリオ" panose="020B0604030504040204" pitchFamily="50" charset="-128"/>
                <a:ea typeface="メイリオ" panose="020B0604030504040204" pitchFamily="50" charset="-128"/>
              </a:rPr>
              <a:t>“slots”</a:t>
            </a:r>
            <a:r>
              <a:rPr lang="ja-JP" altLang="en-US" sz="1200" dirty="0">
                <a:latin typeface="メイリオ" panose="020B0604030504040204" pitchFamily="50" charset="-128"/>
                <a:ea typeface="メイリオ" panose="020B0604030504040204" pitchFamily="50" charset="-128"/>
              </a:rPr>
              <a:t> を与え、</a:t>
            </a:r>
            <a:r>
              <a:rPr lang="en-US" altLang="ja-JP" sz="1200" dirty="0" err="1">
                <a:latin typeface="メイリオ" panose="020B0604030504040204" pitchFamily="50" charset="-128"/>
                <a:ea typeface="メイリオ" panose="020B0604030504040204" pitchFamily="50" charset="-128"/>
              </a:rPr>
              <a:t>print.slots</a:t>
            </a:r>
            <a:r>
              <a:rPr lang="en-US" altLang="ja-JP" sz="1200" dirty="0">
                <a:latin typeface="メイリオ" panose="020B0604030504040204" pitchFamily="50" charset="-128"/>
                <a:ea typeface="メイリオ" panose="020B0604030504040204" pitchFamily="50" charset="-128"/>
              </a:rPr>
              <a:t>() </a:t>
            </a:r>
            <a:r>
              <a:rPr lang="ja-JP" altLang="en-US" sz="1200" dirty="0">
                <a:latin typeface="メイリオ" panose="020B0604030504040204" pitchFamily="50" charset="-128"/>
                <a:ea typeface="メイリオ" panose="020B0604030504040204" pitchFamily="50" charset="-128"/>
              </a:rPr>
              <a:t>を用意する。まずはこれが可能かを確かめる。</a:t>
            </a:r>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問題点</a:t>
            </a:r>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en-US" altLang="ja-JP" sz="1200" dirty="0">
                <a:latin typeface="メイリオ" panose="020B0604030504040204" pitchFamily="50" charset="-128"/>
                <a:ea typeface="メイリオ" panose="020B0604030504040204" pitchFamily="50" charset="-128"/>
              </a:rPr>
              <a:t>slots</a:t>
            </a:r>
            <a:r>
              <a:rPr lang="ja-JP" altLang="en-US" sz="1200" dirty="0">
                <a:latin typeface="メイリオ" panose="020B0604030504040204" pitchFamily="50" charset="-128"/>
                <a:ea typeface="メイリオ" panose="020B0604030504040204" pitchFamily="50" charset="-128"/>
              </a:rPr>
              <a:t> </a:t>
            </a:r>
            <a:r>
              <a:rPr lang="en-US" altLang="ja-JP" sz="1200" dirty="0">
                <a:latin typeface="メイリオ" panose="020B0604030504040204" pitchFamily="50" charset="-128"/>
                <a:ea typeface="メイリオ" panose="020B0604030504040204" pitchFamily="50" charset="-128"/>
              </a:rPr>
              <a:t>class</a:t>
            </a:r>
            <a:r>
              <a:rPr lang="ja-JP" altLang="en-US" sz="1200" dirty="0">
                <a:latin typeface="メイリオ" panose="020B0604030504040204" pitchFamily="50" charset="-128"/>
                <a:ea typeface="メイリオ" panose="020B0604030504040204" pitchFamily="50" charset="-128"/>
              </a:rPr>
              <a:t>にしても、</a:t>
            </a:r>
            <a:r>
              <a:rPr lang="en-US" altLang="ja-JP" sz="1200" dirty="0">
                <a:latin typeface="メイリオ" panose="020B0604030504040204" pitchFamily="50" charset="-128"/>
                <a:ea typeface="メイリオ" panose="020B0604030504040204" pitchFamily="50" charset="-128"/>
              </a:rPr>
              <a:t>c(play1,play2)</a:t>
            </a:r>
            <a:r>
              <a:rPr lang="ja-JP" altLang="en-US" sz="1200" dirty="0">
                <a:latin typeface="メイリオ" panose="020B0604030504040204" pitchFamily="50" charset="-128"/>
                <a:ea typeface="メイリオ" panose="020B0604030504040204" pitchFamily="50" charset="-128"/>
              </a:rPr>
              <a:t>のようにベクトルにして表示すると属性であるシンボルを表示しなくなってしまう。</a:t>
            </a:r>
            <a:endParaRPr lang="en-US" altLang="ja-JP" sz="1200" dirty="0">
              <a:latin typeface="メイリオ" panose="020B0604030504040204" pitchFamily="50" charset="-128"/>
              <a:ea typeface="メイリオ" panose="020B0604030504040204" pitchFamily="50" charset="-128"/>
            </a:endParaRPr>
          </a:p>
        </p:txBody>
      </p:sp>
      <p:cxnSp>
        <p:nvCxnSpPr>
          <p:cNvPr id="13" name="直線矢印コネクタ 12">
            <a:extLst>
              <a:ext uri="{FF2B5EF4-FFF2-40B4-BE49-F238E27FC236}">
                <a16:creationId xmlns:a16="http://schemas.microsoft.com/office/drawing/2014/main" id="{74FF8975-518B-E7D8-023D-CCCCAEBC6F95}"/>
              </a:ext>
            </a:extLst>
          </p:cNvPr>
          <p:cNvCxnSpPr>
            <a:cxnSpLocks/>
          </p:cNvCxnSpPr>
          <p:nvPr/>
        </p:nvCxnSpPr>
        <p:spPr>
          <a:xfrm>
            <a:off x="4472497" y="2424379"/>
            <a:ext cx="579279"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E449088-C6B6-95B9-330D-75FBE046A0A8}"/>
              </a:ext>
            </a:extLst>
          </p:cNvPr>
          <p:cNvSpPr/>
          <p:nvPr/>
        </p:nvSpPr>
        <p:spPr>
          <a:xfrm>
            <a:off x="8283413" y="1069413"/>
            <a:ext cx="2824853" cy="603631"/>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solidFill>
                  <a:schemeClr val="tx1"/>
                </a:solidFill>
              </a:rPr>
              <a:t>ジェネリック関数</a:t>
            </a:r>
            <a:endParaRPr lang="en-US" altLang="ja-JP" sz="1200" dirty="0">
              <a:solidFill>
                <a:schemeClr val="tx1"/>
              </a:solidFill>
            </a:endParaRPr>
          </a:p>
          <a:p>
            <a:r>
              <a:rPr lang="ja-JP" altLang="en-US" sz="1200" dirty="0">
                <a:solidFill>
                  <a:schemeClr val="tx1"/>
                </a:solidFill>
              </a:rPr>
              <a:t>入力されたオブジェクトの型によって処理を変える関数</a:t>
            </a:r>
            <a:endParaRPr lang="en-US" altLang="ja-JP" sz="1200" dirty="0">
              <a:solidFill>
                <a:schemeClr val="tx1"/>
              </a:solidFill>
            </a:endParaRPr>
          </a:p>
        </p:txBody>
      </p:sp>
      <p:sp>
        <p:nvSpPr>
          <p:cNvPr id="5" name="楕円 4">
            <a:extLst>
              <a:ext uri="{FF2B5EF4-FFF2-40B4-BE49-F238E27FC236}">
                <a16:creationId xmlns:a16="http://schemas.microsoft.com/office/drawing/2014/main" id="{92339252-4D33-E5CB-2597-AA9C15D95997}"/>
              </a:ext>
            </a:extLst>
          </p:cNvPr>
          <p:cNvSpPr/>
          <p:nvPr/>
        </p:nvSpPr>
        <p:spPr>
          <a:xfrm>
            <a:off x="3370775" y="1139120"/>
            <a:ext cx="206220"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ja-JP" altLang="en-US" dirty="0">
                <a:latin typeface="メイリオ" panose="020B0604030504040204" pitchFamily="50" charset="-128"/>
                <a:ea typeface="メイリオ" panose="020B0604030504040204" pitchFamily="50" charset="-128"/>
              </a:rPr>
              <a:t>３</a:t>
            </a:r>
          </a:p>
        </p:txBody>
      </p:sp>
      <p:sp>
        <p:nvSpPr>
          <p:cNvPr id="12" name="正方形/長方形 11">
            <a:extLst>
              <a:ext uri="{FF2B5EF4-FFF2-40B4-BE49-F238E27FC236}">
                <a16:creationId xmlns:a16="http://schemas.microsoft.com/office/drawing/2014/main" id="{AA3AEFBC-C240-13BD-5F27-B8CCEA16DBBB}"/>
              </a:ext>
            </a:extLst>
          </p:cNvPr>
          <p:cNvSpPr/>
          <p:nvPr/>
        </p:nvSpPr>
        <p:spPr>
          <a:xfrm>
            <a:off x="5177037" y="2148954"/>
            <a:ext cx="3430832" cy="1086002"/>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lang="en-US" altLang="ja-JP" sz="1200" dirty="0">
              <a:solidFill>
                <a:schemeClr val="tx1"/>
              </a:solidFill>
            </a:endParaRPr>
          </a:p>
          <a:p>
            <a:endParaRPr lang="en-US" altLang="ja-JP" sz="1200" dirty="0">
              <a:solidFill>
                <a:schemeClr val="tx1"/>
              </a:solidFill>
            </a:endParaRPr>
          </a:p>
          <a:p>
            <a:endParaRPr lang="en-US" altLang="ja-JP" sz="1200" dirty="0">
              <a:solidFill>
                <a:schemeClr val="tx1"/>
              </a:solidFill>
            </a:endParaRPr>
          </a:p>
          <a:p>
            <a:r>
              <a:rPr lang="en-US" altLang="ja-JP" sz="1200" dirty="0">
                <a:solidFill>
                  <a:schemeClr val="tx1"/>
                </a:solidFill>
              </a:rPr>
              <a:t>print()</a:t>
            </a:r>
            <a:r>
              <a:rPr lang="ja-JP" altLang="en-US" sz="1200" dirty="0">
                <a:solidFill>
                  <a:schemeClr val="tx1"/>
                </a:solidFill>
              </a:rPr>
              <a:t>に</a:t>
            </a:r>
            <a:r>
              <a:rPr lang="en-US" altLang="ja-JP" sz="1200" dirty="0">
                <a:solidFill>
                  <a:schemeClr val="tx1"/>
                </a:solidFill>
              </a:rPr>
              <a:t>class</a:t>
            </a:r>
            <a:r>
              <a:rPr lang="ja-JP" altLang="en-US" sz="1200" dirty="0">
                <a:solidFill>
                  <a:schemeClr val="tx1"/>
                </a:solidFill>
              </a:rPr>
              <a:t>が</a:t>
            </a:r>
            <a:r>
              <a:rPr lang="en-US" altLang="ja-JP" sz="1200" dirty="0">
                <a:solidFill>
                  <a:schemeClr val="tx1"/>
                </a:solidFill>
              </a:rPr>
              <a:t>slots</a:t>
            </a:r>
            <a:r>
              <a:rPr lang="ja-JP" altLang="en-US" sz="1200" dirty="0">
                <a:solidFill>
                  <a:schemeClr val="tx1"/>
                </a:solidFill>
              </a:rPr>
              <a:t>である引数を入れたとき、</a:t>
            </a:r>
            <a:endParaRPr lang="en-US" altLang="ja-JP" sz="1200" dirty="0">
              <a:solidFill>
                <a:schemeClr val="tx1"/>
              </a:solidFill>
            </a:endParaRPr>
          </a:p>
          <a:p>
            <a:r>
              <a:rPr lang="en-US" altLang="ja-JP" sz="1200" dirty="0" err="1">
                <a:solidFill>
                  <a:schemeClr val="tx1"/>
                </a:solidFill>
              </a:rPr>
              <a:t>print.slots</a:t>
            </a:r>
            <a:r>
              <a:rPr lang="en-US" altLang="ja-JP" sz="1200" dirty="0">
                <a:solidFill>
                  <a:schemeClr val="tx1"/>
                </a:solidFill>
              </a:rPr>
              <a:t>()</a:t>
            </a:r>
            <a:r>
              <a:rPr lang="ja-JP" altLang="en-US" sz="1200" dirty="0">
                <a:solidFill>
                  <a:schemeClr val="tx1"/>
                </a:solidFill>
              </a:rPr>
              <a:t>が呼び出された。</a:t>
            </a:r>
            <a:endParaRPr lang="en-US" altLang="ja-JP" sz="1200" dirty="0">
              <a:solidFill>
                <a:schemeClr val="tx1"/>
              </a:solidFill>
            </a:endParaRPr>
          </a:p>
        </p:txBody>
      </p:sp>
      <p:pic>
        <p:nvPicPr>
          <p:cNvPr id="9" name="図 8">
            <a:extLst>
              <a:ext uri="{FF2B5EF4-FFF2-40B4-BE49-F238E27FC236}">
                <a16:creationId xmlns:a16="http://schemas.microsoft.com/office/drawing/2014/main" id="{C8A97BA1-1570-22B1-B67C-69EACAF8AA5D}"/>
              </a:ext>
            </a:extLst>
          </p:cNvPr>
          <p:cNvPicPr>
            <a:picLocks noChangeAspect="1"/>
          </p:cNvPicPr>
          <p:nvPr/>
        </p:nvPicPr>
        <p:blipFill>
          <a:blip r:embed="rId3"/>
          <a:stretch>
            <a:fillRect/>
          </a:stretch>
        </p:blipFill>
        <p:spPr>
          <a:xfrm>
            <a:off x="1083734" y="2148954"/>
            <a:ext cx="3210373" cy="1086002"/>
          </a:xfrm>
          <a:prstGeom prst="rect">
            <a:avLst/>
          </a:prstGeom>
          <a:ln>
            <a:solidFill>
              <a:schemeClr val="bg2">
                <a:lumMod val="90000"/>
              </a:schemeClr>
            </a:solidFill>
          </a:ln>
        </p:spPr>
      </p:pic>
      <p:pic>
        <p:nvPicPr>
          <p:cNvPr id="11" name="図 10">
            <a:extLst>
              <a:ext uri="{FF2B5EF4-FFF2-40B4-BE49-F238E27FC236}">
                <a16:creationId xmlns:a16="http://schemas.microsoft.com/office/drawing/2014/main" id="{1857291D-E3CB-3D7E-C6A0-DD5567E06C35}"/>
              </a:ext>
            </a:extLst>
          </p:cNvPr>
          <p:cNvPicPr>
            <a:picLocks noChangeAspect="1"/>
          </p:cNvPicPr>
          <p:nvPr/>
        </p:nvPicPr>
        <p:blipFill rotWithShape="1">
          <a:blip r:embed="rId4"/>
          <a:srcRect b="9695"/>
          <a:stretch/>
        </p:blipFill>
        <p:spPr>
          <a:xfrm>
            <a:off x="5324693" y="2230818"/>
            <a:ext cx="2505425" cy="387122"/>
          </a:xfrm>
          <a:prstGeom prst="rect">
            <a:avLst/>
          </a:prstGeom>
          <a:ln>
            <a:solidFill>
              <a:schemeClr val="bg2">
                <a:lumMod val="90000"/>
              </a:schemeClr>
            </a:solidFill>
          </a:ln>
        </p:spPr>
      </p:pic>
      <p:sp>
        <p:nvSpPr>
          <p:cNvPr id="14" name="正方形/長方形 13">
            <a:extLst>
              <a:ext uri="{FF2B5EF4-FFF2-40B4-BE49-F238E27FC236}">
                <a16:creationId xmlns:a16="http://schemas.microsoft.com/office/drawing/2014/main" id="{4C31F5E4-C0E1-61F8-6BBA-D4C892A6F1F0}"/>
              </a:ext>
            </a:extLst>
          </p:cNvPr>
          <p:cNvSpPr/>
          <p:nvPr/>
        </p:nvSpPr>
        <p:spPr>
          <a:xfrm>
            <a:off x="9316876" y="2631325"/>
            <a:ext cx="1791390" cy="603631"/>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200" dirty="0">
                <a:solidFill>
                  <a:schemeClr val="tx1"/>
                </a:solidFill>
              </a:rPr>
              <a:t>rm() : </a:t>
            </a:r>
            <a:r>
              <a:rPr lang="ja-JP" altLang="en-US" sz="1200" dirty="0">
                <a:solidFill>
                  <a:schemeClr val="tx1"/>
                </a:solidFill>
              </a:rPr>
              <a:t>変数を削除する</a:t>
            </a:r>
            <a:endParaRPr lang="en-US" altLang="ja-JP" sz="1200" dirty="0">
              <a:solidFill>
                <a:schemeClr val="tx1"/>
              </a:solidFill>
            </a:endParaRPr>
          </a:p>
        </p:txBody>
      </p:sp>
      <p:pic>
        <p:nvPicPr>
          <p:cNvPr id="16" name="図 15">
            <a:extLst>
              <a:ext uri="{FF2B5EF4-FFF2-40B4-BE49-F238E27FC236}">
                <a16:creationId xmlns:a16="http://schemas.microsoft.com/office/drawing/2014/main" id="{3D6D86BC-CA19-3B3E-5029-14D4953D9A6E}"/>
              </a:ext>
            </a:extLst>
          </p:cNvPr>
          <p:cNvPicPr>
            <a:picLocks noChangeAspect="1"/>
          </p:cNvPicPr>
          <p:nvPr/>
        </p:nvPicPr>
        <p:blipFill>
          <a:blip r:embed="rId5"/>
          <a:stretch>
            <a:fillRect/>
          </a:stretch>
        </p:blipFill>
        <p:spPr>
          <a:xfrm>
            <a:off x="9747443" y="2957248"/>
            <a:ext cx="1190791" cy="190527"/>
          </a:xfrm>
          <a:prstGeom prst="rect">
            <a:avLst/>
          </a:prstGeom>
          <a:ln>
            <a:solidFill>
              <a:schemeClr val="bg2">
                <a:lumMod val="90000"/>
              </a:schemeClr>
            </a:solidFill>
          </a:ln>
        </p:spPr>
      </p:pic>
      <p:cxnSp>
        <p:nvCxnSpPr>
          <p:cNvPr id="17" name="直線矢印コネクタ 16">
            <a:extLst>
              <a:ext uri="{FF2B5EF4-FFF2-40B4-BE49-F238E27FC236}">
                <a16:creationId xmlns:a16="http://schemas.microsoft.com/office/drawing/2014/main" id="{6D541F75-913D-7474-6BFF-6E96B16628EF}"/>
              </a:ext>
            </a:extLst>
          </p:cNvPr>
          <p:cNvCxnSpPr>
            <a:cxnSpLocks/>
          </p:cNvCxnSpPr>
          <p:nvPr/>
        </p:nvCxnSpPr>
        <p:spPr>
          <a:xfrm>
            <a:off x="8737597" y="3052511"/>
            <a:ext cx="469033"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0" name="図 19">
            <a:extLst>
              <a:ext uri="{FF2B5EF4-FFF2-40B4-BE49-F238E27FC236}">
                <a16:creationId xmlns:a16="http://schemas.microsoft.com/office/drawing/2014/main" id="{A391D351-E79E-894F-62A7-3343A4C158ED}"/>
              </a:ext>
            </a:extLst>
          </p:cNvPr>
          <p:cNvPicPr>
            <a:picLocks noChangeAspect="1"/>
          </p:cNvPicPr>
          <p:nvPr/>
        </p:nvPicPr>
        <p:blipFill>
          <a:blip r:embed="rId6"/>
          <a:stretch>
            <a:fillRect/>
          </a:stretch>
        </p:blipFill>
        <p:spPr>
          <a:xfrm>
            <a:off x="1454217" y="4498863"/>
            <a:ext cx="1686160" cy="1247949"/>
          </a:xfrm>
          <a:prstGeom prst="rect">
            <a:avLst/>
          </a:prstGeom>
          <a:ln>
            <a:solidFill>
              <a:schemeClr val="bg2">
                <a:lumMod val="90000"/>
              </a:schemeClr>
            </a:solidFill>
          </a:ln>
        </p:spPr>
      </p:pic>
      <p:pic>
        <p:nvPicPr>
          <p:cNvPr id="22" name="図 21">
            <a:extLst>
              <a:ext uri="{FF2B5EF4-FFF2-40B4-BE49-F238E27FC236}">
                <a16:creationId xmlns:a16="http://schemas.microsoft.com/office/drawing/2014/main" id="{8D081772-AAD7-8661-1B22-0C00862546E0}"/>
              </a:ext>
            </a:extLst>
          </p:cNvPr>
          <p:cNvPicPr>
            <a:picLocks noChangeAspect="1"/>
          </p:cNvPicPr>
          <p:nvPr/>
        </p:nvPicPr>
        <p:blipFill>
          <a:blip r:embed="rId7"/>
          <a:stretch>
            <a:fillRect/>
          </a:stretch>
        </p:blipFill>
        <p:spPr>
          <a:xfrm>
            <a:off x="4294107" y="4896695"/>
            <a:ext cx="1286054" cy="304843"/>
          </a:xfrm>
          <a:prstGeom prst="rect">
            <a:avLst/>
          </a:prstGeom>
          <a:ln>
            <a:solidFill>
              <a:schemeClr val="bg2">
                <a:lumMod val="90000"/>
              </a:schemeClr>
            </a:solidFill>
          </a:ln>
        </p:spPr>
      </p:pic>
      <p:cxnSp>
        <p:nvCxnSpPr>
          <p:cNvPr id="23" name="直線矢印コネクタ 22">
            <a:extLst>
              <a:ext uri="{FF2B5EF4-FFF2-40B4-BE49-F238E27FC236}">
                <a16:creationId xmlns:a16="http://schemas.microsoft.com/office/drawing/2014/main" id="{BFBEE486-0B79-C8D2-29ED-A3E15F050972}"/>
              </a:ext>
            </a:extLst>
          </p:cNvPr>
          <p:cNvCxnSpPr>
            <a:cxnSpLocks/>
          </p:cNvCxnSpPr>
          <p:nvPr/>
        </p:nvCxnSpPr>
        <p:spPr>
          <a:xfrm>
            <a:off x="3370775" y="5049117"/>
            <a:ext cx="579279"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29511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８章　</a:t>
            </a:r>
            <a:r>
              <a:rPr kumimoji="1" lang="en-US" altLang="ja-JP" sz="3000" b="1" dirty="0">
                <a:solidFill>
                  <a:schemeClr val="tx1">
                    <a:lumMod val="65000"/>
                    <a:lumOff val="35000"/>
                  </a:schemeClr>
                </a:solidFill>
                <a:latin typeface="メイリオ" panose="020B0604030504040204" pitchFamily="50" charset="-128"/>
                <a:ea typeface="メイリオ" panose="020B0604030504040204" pitchFamily="50" charset="-128"/>
              </a:rPr>
              <a:t>S</a:t>
            </a:r>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３　</a:t>
            </a:r>
            <a:r>
              <a:rPr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最終コード</a:t>
            </a:r>
            <a:endPar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661A3A95-316A-208D-1006-9B4CAF8277CA}"/>
              </a:ext>
            </a:extLst>
          </p:cNvPr>
          <p:cNvSpPr/>
          <p:nvPr/>
        </p:nvSpPr>
        <p:spPr>
          <a:xfrm>
            <a:off x="528181" y="892099"/>
            <a:ext cx="11135638" cy="5965902"/>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Tree>
    <p:extLst>
      <p:ext uri="{BB962C8B-B14F-4D97-AF65-F5344CB8AC3E}">
        <p14:creationId xmlns:p14="http://schemas.microsoft.com/office/powerpoint/2010/main" val="1780539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kumimoji="1" lang="en-US" altLang="ja-JP" sz="3000" b="1" dirty="0">
                <a:solidFill>
                  <a:schemeClr val="tx1">
                    <a:lumMod val="65000"/>
                    <a:lumOff val="35000"/>
                  </a:schemeClr>
                </a:solidFill>
                <a:latin typeface="メイリオ" panose="020B0604030504040204" pitchFamily="50" charset="-128"/>
                <a:ea typeface="メイリオ" panose="020B0604030504040204" pitchFamily="50" charset="-128"/>
              </a:rPr>
              <a:t>9</a:t>
            </a:r>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章　</a:t>
            </a:r>
            <a:r>
              <a:rPr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ループ　フローチャート</a:t>
            </a:r>
            <a:endPar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78782C7-6070-7C3A-DAB7-3101F4C6ED5C}"/>
              </a:ext>
            </a:extLst>
          </p:cNvPr>
          <p:cNvSpPr/>
          <p:nvPr/>
        </p:nvSpPr>
        <p:spPr>
          <a:xfrm>
            <a:off x="789276" y="1014608"/>
            <a:ext cx="5290701" cy="5528957"/>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kumimoji="1" lang="ja-JP" altLang="en-US" b="1" dirty="0">
                <a:solidFill>
                  <a:schemeClr val="accent4">
                    <a:lumMod val="75000"/>
                  </a:schemeClr>
                </a:solidFill>
                <a:latin typeface="メイリオ" panose="020B0604030504040204" pitchFamily="50" charset="-128"/>
                <a:ea typeface="メイリオ" panose="020B0604030504040204" pitchFamily="50" charset="-128"/>
              </a:rPr>
              <a:t>＃＃スロットマシンの払戻率</a:t>
            </a:r>
            <a:r>
              <a:rPr kumimoji="1" lang="en-US" altLang="ja-JP" b="1" dirty="0">
                <a:solidFill>
                  <a:schemeClr val="accent4">
                    <a:lumMod val="75000"/>
                  </a:schemeClr>
                </a:solidFill>
                <a:latin typeface="メイリオ" panose="020B0604030504040204" pitchFamily="50" charset="-128"/>
                <a:ea typeface="メイリオ" panose="020B0604030504040204" pitchFamily="50" charset="-128"/>
              </a:rPr>
              <a:t>(</a:t>
            </a:r>
            <a:r>
              <a:rPr kumimoji="1" lang="ja-JP" altLang="en-US" b="1" dirty="0">
                <a:solidFill>
                  <a:schemeClr val="accent4">
                    <a:lumMod val="75000"/>
                  </a:schemeClr>
                </a:solidFill>
                <a:latin typeface="メイリオ" panose="020B0604030504040204" pitchFamily="50" charset="-128"/>
                <a:ea typeface="メイリオ" panose="020B0604030504040204" pitchFamily="50" charset="-128"/>
              </a:rPr>
              <a:t>期待値</a:t>
            </a:r>
            <a:r>
              <a:rPr kumimoji="1" lang="en-US" altLang="ja-JP" b="1" dirty="0">
                <a:solidFill>
                  <a:schemeClr val="accent4">
                    <a:lumMod val="75000"/>
                  </a:schemeClr>
                </a:solidFill>
                <a:latin typeface="メイリオ" panose="020B0604030504040204" pitchFamily="50" charset="-128"/>
                <a:ea typeface="メイリオ" panose="020B0604030504040204" pitchFamily="50" charset="-128"/>
              </a:rPr>
              <a:t>)</a:t>
            </a:r>
            <a:r>
              <a:rPr kumimoji="1" lang="ja-JP" altLang="en-US" b="1" dirty="0">
                <a:solidFill>
                  <a:schemeClr val="accent4">
                    <a:lumMod val="75000"/>
                  </a:schemeClr>
                </a:solidFill>
                <a:latin typeface="メイリオ" panose="020B0604030504040204" pitchFamily="50" charset="-128"/>
                <a:ea typeface="メイリオ" panose="020B0604030504040204" pitchFamily="50" charset="-128"/>
              </a:rPr>
              <a:t>を計算する</a:t>
            </a:r>
            <a:endParaRPr kumimoji="1" lang="en-US" altLang="ja-JP" b="1" dirty="0">
              <a:solidFill>
                <a:schemeClr val="accent4">
                  <a:lumMod val="75000"/>
                </a:schemeClr>
              </a:solidFill>
              <a:latin typeface="メイリオ" panose="020B0604030504040204" pitchFamily="50" charset="-128"/>
              <a:ea typeface="メイリオ" panose="020B0604030504040204" pitchFamily="50" charset="-128"/>
            </a:endParaRPr>
          </a:p>
        </p:txBody>
      </p:sp>
      <p:grpSp>
        <p:nvGrpSpPr>
          <p:cNvPr id="15" name="グループ化 14">
            <a:extLst>
              <a:ext uri="{FF2B5EF4-FFF2-40B4-BE49-F238E27FC236}">
                <a16:creationId xmlns:a16="http://schemas.microsoft.com/office/drawing/2014/main" id="{81F87E62-FE98-AD0F-8513-D49DDA134022}"/>
              </a:ext>
            </a:extLst>
          </p:cNvPr>
          <p:cNvGrpSpPr/>
          <p:nvPr/>
        </p:nvGrpSpPr>
        <p:grpSpPr>
          <a:xfrm>
            <a:off x="1428696" y="3320195"/>
            <a:ext cx="3917578" cy="2481371"/>
            <a:chOff x="1396317" y="3608861"/>
            <a:chExt cx="3917578" cy="2481371"/>
          </a:xfrm>
        </p:grpSpPr>
        <mc:AlternateContent xmlns:mc="http://schemas.openxmlformats.org/markup-compatibility/2006" xmlns:a14="http://schemas.microsoft.com/office/drawing/2010/main">
          <mc:Choice Requires="a14">
            <p:sp>
              <p:nvSpPr>
                <p:cNvPr id="3" name="正方形/長方形 2">
                  <a:extLst>
                    <a:ext uri="{FF2B5EF4-FFF2-40B4-BE49-F238E27FC236}">
                      <a16:creationId xmlns:a16="http://schemas.microsoft.com/office/drawing/2014/main" id="{4A70EA27-BE83-22C7-C007-EDDA72064008}"/>
                    </a:ext>
                  </a:extLst>
                </p:cNvPr>
                <p:cNvSpPr/>
                <p:nvPr/>
              </p:nvSpPr>
              <p:spPr>
                <a:xfrm>
                  <a:off x="1396317" y="3608861"/>
                  <a:ext cx="3917578" cy="2481371"/>
                </a:xfrm>
                <a:prstGeom prst="rect">
                  <a:avLst/>
                </a:prstGeom>
                <a:solidFill>
                  <a:srgbClr val="FFFFFF"/>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kumimoji="1" lang="ja-JP" altLang="en-US" sz="1500" dirty="0">
                      <a:solidFill>
                        <a:schemeClr val="tx1"/>
                      </a:solidFill>
                      <a:latin typeface="メイリオ" panose="020B0604030504040204" pitchFamily="50" charset="-128"/>
                      <a:ea typeface="メイリオ" panose="020B0604030504040204" pitchFamily="50" charset="-128"/>
                    </a:rPr>
                    <a:t>期待値を求める手順</a:t>
                  </a:r>
                  <a:endParaRPr kumimoji="1" lang="en-US" altLang="ja-JP" sz="1500" dirty="0">
                    <a:solidFill>
                      <a:schemeClr val="tx1"/>
                    </a:solidFill>
                    <a:latin typeface="メイリオ" panose="020B0604030504040204" pitchFamily="50" charset="-128"/>
                    <a:ea typeface="メイリオ" panose="020B0604030504040204" pitchFamily="50" charset="-128"/>
                  </a:endParaRPr>
                </a:p>
                <a:p>
                  <a:endParaRPr kumimoji="1" lang="en-US" altLang="ja-JP" sz="1500" dirty="0">
                    <a:solidFill>
                      <a:schemeClr val="tx1"/>
                    </a:solidFill>
                    <a:latin typeface="メイリオ" panose="020B0604030504040204" pitchFamily="50" charset="-128"/>
                    <a:ea typeface="メイリオ" panose="020B0604030504040204" pitchFamily="50" charset="-128"/>
                  </a:endParaRPr>
                </a:p>
                <a:p>
                  <a:r>
                    <a:rPr lang="ja-JP" altLang="en-US" sz="1500" dirty="0">
                      <a:solidFill>
                        <a:schemeClr val="tx1"/>
                      </a:solidFill>
                      <a:latin typeface="メイリオ" panose="020B0604030504040204" pitchFamily="50" charset="-128"/>
                      <a:ea typeface="メイリオ" panose="020B0604030504040204" pitchFamily="50" charset="-128"/>
                    </a:rPr>
                    <a:t>　　組み合わせをリストにする</a:t>
                  </a:r>
                  <a:endParaRPr lang="en-US" altLang="ja-JP" sz="1500" dirty="0">
                    <a:solidFill>
                      <a:schemeClr val="tx1"/>
                    </a:solidFill>
                    <a:latin typeface="メイリオ" panose="020B0604030504040204" pitchFamily="50" charset="-128"/>
                    <a:ea typeface="メイリオ" panose="020B0604030504040204" pitchFamily="50" charset="-128"/>
                  </a:endParaRPr>
                </a:p>
                <a:p>
                  <a:endParaRPr lang="en-US" altLang="ja-JP" sz="1500" dirty="0">
                    <a:solidFill>
                      <a:schemeClr val="tx1"/>
                    </a:solidFill>
                    <a:latin typeface="メイリオ" panose="020B0604030504040204" pitchFamily="50" charset="-128"/>
                    <a:ea typeface="メイリオ" panose="020B0604030504040204" pitchFamily="50" charset="-128"/>
                  </a:endParaRPr>
                </a:p>
                <a:p>
                  <a:r>
                    <a:rPr lang="ja-JP" altLang="en-US" sz="1500" dirty="0">
                      <a:solidFill>
                        <a:schemeClr val="tx1"/>
                      </a:solidFill>
                      <a:latin typeface="メイリオ" panose="020B0604030504040204" pitchFamily="50" charset="-128"/>
                      <a:ea typeface="メイリオ" panose="020B0604030504040204" pitchFamily="50" charset="-128"/>
                    </a:rPr>
                    <a:t>　　</a:t>
                  </a:r>
                  <a:r>
                    <a:rPr lang="en-US" altLang="ja-JP" sz="1500" dirty="0">
                      <a:solidFill>
                        <a:schemeClr val="tx1"/>
                      </a:solidFill>
                      <a:latin typeface="メイリオ" panose="020B0604030504040204" pitchFamily="50" charset="-128"/>
                      <a:ea typeface="メイリオ" panose="020B0604030504040204" pitchFamily="50" charset="-128"/>
                    </a:rPr>
                    <a:t>P(</a:t>
                  </a:r>
                  <a14:m>
                    <m:oMath xmlns:m="http://schemas.openxmlformats.org/officeDocument/2006/math">
                      <m:sSub>
                        <m:sSubPr>
                          <m:ctrlPr>
                            <a:rPr lang="en-US" altLang="ja-JP" sz="1500" b="0" i="1" smtClean="0">
                              <a:solidFill>
                                <a:schemeClr val="tx1"/>
                              </a:solidFill>
                              <a:latin typeface="Cambria Math" panose="02040503050406030204" pitchFamily="18" charset="0"/>
                              <a:ea typeface="メイリオ" panose="020B0604030504040204" pitchFamily="50" charset="-128"/>
                            </a:rPr>
                          </m:ctrlPr>
                        </m:sSubPr>
                        <m:e>
                          <m:r>
                            <a:rPr lang="en-US" altLang="ja-JP" sz="1500" b="0" i="1" smtClean="0">
                              <a:solidFill>
                                <a:schemeClr val="tx1"/>
                              </a:solidFill>
                              <a:latin typeface="Cambria Math" panose="02040503050406030204" pitchFamily="18" charset="0"/>
                              <a:ea typeface="メイリオ" panose="020B0604030504040204" pitchFamily="50" charset="-128"/>
                            </a:rPr>
                            <m:t>𝑥</m:t>
                          </m:r>
                        </m:e>
                        <m:sub>
                          <m:r>
                            <a:rPr lang="en-US" altLang="ja-JP" sz="1500" b="0" i="1" smtClean="0">
                              <a:solidFill>
                                <a:schemeClr val="tx1"/>
                              </a:solidFill>
                              <a:latin typeface="Cambria Math" panose="02040503050406030204" pitchFamily="18" charset="0"/>
                              <a:ea typeface="メイリオ" panose="020B0604030504040204" pitchFamily="50" charset="-128"/>
                            </a:rPr>
                            <m:t>𝑖</m:t>
                          </m:r>
                        </m:sub>
                      </m:sSub>
                    </m:oMath>
                  </a14:m>
                  <a:r>
                    <a:rPr lang="en-US" altLang="ja-JP" sz="1500" dirty="0">
                      <a:solidFill>
                        <a:schemeClr val="tx1"/>
                      </a:solidFill>
                      <a:latin typeface="メイリオ" panose="020B0604030504040204" pitchFamily="50" charset="-128"/>
                      <a:ea typeface="メイリオ" panose="020B0604030504040204" pitchFamily="50" charset="-128"/>
                    </a:rPr>
                    <a:t>) </a:t>
                  </a:r>
                  <a:r>
                    <a:rPr lang="ja-JP" altLang="en-US" sz="1500" dirty="0">
                      <a:solidFill>
                        <a:schemeClr val="tx1"/>
                      </a:solidFill>
                      <a:latin typeface="メイリオ" panose="020B0604030504040204" pitchFamily="50" charset="-128"/>
                      <a:ea typeface="メイリオ" panose="020B0604030504040204" pitchFamily="50" charset="-128"/>
                    </a:rPr>
                    <a:t>「個々の確率」を追加</a:t>
                  </a:r>
                  <a:r>
                    <a:rPr lang="en-US" altLang="ja-JP" sz="1500" dirty="0">
                      <a:solidFill>
                        <a:schemeClr val="tx1"/>
                      </a:solidFill>
                      <a:latin typeface="メイリオ" panose="020B0604030504040204" pitchFamily="50" charset="-128"/>
                      <a:ea typeface="メイリオ" panose="020B0604030504040204" pitchFamily="50" charset="-128"/>
                    </a:rPr>
                    <a:t> (prob)</a:t>
                  </a:r>
                </a:p>
                <a:p>
                  <a:endParaRPr lang="en-US" altLang="ja-JP" sz="1500" dirty="0">
                    <a:solidFill>
                      <a:schemeClr val="tx1"/>
                    </a:solidFill>
                    <a:latin typeface="メイリオ" panose="020B0604030504040204" pitchFamily="50" charset="-128"/>
                    <a:ea typeface="メイリオ" panose="020B0604030504040204" pitchFamily="50" charset="-128"/>
                  </a:endParaRPr>
                </a:p>
                <a:p>
                  <a:r>
                    <a:rPr lang="ja-JP" altLang="en-US" sz="1500" dirty="0">
                      <a:solidFill>
                        <a:schemeClr val="tx1"/>
                      </a:solidFill>
                      <a:ea typeface="メイリオ" panose="020B0604030504040204" pitchFamily="50" charset="-128"/>
                    </a:rPr>
                    <a:t>　　</a:t>
                  </a:r>
                  <a14:m>
                    <m:oMath xmlns:m="http://schemas.openxmlformats.org/officeDocument/2006/math">
                      <m:sSub>
                        <m:sSubPr>
                          <m:ctrlPr>
                            <a:rPr lang="en-US" altLang="ja-JP" sz="1500" b="0" i="1" smtClean="0">
                              <a:solidFill>
                                <a:schemeClr val="tx1"/>
                              </a:solidFill>
                              <a:latin typeface="Cambria Math" panose="02040503050406030204" pitchFamily="18" charset="0"/>
                              <a:ea typeface="メイリオ" panose="020B0604030504040204" pitchFamily="50" charset="-128"/>
                            </a:rPr>
                          </m:ctrlPr>
                        </m:sSubPr>
                        <m:e>
                          <m:r>
                            <a:rPr lang="en-US" altLang="ja-JP" sz="1500" b="0" i="1" smtClean="0">
                              <a:solidFill>
                                <a:schemeClr val="tx1"/>
                              </a:solidFill>
                              <a:latin typeface="Cambria Math" panose="02040503050406030204" pitchFamily="18" charset="0"/>
                              <a:ea typeface="メイリオ" panose="020B0604030504040204" pitchFamily="50" charset="-128"/>
                            </a:rPr>
                            <m:t>𝑥</m:t>
                          </m:r>
                        </m:e>
                        <m:sub>
                          <m:r>
                            <a:rPr lang="en-US" altLang="ja-JP" sz="1500" b="0" i="1" smtClean="0">
                              <a:solidFill>
                                <a:schemeClr val="tx1"/>
                              </a:solidFill>
                              <a:latin typeface="Cambria Math" panose="02040503050406030204" pitchFamily="18" charset="0"/>
                              <a:ea typeface="メイリオ" panose="020B0604030504040204" pitchFamily="50" charset="-128"/>
                            </a:rPr>
                            <m:t>𝑖</m:t>
                          </m:r>
                        </m:sub>
                      </m:sSub>
                      <m:r>
                        <a:rPr lang="en-US" altLang="ja-JP" sz="1500" b="0" i="1" smtClean="0">
                          <a:solidFill>
                            <a:schemeClr val="tx1"/>
                          </a:solidFill>
                          <a:latin typeface="Cambria Math" panose="02040503050406030204" pitchFamily="18" charset="0"/>
                          <a:ea typeface="メイリオ" panose="020B0604030504040204" pitchFamily="50" charset="-128"/>
                        </a:rPr>
                        <m:t>      </m:t>
                      </m:r>
                      <m:r>
                        <a:rPr lang="ja-JP" altLang="en-US" sz="1500" i="1">
                          <a:solidFill>
                            <a:schemeClr val="tx1"/>
                          </a:solidFill>
                          <a:latin typeface="Cambria Math" panose="02040503050406030204" pitchFamily="18" charset="0"/>
                          <a:ea typeface="メイリオ" panose="020B0604030504040204" pitchFamily="50" charset="-128"/>
                        </a:rPr>
                        <m:t>「</m:t>
                      </m:r>
                    </m:oMath>
                  </a14:m>
                  <a:r>
                    <a:rPr lang="ja-JP" altLang="en-US" sz="1500" dirty="0">
                      <a:solidFill>
                        <a:schemeClr val="tx1"/>
                      </a:solidFill>
                      <a:latin typeface="メイリオ" panose="020B0604030504040204" pitchFamily="50" charset="-128"/>
                      <a:ea typeface="メイリオ" panose="020B0604030504040204" pitchFamily="50" charset="-128"/>
                    </a:rPr>
                    <a:t>個々の賞金」を追加 </a:t>
                  </a:r>
                  <a:r>
                    <a:rPr lang="en-US" altLang="ja-JP" sz="1500" dirty="0">
                      <a:solidFill>
                        <a:schemeClr val="tx1"/>
                      </a:solidFill>
                      <a:latin typeface="メイリオ" panose="020B0604030504040204" pitchFamily="50" charset="-128"/>
                      <a:ea typeface="メイリオ" panose="020B0604030504040204" pitchFamily="50" charset="-128"/>
                    </a:rPr>
                    <a:t>(prize)</a:t>
                  </a:r>
                </a:p>
                <a:p>
                  <a:pPr marL="342900" indent="-342900">
                    <a:buAutoNum type="arabicPeriod" startAt="3"/>
                  </a:pPr>
                  <a:endParaRPr lang="en-US" altLang="ja-JP" sz="1500" dirty="0">
                    <a:solidFill>
                      <a:schemeClr val="tx1"/>
                    </a:solidFill>
                    <a:latin typeface="メイリオ" panose="020B0604030504040204" pitchFamily="50" charset="-128"/>
                    <a:ea typeface="メイリオ" panose="020B0604030504040204" pitchFamily="50" charset="-128"/>
                  </a:endParaRPr>
                </a:p>
                <a:p>
                  <a:r>
                    <a:rPr lang="ja-JP" altLang="en-US" sz="1500" dirty="0">
                      <a:solidFill>
                        <a:schemeClr val="tx1"/>
                      </a:solidFill>
                      <a:latin typeface="メイリオ" panose="020B0604030504040204" pitchFamily="50" charset="-128"/>
                      <a:ea typeface="メイリオ" panose="020B0604030504040204" pitchFamily="50" charset="-128"/>
                    </a:rPr>
                    <a:t>　　</a:t>
                  </a:r>
                  <a:r>
                    <a:rPr lang="en-US" altLang="ja-JP" sz="1500" dirty="0">
                      <a:solidFill>
                        <a:schemeClr val="tx1"/>
                      </a:solidFill>
                      <a:latin typeface="メイリオ" panose="020B0604030504040204" pitchFamily="50" charset="-128"/>
                      <a:ea typeface="メイリオ" panose="020B0604030504040204" pitchFamily="50" charset="-128"/>
                    </a:rPr>
                    <a:t>E(x)  </a:t>
                  </a:r>
                  <a:r>
                    <a:rPr lang="ja-JP" altLang="en-US" sz="1500" dirty="0">
                      <a:solidFill>
                        <a:schemeClr val="tx1"/>
                      </a:solidFill>
                      <a:latin typeface="メイリオ" panose="020B0604030504040204" pitchFamily="50" charset="-128"/>
                      <a:ea typeface="メイリオ" panose="020B0604030504040204" pitchFamily="50" charset="-128"/>
                    </a:rPr>
                    <a:t>「期待値」</a:t>
                  </a:r>
                  <a:endParaRPr lang="en-US" altLang="ja-JP" sz="1500" dirty="0">
                    <a:solidFill>
                      <a:schemeClr val="tx1"/>
                    </a:solidFill>
                    <a:latin typeface="メイリオ" panose="020B0604030504040204" pitchFamily="50" charset="-128"/>
                    <a:ea typeface="メイリオ" panose="020B0604030504040204" pitchFamily="50" charset="-128"/>
                  </a:endParaRPr>
                </a:p>
              </p:txBody>
            </p:sp>
          </mc:Choice>
          <mc:Fallback xmlns="">
            <p:sp>
              <p:nvSpPr>
                <p:cNvPr id="3" name="正方形/長方形 2">
                  <a:extLst>
                    <a:ext uri="{FF2B5EF4-FFF2-40B4-BE49-F238E27FC236}">
                      <a16:creationId xmlns:a16="http://schemas.microsoft.com/office/drawing/2014/main" id="{4A70EA27-BE83-22C7-C007-EDDA72064008}"/>
                    </a:ext>
                  </a:extLst>
                </p:cNvPr>
                <p:cNvSpPr>
                  <a:spLocks noRot="1" noChangeAspect="1" noMove="1" noResize="1" noEditPoints="1" noAdjustHandles="1" noChangeArrowheads="1" noChangeShapeType="1" noTextEdit="1"/>
                </p:cNvSpPr>
                <p:nvPr/>
              </p:nvSpPr>
              <p:spPr>
                <a:xfrm>
                  <a:off x="1396317" y="3608861"/>
                  <a:ext cx="3917578" cy="2481371"/>
                </a:xfrm>
                <a:prstGeom prst="rect">
                  <a:avLst/>
                </a:prstGeom>
                <a:blipFill>
                  <a:blip r:embed="rId2"/>
                  <a:stretch>
                    <a:fillRect l="-465"/>
                  </a:stretch>
                </a:blipFill>
                <a:ln>
                  <a:solidFill>
                    <a:schemeClr val="bg2">
                      <a:lumMod val="90000"/>
                    </a:schemeClr>
                  </a:solidFill>
                </a:ln>
              </p:spPr>
              <p:txBody>
                <a:bodyPr/>
                <a:lstStyle/>
                <a:p>
                  <a:r>
                    <a:rPr lang="ja-JP" altLang="en-US">
                      <a:noFill/>
                    </a:rPr>
                    <a:t> </a:t>
                  </a:r>
                </a:p>
              </p:txBody>
            </p:sp>
          </mc:Fallback>
        </mc:AlternateContent>
        <p:sp>
          <p:nvSpPr>
            <p:cNvPr id="7" name="楕円 6">
              <a:extLst>
                <a:ext uri="{FF2B5EF4-FFF2-40B4-BE49-F238E27FC236}">
                  <a16:creationId xmlns:a16="http://schemas.microsoft.com/office/drawing/2014/main" id="{28BB8CD2-4C1D-A6B0-3CFE-5DFAC41ED353}"/>
                </a:ext>
              </a:extLst>
            </p:cNvPr>
            <p:cNvSpPr/>
            <p:nvPr/>
          </p:nvSpPr>
          <p:spPr>
            <a:xfrm>
              <a:off x="1562701" y="4068678"/>
              <a:ext cx="206220"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ja-JP" altLang="en-US" dirty="0">
                  <a:latin typeface="メイリオ" panose="020B0604030504040204" pitchFamily="50" charset="-128"/>
                  <a:ea typeface="メイリオ" panose="020B0604030504040204" pitchFamily="50" charset="-128"/>
                </a:rPr>
                <a:t>１</a:t>
              </a:r>
            </a:p>
          </p:txBody>
        </p:sp>
        <p:sp>
          <p:nvSpPr>
            <p:cNvPr id="8" name="楕円 7">
              <a:extLst>
                <a:ext uri="{FF2B5EF4-FFF2-40B4-BE49-F238E27FC236}">
                  <a16:creationId xmlns:a16="http://schemas.microsoft.com/office/drawing/2014/main" id="{9F574DB6-9FAE-E3D0-25B7-830B8F8E4152}"/>
                </a:ext>
              </a:extLst>
            </p:cNvPr>
            <p:cNvSpPr/>
            <p:nvPr/>
          </p:nvSpPr>
          <p:spPr>
            <a:xfrm>
              <a:off x="1562701" y="4560632"/>
              <a:ext cx="206220"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9" name="楕円 8">
              <a:extLst>
                <a:ext uri="{FF2B5EF4-FFF2-40B4-BE49-F238E27FC236}">
                  <a16:creationId xmlns:a16="http://schemas.microsoft.com/office/drawing/2014/main" id="{EE91F29C-A4B0-8094-5318-C969088D25D7}"/>
                </a:ext>
              </a:extLst>
            </p:cNvPr>
            <p:cNvSpPr/>
            <p:nvPr/>
          </p:nvSpPr>
          <p:spPr>
            <a:xfrm>
              <a:off x="1562701" y="4973759"/>
              <a:ext cx="206220"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en-US" altLang="ja-JP" dirty="0">
                  <a:latin typeface="メイリオ" panose="020B0604030504040204" pitchFamily="50" charset="-128"/>
                  <a:ea typeface="メイリオ" panose="020B0604030504040204" pitchFamily="50" charset="-128"/>
                </a:rPr>
                <a:t>3</a:t>
              </a:r>
            </a:p>
          </p:txBody>
        </p:sp>
        <p:sp>
          <p:nvSpPr>
            <p:cNvPr id="10" name="楕円 9">
              <a:extLst>
                <a:ext uri="{FF2B5EF4-FFF2-40B4-BE49-F238E27FC236}">
                  <a16:creationId xmlns:a16="http://schemas.microsoft.com/office/drawing/2014/main" id="{C0980DBD-9550-9C9A-38FD-3C778DFE5707}"/>
                </a:ext>
              </a:extLst>
            </p:cNvPr>
            <p:cNvSpPr/>
            <p:nvPr/>
          </p:nvSpPr>
          <p:spPr>
            <a:xfrm>
              <a:off x="1562701" y="5386886"/>
              <a:ext cx="206220"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en-US" altLang="ja-JP" dirty="0">
                  <a:latin typeface="メイリオ" panose="020B0604030504040204" pitchFamily="50" charset="-128"/>
                  <a:ea typeface="メイリオ" panose="020B0604030504040204" pitchFamily="50" charset="-128"/>
                </a:rPr>
                <a:t>4</a:t>
              </a:r>
            </a:p>
          </p:txBody>
        </p:sp>
      </p:grpSp>
      <p:grpSp>
        <p:nvGrpSpPr>
          <p:cNvPr id="16" name="グループ化 15">
            <a:extLst>
              <a:ext uri="{FF2B5EF4-FFF2-40B4-BE49-F238E27FC236}">
                <a16:creationId xmlns:a16="http://schemas.microsoft.com/office/drawing/2014/main" id="{845ABC1E-FFA8-E070-A92B-61C3A98A097E}"/>
              </a:ext>
            </a:extLst>
          </p:cNvPr>
          <p:cNvGrpSpPr/>
          <p:nvPr/>
        </p:nvGrpSpPr>
        <p:grpSpPr>
          <a:xfrm>
            <a:off x="1463708" y="1652132"/>
            <a:ext cx="2441901" cy="1238703"/>
            <a:chOff x="5955294" y="2422406"/>
            <a:chExt cx="2441901" cy="1238703"/>
          </a:xfrm>
        </p:grpSpPr>
        <p:grpSp>
          <p:nvGrpSpPr>
            <p:cNvPr id="19" name="グループ化 18">
              <a:extLst>
                <a:ext uri="{FF2B5EF4-FFF2-40B4-BE49-F238E27FC236}">
                  <a16:creationId xmlns:a16="http://schemas.microsoft.com/office/drawing/2014/main" id="{C6851C2C-4387-1630-E98C-F3095ED2077A}"/>
                </a:ext>
              </a:extLst>
            </p:cNvPr>
            <p:cNvGrpSpPr/>
            <p:nvPr/>
          </p:nvGrpSpPr>
          <p:grpSpPr>
            <a:xfrm>
              <a:off x="5955294" y="2422406"/>
              <a:ext cx="2441901" cy="1226867"/>
              <a:chOff x="8536877" y="1219843"/>
              <a:chExt cx="2441901" cy="1226867"/>
            </a:xfrm>
          </p:grpSpPr>
          <p:sp>
            <p:nvSpPr>
              <p:cNvPr id="6" name="正方形/長方形 5">
                <a:extLst>
                  <a:ext uri="{FF2B5EF4-FFF2-40B4-BE49-F238E27FC236}">
                    <a16:creationId xmlns:a16="http://schemas.microsoft.com/office/drawing/2014/main" id="{75CE81D2-C5EE-4E63-DA6F-4D50A6E33162}"/>
                  </a:ext>
                </a:extLst>
              </p:cNvPr>
              <p:cNvSpPr/>
              <p:nvPr/>
            </p:nvSpPr>
            <p:spPr>
              <a:xfrm>
                <a:off x="8536877" y="1219843"/>
                <a:ext cx="2391170" cy="1183629"/>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2000" dirty="0">
                    <a:solidFill>
                      <a:schemeClr val="tx1"/>
                    </a:solidFill>
                    <a:latin typeface="メイリオ" panose="020B0604030504040204" pitchFamily="50" charset="-128"/>
                    <a:ea typeface="メイリオ" panose="020B0604030504040204" pitchFamily="50" charset="-128"/>
                  </a:rPr>
                  <a:t>期待値</a:t>
                </a:r>
                <a:endParaRPr lang="en-US" altLang="ja-JP" sz="2000" dirty="0">
                  <a:solidFill>
                    <a:schemeClr val="tx1"/>
                  </a:solidFill>
                  <a:latin typeface="メイリオ" panose="020B0604030504040204" pitchFamily="50" charset="-128"/>
                  <a:ea typeface="メイリオ" panose="020B0604030504040204" pitchFamily="50" charset="-128"/>
                </a:endParaRPr>
              </a:p>
              <a:p>
                <a:endParaRPr lang="en-US" altLang="ja-JP" sz="1000" dirty="0">
                  <a:solidFill>
                    <a:schemeClr val="tx1"/>
                  </a:solidFill>
                </a:endParaRPr>
              </a:p>
              <a:p>
                <a:endParaRPr lang="en-US" altLang="ja-JP" sz="1050" dirty="0">
                  <a:solidFill>
                    <a:schemeClr val="tx1"/>
                  </a:solidFill>
                </a:endParaRPr>
              </a:p>
              <a:p>
                <a:r>
                  <a:rPr lang="en-US" altLang="ja-JP" sz="2000" dirty="0">
                    <a:solidFill>
                      <a:schemeClr val="tx1"/>
                    </a:solidFill>
                  </a:rPr>
                  <a:t>E(x) =</a:t>
                </a:r>
                <a:r>
                  <a:rPr lang="en-US" altLang="ja-JP" sz="1000" dirty="0">
                    <a:solidFill>
                      <a:schemeClr val="tx1"/>
                    </a:solidFill>
                  </a:rPr>
                  <a:t> </a:t>
                </a:r>
              </a:p>
            </p:txBody>
          </p:sp>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EFD6AF95-37D7-5BF7-F732-2732C17EE5DF}"/>
                      </a:ext>
                    </a:extLst>
                  </p:cNvPr>
                  <p:cNvSpPr txBox="1"/>
                  <p:nvPr/>
                </p:nvSpPr>
                <p:spPr>
                  <a:xfrm>
                    <a:off x="9451565" y="1690477"/>
                    <a:ext cx="1527213" cy="75623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limLoc m:val="undOvr"/>
                              <m:grow m:val="on"/>
                              <m:ctrlPr>
                                <a:rPr kumimoji="1" lang="ja-JP" altLang="en-US" i="1">
                                  <a:latin typeface="Cambria Math" panose="02040503050406030204" pitchFamily="18" charset="0"/>
                                </a:rPr>
                              </m:ctrlPr>
                            </m:naryPr>
                            <m:sub>
                              <m:r>
                                <a:rPr kumimoji="1" lang="ja-JP" altLang="en-US" i="1">
                                  <a:latin typeface="Cambria Math" panose="02040503050406030204" pitchFamily="18" charset="0"/>
                                </a:rPr>
                                <m:t>𝑖</m:t>
                              </m:r>
                              <m:r>
                                <a:rPr kumimoji="1" lang="ja-JP" altLang="en-US" i="0">
                                  <a:latin typeface="Cambria Math" panose="02040503050406030204" pitchFamily="18" charset="0"/>
                                </a:rPr>
                                <m:t>=1</m:t>
                              </m:r>
                            </m:sub>
                            <m:sup>
                              <m:r>
                                <a:rPr kumimoji="1" lang="ja-JP" altLang="en-US" i="1">
                                  <a:latin typeface="Cambria Math" panose="02040503050406030204" pitchFamily="18" charset="0"/>
                                </a:rPr>
                                <m:t>𝑛</m:t>
                              </m:r>
                            </m:sup>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𝑥</m:t>
                                  </m:r>
                                </m:e>
                                <m:sub>
                                  <m:r>
                                    <a:rPr kumimoji="1" lang="en-US" altLang="ja-JP" b="0" i="1" smtClean="0">
                                      <a:latin typeface="Cambria Math" panose="02040503050406030204" pitchFamily="18" charset="0"/>
                                    </a:rPr>
                                    <m:t>𝑖</m:t>
                                  </m:r>
                                </m:sub>
                              </m:sSub>
                              <m:r>
                                <a:rPr lang="ja-JP" altLang="en-US" i="1">
                                  <a:latin typeface="Cambria Math" panose="02040503050406030204" pitchFamily="18" charset="0"/>
                                </a:rPr>
                                <m:t>・</m:t>
                              </m:r>
                              <m:r>
                                <a:rPr lang="en-US" altLang="ja-JP" b="0" i="1" smtClean="0">
                                  <a:latin typeface="Cambria Math" panose="02040503050406030204" pitchFamily="18" charset="0"/>
                                </a:rPr>
                                <m:t>𝑃</m:t>
                              </m:r>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𝑥</m:t>
                                  </m:r>
                                </m:e>
                                <m:sub>
                                  <m:r>
                                    <a:rPr lang="en-US" altLang="ja-JP" b="0" i="1" smtClean="0">
                                      <a:latin typeface="Cambria Math" panose="02040503050406030204" pitchFamily="18" charset="0"/>
                                    </a:rPr>
                                    <m:t>𝑖</m:t>
                                  </m:r>
                                </m:sub>
                              </m:sSub>
                              <m:r>
                                <a:rPr lang="en-US" altLang="ja-JP" b="0" i="1" smtClean="0">
                                  <a:latin typeface="Cambria Math" panose="02040503050406030204" pitchFamily="18" charset="0"/>
                                </a:rPr>
                                <m:t>))</m:t>
                              </m:r>
                            </m:e>
                          </m:nary>
                        </m:oMath>
                      </m:oMathPara>
                    </a14:m>
                    <a:endParaRPr kumimoji="1" lang="ja-JP" altLang="en-US" dirty="0"/>
                  </a:p>
                </p:txBody>
              </p:sp>
            </mc:Choice>
            <mc:Fallback xmlns="">
              <p:sp>
                <p:nvSpPr>
                  <p:cNvPr id="5" name="テキスト ボックス 4">
                    <a:extLst>
                      <a:ext uri="{FF2B5EF4-FFF2-40B4-BE49-F238E27FC236}">
                        <a16:creationId xmlns:a16="http://schemas.microsoft.com/office/drawing/2014/main" id="{EFD6AF95-37D7-5BF7-F732-2732C17EE5DF}"/>
                      </a:ext>
                    </a:extLst>
                  </p:cNvPr>
                  <p:cNvSpPr txBox="1">
                    <a:spLocks noRot="1" noChangeAspect="1" noMove="1" noResize="1" noEditPoints="1" noAdjustHandles="1" noChangeArrowheads="1" noChangeShapeType="1" noTextEdit="1"/>
                  </p:cNvSpPr>
                  <p:nvPr/>
                </p:nvSpPr>
                <p:spPr>
                  <a:xfrm>
                    <a:off x="9451565" y="1690477"/>
                    <a:ext cx="1527213" cy="756233"/>
                  </a:xfrm>
                  <a:prstGeom prst="rect">
                    <a:avLst/>
                  </a:prstGeom>
                  <a:blipFill>
                    <a:blip r:embed="rId3"/>
                    <a:stretch>
                      <a:fillRect/>
                    </a:stretch>
                  </a:blipFill>
                </p:spPr>
                <p:txBody>
                  <a:bodyPr/>
                  <a:lstStyle/>
                  <a:p>
                    <a:r>
                      <a:rPr lang="ja-JP" altLang="en-US">
                        <a:noFill/>
                      </a:rPr>
                      <a:t> </a:t>
                    </a:r>
                  </a:p>
                </p:txBody>
              </p:sp>
            </mc:Fallback>
          </mc:AlternateContent>
        </p:grpSp>
        <p:sp>
          <p:nvSpPr>
            <p:cNvPr id="12" name="楕円 11">
              <a:extLst>
                <a:ext uri="{FF2B5EF4-FFF2-40B4-BE49-F238E27FC236}">
                  <a16:creationId xmlns:a16="http://schemas.microsoft.com/office/drawing/2014/main" id="{9FB3D0C6-6659-7664-B270-AA193A0A303A}"/>
                </a:ext>
              </a:extLst>
            </p:cNvPr>
            <p:cNvSpPr/>
            <p:nvPr/>
          </p:nvSpPr>
          <p:spPr>
            <a:xfrm>
              <a:off x="7912701" y="3395545"/>
              <a:ext cx="206220"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13" name="楕円 12">
              <a:extLst>
                <a:ext uri="{FF2B5EF4-FFF2-40B4-BE49-F238E27FC236}">
                  <a16:creationId xmlns:a16="http://schemas.microsoft.com/office/drawing/2014/main" id="{2966C088-F302-B3FF-A349-002F880B9943}"/>
                </a:ext>
              </a:extLst>
            </p:cNvPr>
            <p:cNvSpPr/>
            <p:nvPr/>
          </p:nvSpPr>
          <p:spPr>
            <a:xfrm>
              <a:off x="7288232" y="3429000"/>
              <a:ext cx="206220"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en-US" altLang="ja-JP" dirty="0">
                  <a:latin typeface="メイリオ" panose="020B0604030504040204" pitchFamily="50" charset="-128"/>
                  <a:ea typeface="メイリオ" panose="020B0604030504040204" pitchFamily="50" charset="-128"/>
                </a:rPr>
                <a:t>3</a:t>
              </a:r>
            </a:p>
          </p:txBody>
        </p:sp>
        <p:sp>
          <p:nvSpPr>
            <p:cNvPr id="14" name="楕円 13">
              <a:extLst>
                <a:ext uri="{FF2B5EF4-FFF2-40B4-BE49-F238E27FC236}">
                  <a16:creationId xmlns:a16="http://schemas.microsoft.com/office/drawing/2014/main" id="{956A384D-F90E-7A51-543D-33E1A82470AB}"/>
                </a:ext>
              </a:extLst>
            </p:cNvPr>
            <p:cNvSpPr/>
            <p:nvPr/>
          </p:nvSpPr>
          <p:spPr>
            <a:xfrm>
              <a:off x="6142403" y="3428999"/>
              <a:ext cx="206220"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en-US" altLang="ja-JP" dirty="0">
                  <a:latin typeface="メイリオ" panose="020B0604030504040204" pitchFamily="50" charset="-128"/>
                  <a:ea typeface="メイリオ" panose="020B0604030504040204" pitchFamily="50" charset="-128"/>
                </a:rPr>
                <a:t>4</a:t>
              </a:r>
            </a:p>
          </p:txBody>
        </p:sp>
      </p:grpSp>
      <p:sp>
        <p:nvSpPr>
          <p:cNvPr id="18" name="正方形/長方形 17">
            <a:extLst>
              <a:ext uri="{FF2B5EF4-FFF2-40B4-BE49-F238E27FC236}">
                <a16:creationId xmlns:a16="http://schemas.microsoft.com/office/drawing/2014/main" id="{2092E9AE-6310-845F-8212-CB87CAD7047C}"/>
              </a:ext>
            </a:extLst>
          </p:cNvPr>
          <p:cNvSpPr/>
          <p:nvPr/>
        </p:nvSpPr>
        <p:spPr>
          <a:xfrm>
            <a:off x="6211147" y="765543"/>
            <a:ext cx="5728519" cy="5778021"/>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kumimoji="1" lang="ja-JP" altLang="en-US" b="1" dirty="0">
                <a:solidFill>
                  <a:schemeClr val="accent4">
                    <a:lumMod val="75000"/>
                  </a:schemeClr>
                </a:solidFill>
                <a:latin typeface="メイリオ" panose="020B0604030504040204" pitchFamily="50" charset="-128"/>
                <a:ea typeface="メイリオ" panose="020B0604030504040204" pitchFamily="50" charset="-128"/>
              </a:rPr>
              <a:t>＃＃</a:t>
            </a:r>
            <a:r>
              <a:rPr kumimoji="1" lang="en-US" altLang="ja-JP" b="1" dirty="0">
                <a:solidFill>
                  <a:schemeClr val="accent4">
                    <a:lumMod val="75000"/>
                  </a:schemeClr>
                </a:solidFill>
                <a:latin typeface="メイリオ" panose="020B0604030504040204" pitchFamily="50" charset="-128"/>
                <a:ea typeface="メイリオ" panose="020B0604030504040204" pitchFamily="50" charset="-128"/>
              </a:rPr>
              <a:t>score</a:t>
            </a:r>
            <a:r>
              <a:rPr lang="ja-JP" altLang="en-US" b="1" dirty="0">
                <a:solidFill>
                  <a:schemeClr val="accent4">
                    <a:lumMod val="75000"/>
                  </a:schemeClr>
                </a:solidFill>
                <a:latin typeface="メイリオ" panose="020B0604030504040204" pitchFamily="50" charset="-128"/>
                <a:ea typeface="メイリオ" panose="020B0604030504040204" pitchFamily="50" charset="-128"/>
              </a:rPr>
              <a:t> の中身を訂正する</a:t>
            </a:r>
            <a:endParaRPr kumimoji="1" lang="en-US" altLang="ja-JP" sz="1500" dirty="0">
              <a:solidFill>
                <a:schemeClr val="tx1"/>
              </a:solidFill>
              <a:latin typeface="メイリオ" panose="020B0604030504040204" pitchFamily="50" charset="-128"/>
              <a:ea typeface="メイリオ" panose="020B0604030504040204" pitchFamily="50" charset="-128"/>
            </a:endParaRPr>
          </a:p>
          <a:p>
            <a:r>
              <a:rPr lang="ja-JP" altLang="en-US" sz="1200" dirty="0">
                <a:solidFill>
                  <a:schemeClr val="tx1"/>
                </a:solidFill>
                <a:latin typeface="メイリオ" panose="020B0604030504040204" pitchFamily="50" charset="-128"/>
                <a:ea typeface="メイリオ" panose="020B0604030504040204" pitchFamily="50" charset="-128"/>
              </a:rPr>
              <a:t>・</a:t>
            </a:r>
            <a:r>
              <a:rPr lang="en-US" altLang="ja-JP" sz="1200" dirty="0">
                <a:solidFill>
                  <a:schemeClr val="tx1"/>
                </a:solidFill>
                <a:latin typeface="メイリオ" panose="020B0604030504040204" pitchFamily="50" charset="-128"/>
                <a:ea typeface="メイリオ" panose="020B0604030504040204" pitchFamily="50" charset="-128"/>
              </a:rPr>
              <a:t>DD</a:t>
            </a:r>
            <a:r>
              <a:rPr lang="ja-JP" altLang="en-US" sz="1200" dirty="0">
                <a:solidFill>
                  <a:schemeClr val="tx1"/>
                </a:solidFill>
                <a:latin typeface="メイリオ" panose="020B0604030504040204" pitchFamily="50" charset="-128"/>
                <a:ea typeface="メイリオ" panose="020B0604030504040204" pitchFamily="50" charset="-128"/>
              </a:rPr>
              <a:t>は賞金を挙げるためにほかのシンボルとして扱うことができる</a:t>
            </a:r>
            <a:endParaRPr lang="en-US" altLang="ja-JP" sz="1200" dirty="0">
              <a:solidFill>
                <a:schemeClr val="tx1"/>
              </a:solidFill>
              <a:latin typeface="メイリオ" panose="020B0604030504040204" pitchFamily="50" charset="-128"/>
              <a:ea typeface="メイリオ" panose="020B0604030504040204" pitchFamily="50" charset="-128"/>
            </a:endParaRPr>
          </a:p>
          <a:p>
            <a:r>
              <a:rPr lang="ja-JP" altLang="en-US" sz="1200" dirty="0">
                <a:solidFill>
                  <a:schemeClr val="tx1"/>
                </a:solidFill>
                <a:latin typeface="メイリオ" panose="020B0604030504040204" pitchFamily="50" charset="-128"/>
                <a:ea typeface="メイリオ" panose="020B0604030504040204" pitchFamily="50" charset="-128"/>
              </a:rPr>
              <a:t>・ダイヤを</a:t>
            </a:r>
            <a:r>
              <a:rPr lang="en-US" altLang="ja-JP" sz="1200" dirty="0">
                <a:solidFill>
                  <a:schemeClr val="tx1"/>
                </a:solidFill>
                <a:latin typeface="メイリオ" panose="020B0604030504040204" pitchFamily="50" charset="-128"/>
                <a:ea typeface="メイリオ" panose="020B0604030504040204" pitchFamily="50" charset="-128"/>
              </a:rPr>
              <a:t>C</a:t>
            </a:r>
            <a:r>
              <a:rPr lang="ja-JP" altLang="en-US" sz="1200" dirty="0">
                <a:solidFill>
                  <a:schemeClr val="tx1"/>
                </a:solidFill>
                <a:latin typeface="メイリオ" panose="020B0604030504040204" pitchFamily="50" charset="-128"/>
                <a:ea typeface="メイリオ" panose="020B0604030504040204" pitchFamily="50" charset="-128"/>
              </a:rPr>
              <a:t>として扱えるのは、すでにシンボルが</a:t>
            </a:r>
            <a:r>
              <a:rPr lang="en-US" altLang="ja-JP" sz="1200" dirty="0">
                <a:solidFill>
                  <a:schemeClr val="tx1"/>
                </a:solidFill>
                <a:latin typeface="メイリオ" panose="020B0604030504040204" pitchFamily="50" charset="-128"/>
                <a:ea typeface="メイリオ" panose="020B0604030504040204" pitchFamily="50" charset="-128"/>
              </a:rPr>
              <a:t>C</a:t>
            </a:r>
            <a:r>
              <a:rPr lang="ja-JP" altLang="en-US" sz="1200" dirty="0">
                <a:solidFill>
                  <a:schemeClr val="tx1"/>
                </a:solidFill>
                <a:latin typeface="メイリオ" panose="020B0604030504040204" pitchFamily="50" charset="-128"/>
                <a:ea typeface="メイリオ" panose="020B0604030504040204" pitchFamily="50" charset="-128"/>
              </a:rPr>
              <a:t>を含むときのみ</a:t>
            </a:r>
            <a:endParaRPr lang="en-US" altLang="ja-JP" sz="1200" dirty="0">
              <a:solidFill>
                <a:schemeClr val="tx1"/>
              </a:solidFill>
              <a:latin typeface="メイリオ" panose="020B0604030504040204" pitchFamily="50" charset="-128"/>
              <a:ea typeface="メイリオ" panose="020B0604030504040204" pitchFamily="50" charset="-128"/>
            </a:endParaRPr>
          </a:p>
          <a:p>
            <a:endParaRPr kumimoji="1" lang="en-US" altLang="ja-JP" dirty="0">
              <a:solidFill>
                <a:schemeClr val="tx1"/>
              </a:solidFill>
              <a:latin typeface="メイリオ" panose="020B0604030504040204" pitchFamily="50" charset="-128"/>
              <a:ea typeface="メイリオ" panose="020B0604030504040204" pitchFamily="50" charset="-128"/>
            </a:endParaRPr>
          </a:p>
          <a:p>
            <a:endParaRPr kumimoji="1" lang="en-US" altLang="ja-JP" dirty="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18AB7309-A0CB-092D-032B-7A87D5CF9887}"/>
              </a:ext>
            </a:extLst>
          </p:cNvPr>
          <p:cNvSpPr/>
          <p:nvPr/>
        </p:nvSpPr>
        <p:spPr>
          <a:xfrm>
            <a:off x="7140531" y="1517169"/>
            <a:ext cx="4285169" cy="312022"/>
          </a:xfrm>
          <a:prstGeom prst="rect">
            <a:avLst/>
          </a:prstGeom>
          <a:solidFill>
            <a:srgbClr val="FFFFFF"/>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500" dirty="0">
                <a:solidFill>
                  <a:schemeClr val="tx1"/>
                </a:solidFill>
                <a:latin typeface="メイリオ" panose="020B0604030504040204" pitchFamily="50" charset="-128"/>
                <a:ea typeface="メイリオ" panose="020B0604030504040204" pitchFamily="50" charset="-128"/>
              </a:rPr>
              <a:t>新しい変数 </a:t>
            </a:r>
            <a:r>
              <a:rPr lang="en-US" altLang="ja-JP" sz="1500" dirty="0">
                <a:solidFill>
                  <a:schemeClr val="tx1"/>
                </a:solidFill>
                <a:latin typeface="メイリオ" panose="020B0604030504040204" pitchFamily="50" charset="-128"/>
                <a:ea typeface="メイリオ" panose="020B0604030504040204" pitchFamily="50" charset="-128"/>
              </a:rPr>
              <a:t>slots : DD</a:t>
            </a:r>
            <a:r>
              <a:rPr lang="ja-JP" altLang="en-US" sz="1500" dirty="0">
                <a:solidFill>
                  <a:schemeClr val="tx1"/>
                </a:solidFill>
                <a:latin typeface="メイリオ" panose="020B0604030504040204" pitchFamily="50" charset="-128"/>
                <a:ea typeface="メイリオ" panose="020B0604030504040204" pitchFamily="50" charset="-128"/>
              </a:rPr>
              <a:t>以外の要素　を用意する</a:t>
            </a:r>
            <a:endParaRPr lang="en-US" altLang="ja-JP" sz="1500" dirty="0">
              <a:solidFill>
                <a:schemeClr val="tx1"/>
              </a:solidFill>
              <a:latin typeface="メイリオ" panose="020B0604030504040204" pitchFamily="50" charset="-128"/>
              <a:ea typeface="メイリオ" panose="020B0604030504040204" pitchFamily="50" charset="-128"/>
            </a:endParaRPr>
          </a:p>
        </p:txBody>
      </p:sp>
      <p:sp>
        <p:nvSpPr>
          <p:cNvPr id="216" name="正方形/長方形 215">
            <a:extLst>
              <a:ext uri="{FF2B5EF4-FFF2-40B4-BE49-F238E27FC236}">
                <a16:creationId xmlns:a16="http://schemas.microsoft.com/office/drawing/2014/main" id="{8275863C-A2D1-1FB6-5B3B-6CE0BFA08DBA}"/>
              </a:ext>
            </a:extLst>
          </p:cNvPr>
          <p:cNvSpPr/>
          <p:nvPr/>
        </p:nvSpPr>
        <p:spPr>
          <a:xfrm>
            <a:off x="6326294" y="1895338"/>
            <a:ext cx="5306724" cy="4565065"/>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en-US" altLang="ja-JP" sz="1000" dirty="0">
              <a:solidFill>
                <a:schemeClr val="tx1"/>
              </a:solidFill>
            </a:endParaRPr>
          </a:p>
        </p:txBody>
      </p:sp>
      <p:sp>
        <p:nvSpPr>
          <p:cNvPr id="217" name="四角形: 1 つの角を切り取る 216">
            <a:extLst>
              <a:ext uri="{FF2B5EF4-FFF2-40B4-BE49-F238E27FC236}">
                <a16:creationId xmlns:a16="http://schemas.microsoft.com/office/drawing/2014/main" id="{AC70E57F-7C4E-D58E-0296-32C847577D4D}"/>
              </a:ext>
            </a:extLst>
          </p:cNvPr>
          <p:cNvSpPr/>
          <p:nvPr/>
        </p:nvSpPr>
        <p:spPr>
          <a:xfrm>
            <a:off x="10249736" y="2892381"/>
            <a:ext cx="564291" cy="195839"/>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7</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8" name="四角形: 1 つの角を切り取る 217">
            <a:extLst>
              <a:ext uri="{FF2B5EF4-FFF2-40B4-BE49-F238E27FC236}">
                <a16:creationId xmlns:a16="http://schemas.microsoft.com/office/drawing/2014/main" id="{63BDB58E-E6DE-F7D1-4883-9A2A57C9C364}"/>
              </a:ext>
            </a:extLst>
          </p:cNvPr>
          <p:cNvSpPr/>
          <p:nvPr/>
        </p:nvSpPr>
        <p:spPr>
          <a:xfrm>
            <a:off x="10249735" y="3074172"/>
            <a:ext cx="564291" cy="195839"/>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BBB</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9" name="四角形: 1 つの角を切り取る 218">
            <a:extLst>
              <a:ext uri="{FF2B5EF4-FFF2-40B4-BE49-F238E27FC236}">
                <a16:creationId xmlns:a16="http://schemas.microsoft.com/office/drawing/2014/main" id="{BC098D27-A088-ECE6-1D13-ED79392D80E3}"/>
              </a:ext>
            </a:extLst>
          </p:cNvPr>
          <p:cNvSpPr/>
          <p:nvPr/>
        </p:nvSpPr>
        <p:spPr>
          <a:xfrm>
            <a:off x="10249735" y="3272721"/>
            <a:ext cx="564291" cy="195839"/>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BB</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20" name="四角形: 1 つの角を切り取る 219">
            <a:extLst>
              <a:ext uri="{FF2B5EF4-FFF2-40B4-BE49-F238E27FC236}">
                <a16:creationId xmlns:a16="http://schemas.microsoft.com/office/drawing/2014/main" id="{1929D7E6-1843-AB8B-C111-1EC7131292FA}"/>
              </a:ext>
            </a:extLst>
          </p:cNvPr>
          <p:cNvSpPr/>
          <p:nvPr/>
        </p:nvSpPr>
        <p:spPr>
          <a:xfrm>
            <a:off x="10249734" y="3477069"/>
            <a:ext cx="564291" cy="195839"/>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B</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21" name="四角形: 1 つの角を切り取る 220">
            <a:extLst>
              <a:ext uri="{FF2B5EF4-FFF2-40B4-BE49-F238E27FC236}">
                <a16:creationId xmlns:a16="http://schemas.microsoft.com/office/drawing/2014/main" id="{E45A9BFA-860B-8D50-F419-C2FD5E81584A}"/>
              </a:ext>
            </a:extLst>
          </p:cNvPr>
          <p:cNvSpPr/>
          <p:nvPr/>
        </p:nvSpPr>
        <p:spPr>
          <a:xfrm>
            <a:off x="10249734" y="3860842"/>
            <a:ext cx="564291" cy="195839"/>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0</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22" name="四角形: 1 つの角を切り取る 221">
            <a:extLst>
              <a:ext uri="{FF2B5EF4-FFF2-40B4-BE49-F238E27FC236}">
                <a16:creationId xmlns:a16="http://schemas.microsoft.com/office/drawing/2014/main" id="{0FBBBB70-895D-8984-1480-01A9C7FF3A07}"/>
              </a:ext>
            </a:extLst>
          </p:cNvPr>
          <p:cNvSpPr/>
          <p:nvPr/>
        </p:nvSpPr>
        <p:spPr>
          <a:xfrm>
            <a:off x="10249734" y="3667108"/>
            <a:ext cx="564291" cy="195839"/>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C</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23" name="楕円 222">
            <a:extLst>
              <a:ext uri="{FF2B5EF4-FFF2-40B4-BE49-F238E27FC236}">
                <a16:creationId xmlns:a16="http://schemas.microsoft.com/office/drawing/2014/main" id="{452A2519-D833-6B46-E2F4-7BE79B4C167B}"/>
              </a:ext>
            </a:extLst>
          </p:cNvPr>
          <p:cNvSpPr/>
          <p:nvPr/>
        </p:nvSpPr>
        <p:spPr>
          <a:xfrm>
            <a:off x="10236530" y="2050343"/>
            <a:ext cx="377279" cy="374687"/>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500" dirty="0">
              <a:solidFill>
                <a:schemeClr val="tx1"/>
              </a:solidFill>
            </a:endParaRPr>
          </a:p>
        </p:txBody>
      </p:sp>
      <p:sp>
        <p:nvSpPr>
          <p:cNvPr id="224" name="楕円 223">
            <a:extLst>
              <a:ext uri="{FF2B5EF4-FFF2-40B4-BE49-F238E27FC236}">
                <a16:creationId xmlns:a16="http://schemas.microsoft.com/office/drawing/2014/main" id="{FA3ECBC9-784A-D20B-7633-0031A99739B3}"/>
              </a:ext>
            </a:extLst>
          </p:cNvPr>
          <p:cNvSpPr/>
          <p:nvPr/>
        </p:nvSpPr>
        <p:spPr>
          <a:xfrm>
            <a:off x="11084769" y="2862084"/>
            <a:ext cx="247110" cy="258915"/>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500" dirty="0">
              <a:solidFill>
                <a:schemeClr val="tx1"/>
              </a:solidFill>
            </a:endParaRPr>
          </a:p>
        </p:txBody>
      </p:sp>
      <p:sp>
        <p:nvSpPr>
          <p:cNvPr id="225" name="楕円 224">
            <a:extLst>
              <a:ext uri="{FF2B5EF4-FFF2-40B4-BE49-F238E27FC236}">
                <a16:creationId xmlns:a16="http://schemas.microsoft.com/office/drawing/2014/main" id="{740460B0-A3DA-AAFF-40B1-DD06C04C0205}"/>
              </a:ext>
            </a:extLst>
          </p:cNvPr>
          <p:cNvSpPr/>
          <p:nvPr/>
        </p:nvSpPr>
        <p:spPr>
          <a:xfrm>
            <a:off x="11084767" y="3068349"/>
            <a:ext cx="247110" cy="258915"/>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500" dirty="0">
              <a:solidFill>
                <a:schemeClr val="tx1"/>
              </a:solidFill>
            </a:endParaRPr>
          </a:p>
        </p:txBody>
      </p:sp>
      <p:sp>
        <p:nvSpPr>
          <p:cNvPr id="226" name="楕円 225">
            <a:extLst>
              <a:ext uri="{FF2B5EF4-FFF2-40B4-BE49-F238E27FC236}">
                <a16:creationId xmlns:a16="http://schemas.microsoft.com/office/drawing/2014/main" id="{15A9B4FF-20C6-1C10-4F90-F68A5AA0C5F5}"/>
              </a:ext>
            </a:extLst>
          </p:cNvPr>
          <p:cNvSpPr/>
          <p:nvPr/>
        </p:nvSpPr>
        <p:spPr>
          <a:xfrm>
            <a:off x="11084765" y="3263656"/>
            <a:ext cx="247110" cy="258915"/>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500" dirty="0">
              <a:solidFill>
                <a:schemeClr val="tx1"/>
              </a:solidFill>
            </a:endParaRPr>
          </a:p>
        </p:txBody>
      </p:sp>
      <p:sp>
        <p:nvSpPr>
          <p:cNvPr id="227" name="楕円 226">
            <a:extLst>
              <a:ext uri="{FF2B5EF4-FFF2-40B4-BE49-F238E27FC236}">
                <a16:creationId xmlns:a16="http://schemas.microsoft.com/office/drawing/2014/main" id="{94D10B90-8653-820D-9199-01F000F50775}"/>
              </a:ext>
            </a:extLst>
          </p:cNvPr>
          <p:cNvSpPr/>
          <p:nvPr/>
        </p:nvSpPr>
        <p:spPr>
          <a:xfrm>
            <a:off x="11084763" y="3458963"/>
            <a:ext cx="247110" cy="258915"/>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500" dirty="0">
              <a:solidFill>
                <a:schemeClr val="tx1"/>
              </a:solidFill>
            </a:endParaRPr>
          </a:p>
        </p:txBody>
      </p:sp>
      <p:sp>
        <p:nvSpPr>
          <p:cNvPr id="228" name="楕円 227">
            <a:extLst>
              <a:ext uri="{FF2B5EF4-FFF2-40B4-BE49-F238E27FC236}">
                <a16:creationId xmlns:a16="http://schemas.microsoft.com/office/drawing/2014/main" id="{57B1D4DC-963C-8DC7-B2CA-60CA33652010}"/>
              </a:ext>
            </a:extLst>
          </p:cNvPr>
          <p:cNvSpPr/>
          <p:nvPr/>
        </p:nvSpPr>
        <p:spPr>
          <a:xfrm>
            <a:off x="11084761" y="3654270"/>
            <a:ext cx="247110" cy="258915"/>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500" dirty="0">
              <a:solidFill>
                <a:schemeClr val="tx1"/>
              </a:solidFill>
            </a:endParaRPr>
          </a:p>
        </p:txBody>
      </p:sp>
      <p:sp>
        <p:nvSpPr>
          <p:cNvPr id="229" name="楕円 228">
            <a:extLst>
              <a:ext uri="{FF2B5EF4-FFF2-40B4-BE49-F238E27FC236}">
                <a16:creationId xmlns:a16="http://schemas.microsoft.com/office/drawing/2014/main" id="{14A9C296-6923-7541-4414-47CCA0F86B47}"/>
              </a:ext>
            </a:extLst>
          </p:cNvPr>
          <p:cNvSpPr/>
          <p:nvPr/>
        </p:nvSpPr>
        <p:spPr>
          <a:xfrm>
            <a:off x="11084759" y="3849578"/>
            <a:ext cx="247110" cy="258915"/>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500" dirty="0">
              <a:solidFill>
                <a:schemeClr val="tx1"/>
              </a:solidFill>
            </a:endParaRPr>
          </a:p>
        </p:txBody>
      </p:sp>
      <p:sp>
        <p:nvSpPr>
          <p:cNvPr id="230" name="テキスト ボックス 229">
            <a:extLst>
              <a:ext uri="{FF2B5EF4-FFF2-40B4-BE49-F238E27FC236}">
                <a16:creationId xmlns:a16="http://schemas.microsoft.com/office/drawing/2014/main" id="{FDD37E07-66D0-6517-CBC7-460F03A69E90}"/>
              </a:ext>
            </a:extLst>
          </p:cNvPr>
          <p:cNvSpPr txBox="1"/>
          <p:nvPr/>
        </p:nvSpPr>
        <p:spPr>
          <a:xfrm>
            <a:off x="10222427" y="2115935"/>
            <a:ext cx="698422" cy="296624"/>
          </a:xfrm>
          <a:prstGeom prst="rect">
            <a:avLst/>
          </a:prstGeom>
          <a:noFill/>
        </p:spPr>
        <p:txBody>
          <a:bodyPr wrap="square" rtlCol="0">
            <a:spAutoFit/>
          </a:bodyPr>
          <a:lstStyle/>
          <a:p>
            <a:r>
              <a:rPr kumimoji="1" lang="en-US" altLang="ja-JP" sz="1300" dirty="0"/>
              <a:t>100</a:t>
            </a:r>
            <a:endParaRPr kumimoji="1" lang="ja-JP" altLang="en-US" sz="1300" dirty="0"/>
          </a:p>
        </p:txBody>
      </p:sp>
      <p:sp>
        <p:nvSpPr>
          <p:cNvPr id="231" name="テキスト ボックス 230">
            <a:extLst>
              <a:ext uri="{FF2B5EF4-FFF2-40B4-BE49-F238E27FC236}">
                <a16:creationId xmlns:a16="http://schemas.microsoft.com/office/drawing/2014/main" id="{F6E8923D-7BF1-0AAF-E913-3D8EF44B930E}"/>
              </a:ext>
            </a:extLst>
          </p:cNvPr>
          <p:cNvSpPr txBox="1"/>
          <p:nvPr/>
        </p:nvSpPr>
        <p:spPr>
          <a:xfrm>
            <a:off x="10976507" y="2881695"/>
            <a:ext cx="457449" cy="249788"/>
          </a:xfrm>
          <a:prstGeom prst="rect">
            <a:avLst/>
          </a:prstGeom>
          <a:noFill/>
        </p:spPr>
        <p:txBody>
          <a:bodyPr wrap="square" rtlCol="0">
            <a:spAutoFit/>
          </a:bodyPr>
          <a:lstStyle/>
          <a:p>
            <a:pPr algn="ctr"/>
            <a:r>
              <a:rPr kumimoji="1" lang="en-US" altLang="ja-JP" sz="1000" dirty="0"/>
              <a:t>80</a:t>
            </a:r>
          </a:p>
        </p:txBody>
      </p:sp>
      <p:sp>
        <p:nvSpPr>
          <p:cNvPr id="232" name="テキスト ボックス 231">
            <a:extLst>
              <a:ext uri="{FF2B5EF4-FFF2-40B4-BE49-F238E27FC236}">
                <a16:creationId xmlns:a16="http://schemas.microsoft.com/office/drawing/2014/main" id="{23D3C299-4C72-4DC2-5A6A-35B13B31DB3F}"/>
              </a:ext>
            </a:extLst>
          </p:cNvPr>
          <p:cNvSpPr txBox="1"/>
          <p:nvPr/>
        </p:nvSpPr>
        <p:spPr>
          <a:xfrm>
            <a:off x="10981386" y="3069061"/>
            <a:ext cx="457449" cy="249788"/>
          </a:xfrm>
          <a:prstGeom prst="rect">
            <a:avLst/>
          </a:prstGeom>
          <a:noFill/>
        </p:spPr>
        <p:txBody>
          <a:bodyPr wrap="square" rtlCol="0">
            <a:spAutoFit/>
          </a:bodyPr>
          <a:lstStyle/>
          <a:p>
            <a:pPr algn="ctr"/>
            <a:r>
              <a:rPr kumimoji="1" lang="en-US" altLang="ja-JP" sz="1000" dirty="0"/>
              <a:t>40</a:t>
            </a:r>
            <a:endParaRPr kumimoji="1" lang="ja-JP" altLang="en-US" sz="1000" dirty="0"/>
          </a:p>
        </p:txBody>
      </p:sp>
      <p:sp>
        <p:nvSpPr>
          <p:cNvPr id="233" name="テキスト ボックス 232">
            <a:extLst>
              <a:ext uri="{FF2B5EF4-FFF2-40B4-BE49-F238E27FC236}">
                <a16:creationId xmlns:a16="http://schemas.microsoft.com/office/drawing/2014/main" id="{15EF319C-2677-5776-BB83-FC550F855563}"/>
              </a:ext>
            </a:extLst>
          </p:cNvPr>
          <p:cNvSpPr txBox="1"/>
          <p:nvPr/>
        </p:nvSpPr>
        <p:spPr>
          <a:xfrm>
            <a:off x="10976507" y="3277827"/>
            <a:ext cx="457449" cy="249788"/>
          </a:xfrm>
          <a:prstGeom prst="rect">
            <a:avLst/>
          </a:prstGeom>
          <a:noFill/>
        </p:spPr>
        <p:txBody>
          <a:bodyPr wrap="square" rtlCol="0">
            <a:spAutoFit/>
          </a:bodyPr>
          <a:lstStyle/>
          <a:p>
            <a:pPr algn="ctr"/>
            <a:r>
              <a:rPr kumimoji="1" lang="en-US" altLang="ja-JP" sz="1000" dirty="0"/>
              <a:t>25</a:t>
            </a:r>
            <a:endParaRPr kumimoji="1" lang="ja-JP" altLang="en-US" sz="1000" dirty="0"/>
          </a:p>
        </p:txBody>
      </p:sp>
      <p:sp>
        <p:nvSpPr>
          <p:cNvPr id="234" name="テキスト ボックス 233">
            <a:extLst>
              <a:ext uri="{FF2B5EF4-FFF2-40B4-BE49-F238E27FC236}">
                <a16:creationId xmlns:a16="http://schemas.microsoft.com/office/drawing/2014/main" id="{54D8FDA9-3546-A103-9231-B1D46074EF6E}"/>
              </a:ext>
            </a:extLst>
          </p:cNvPr>
          <p:cNvSpPr txBox="1"/>
          <p:nvPr/>
        </p:nvSpPr>
        <p:spPr>
          <a:xfrm>
            <a:off x="11049738" y="3479429"/>
            <a:ext cx="457449" cy="249788"/>
          </a:xfrm>
          <a:prstGeom prst="rect">
            <a:avLst/>
          </a:prstGeom>
          <a:noFill/>
        </p:spPr>
        <p:txBody>
          <a:bodyPr wrap="square" rtlCol="0">
            <a:spAutoFit/>
          </a:bodyPr>
          <a:lstStyle/>
          <a:p>
            <a:r>
              <a:rPr kumimoji="1" lang="en-US" altLang="ja-JP" sz="1000" dirty="0"/>
              <a:t>10</a:t>
            </a:r>
            <a:endParaRPr kumimoji="1" lang="ja-JP" altLang="en-US" sz="1000" dirty="0"/>
          </a:p>
        </p:txBody>
      </p:sp>
      <p:sp>
        <p:nvSpPr>
          <p:cNvPr id="235" name="テキスト ボックス 234">
            <a:extLst>
              <a:ext uri="{FF2B5EF4-FFF2-40B4-BE49-F238E27FC236}">
                <a16:creationId xmlns:a16="http://schemas.microsoft.com/office/drawing/2014/main" id="{A6C7650A-5A35-E0E0-CD5D-59F1A3AC161A}"/>
              </a:ext>
            </a:extLst>
          </p:cNvPr>
          <p:cNvSpPr txBox="1"/>
          <p:nvPr/>
        </p:nvSpPr>
        <p:spPr>
          <a:xfrm>
            <a:off x="11049738" y="3667331"/>
            <a:ext cx="457449" cy="249788"/>
          </a:xfrm>
          <a:prstGeom prst="rect">
            <a:avLst/>
          </a:prstGeom>
          <a:noFill/>
        </p:spPr>
        <p:txBody>
          <a:bodyPr wrap="square" rtlCol="0">
            <a:spAutoFit/>
          </a:bodyPr>
          <a:lstStyle/>
          <a:p>
            <a:r>
              <a:rPr kumimoji="1" lang="en-US" altLang="ja-JP" sz="1000" dirty="0"/>
              <a:t>10</a:t>
            </a:r>
            <a:endParaRPr kumimoji="1" lang="ja-JP" altLang="en-US" sz="1000" dirty="0"/>
          </a:p>
        </p:txBody>
      </p:sp>
      <p:sp>
        <p:nvSpPr>
          <p:cNvPr id="236" name="テキスト ボックス 235">
            <a:extLst>
              <a:ext uri="{FF2B5EF4-FFF2-40B4-BE49-F238E27FC236}">
                <a16:creationId xmlns:a16="http://schemas.microsoft.com/office/drawing/2014/main" id="{500F7FA8-9DA7-3F51-2E6B-D164397A3A63}"/>
              </a:ext>
            </a:extLst>
          </p:cNvPr>
          <p:cNvSpPr txBox="1"/>
          <p:nvPr/>
        </p:nvSpPr>
        <p:spPr>
          <a:xfrm>
            <a:off x="11084759" y="3877242"/>
            <a:ext cx="457449" cy="249788"/>
          </a:xfrm>
          <a:prstGeom prst="rect">
            <a:avLst/>
          </a:prstGeom>
          <a:noFill/>
        </p:spPr>
        <p:txBody>
          <a:bodyPr wrap="square" rtlCol="0">
            <a:spAutoFit/>
          </a:bodyPr>
          <a:lstStyle/>
          <a:p>
            <a:r>
              <a:rPr kumimoji="1" lang="en-US" altLang="ja-JP" sz="1000" dirty="0"/>
              <a:t>0</a:t>
            </a:r>
            <a:endParaRPr kumimoji="1" lang="ja-JP" altLang="en-US" sz="1000" dirty="0"/>
          </a:p>
        </p:txBody>
      </p:sp>
      <p:grpSp>
        <p:nvGrpSpPr>
          <p:cNvPr id="237" name="グループ化 236">
            <a:extLst>
              <a:ext uri="{FF2B5EF4-FFF2-40B4-BE49-F238E27FC236}">
                <a16:creationId xmlns:a16="http://schemas.microsoft.com/office/drawing/2014/main" id="{2D71C9B3-1E12-E4A9-DF75-5763165BD6A0}"/>
              </a:ext>
            </a:extLst>
          </p:cNvPr>
          <p:cNvGrpSpPr/>
          <p:nvPr/>
        </p:nvGrpSpPr>
        <p:grpSpPr>
          <a:xfrm>
            <a:off x="10319388" y="4136015"/>
            <a:ext cx="292344" cy="264104"/>
            <a:chOff x="5697017" y="3490152"/>
            <a:chExt cx="283017" cy="260332"/>
          </a:xfrm>
        </p:grpSpPr>
        <p:sp>
          <p:nvSpPr>
            <p:cNvPr id="289" name="楕円 288">
              <a:extLst>
                <a:ext uri="{FF2B5EF4-FFF2-40B4-BE49-F238E27FC236}">
                  <a16:creationId xmlns:a16="http://schemas.microsoft.com/office/drawing/2014/main" id="{827BD9B4-2C7B-CBFE-F83C-5CF0EBEEB778}"/>
                </a:ext>
              </a:extLst>
            </p:cNvPr>
            <p:cNvSpPr/>
            <p:nvPr/>
          </p:nvSpPr>
          <p:spPr>
            <a:xfrm>
              <a:off x="5748245" y="3490152"/>
              <a:ext cx="231789" cy="241249"/>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en-US" altLang="ja-JP" dirty="0">
                <a:solidFill>
                  <a:schemeClr val="tx1"/>
                </a:solidFill>
              </a:endParaRPr>
            </a:p>
          </p:txBody>
        </p:sp>
        <p:sp>
          <p:nvSpPr>
            <p:cNvPr id="290" name="テキスト ボックス 289">
              <a:extLst>
                <a:ext uri="{FF2B5EF4-FFF2-40B4-BE49-F238E27FC236}">
                  <a16:creationId xmlns:a16="http://schemas.microsoft.com/office/drawing/2014/main" id="{56126F16-8D4A-24CB-9267-2AEB408962EE}"/>
                </a:ext>
              </a:extLst>
            </p:cNvPr>
            <p:cNvSpPr txBox="1"/>
            <p:nvPr/>
          </p:nvSpPr>
          <p:spPr>
            <a:xfrm>
              <a:off x="5697017" y="3504263"/>
              <a:ext cx="256065" cy="246221"/>
            </a:xfrm>
            <a:prstGeom prst="rect">
              <a:avLst/>
            </a:prstGeom>
            <a:noFill/>
          </p:spPr>
          <p:txBody>
            <a:bodyPr wrap="square" rtlCol="0">
              <a:spAutoFit/>
            </a:bodyPr>
            <a:lstStyle/>
            <a:p>
              <a:r>
                <a:rPr kumimoji="1" lang="ja-JP" altLang="en-US" sz="1000" dirty="0">
                  <a:latin typeface="メイリオ" panose="020B0604030504040204" pitchFamily="50" charset="-128"/>
                  <a:ea typeface="メイリオ" panose="020B0604030504040204" pitchFamily="50" charset="-128"/>
                </a:rPr>
                <a:t>５</a:t>
              </a:r>
            </a:p>
          </p:txBody>
        </p:sp>
      </p:grpSp>
      <p:sp>
        <p:nvSpPr>
          <p:cNvPr id="238" name="四角形: 1 つの角を切り取る 237">
            <a:extLst>
              <a:ext uri="{FF2B5EF4-FFF2-40B4-BE49-F238E27FC236}">
                <a16:creationId xmlns:a16="http://schemas.microsoft.com/office/drawing/2014/main" id="{6DA5D551-7960-23F3-04CD-85BD41648BBA}"/>
              </a:ext>
            </a:extLst>
          </p:cNvPr>
          <p:cNvSpPr/>
          <p:nvPr/>
        </p:nvSpPr>
        <p:spPr>
          <a:xfrm>
            <a:off x="10222069" y="5307285"/>
            <a:ext cx="564291" cy="195839"/>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solidFill>
                <a:latin typeface="メイリオ" panose="020B0604030504040204" pitchFamily="50" charset="-128"/>
                <a:ea typeface="メイリオ" panose="020B0604030504040204" pitchFamily="50" charset="-128"/>
              </a:rPr>
              <a:t>０個</a:t>
            </a:r>
          </a:p>
        </p:txBody>
      </p:sp>
      <p:sp>
        <p:nvSpPr>
          <p:cNvPr id="239" name="四角形: 1 つの角を切り取る 238">
            <a:extLst>
              <a:ext uri="{FF2B5EF4-FFF2-40B4-BE49-F238E27FC236}">
                <a16:creationId xmlns:a16="http://schemas.microsoft.com/office/drawing/2014/main" id="{284E8201-062D-5D18-FBCF-8F3D913F157A}"/>
              </a:ext>
            </a:extLst>
          </p:cNvPr>
          <p:cNvSpPr/>
          <p:nvPr/>
        </p:nvSpPr>
        <p:spPr>
          <a:xfrm>
            <a:off x="10216339" y="5486026"/>
            <a:ext cx="564291" cy="195839"/>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solidFill>
                <a:latin typeface="メイリオ" panose="020B0604030504040204" pitchFamily="50" charset="-128"/>
                <a:ea typeface="メイリオ" panose="020B0604030504040204" pitchFamily="50" charset="-128"/>
              </a:rPr>
              <a:t>１個</a:t>
            </a:r>
          </a:p>
        </p:txBody>
      </p:sp>
      <p:sp>
        <p:nvSpPr>
          <p:cNvPr id="240" name="四角形: 1 つの角を切り取る 239">
            <a:extLst>
              <a:ext uri="{FF2B5EF4-FFF2-40B4-BE49-F238E27FC236}">
                <a16:creationId xmlns:a16="http://schemas.microsoft.com/office/drawing/2014/main" id="{4E0045CC-C046-8557-97F9-94BD365338D4}"/>
              </a:ext>
            </a:extLst>
          </p:cNvPr>
          <p:cNvSpPr/>
          <p:nvPr/>
        </p:nvSpPr>
        <p:spPr>
          <a:xfrm>
            <a:off x="10222427" y="5684574"/>
            <a:ext cx="564291" cy="195839"/>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solidFill>
                <a:latin typeface="メイリオ" panose="020B0604030504040204" pitchFamily="50" charset="-128"/>
                <a:ea typeface="メイリオ" panose="020B0604030504040204" pitchFamily="50" charset="-128"/>
              </a:rPr>
              <a:t>２個</a:t>
            </a:r>
          </a:p>
        </p:txBody>
      </p:sp>
      <p:sp>
        <p:nvSpPr>
          <p:cNvPr id="241" name="楕円 240">
            <a:extLst>
              <a:ext uri="{FF2B5EF4-FFF2-40B4-BE49-F238E27FC236}">
                <a16:creationId xmlns:a16="http://schemas.microsoft.com/office/drawing/2014/main" id="{35BAF776-3D37-1D5A-A2F4-CE40776E8E85}"/>
              </a:ext>
            </a:extLst>
          </p:cNvPr>
          <p:cNvSpPr/>
          <p:nvPr/>
        </p:nvSpPr>
        <p:spPr>
          <a:xfrm>
            <a:off x="11152852" y="5695683"/>
            <a:ext cx="239428" cy="244744"/>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en-US" altLang="ja-JP" dirty="0">
              <a:solidFill>
                <a:schemeClr val="tx1"/>
              </a:solidFill>
            </a:endParaRPr>
          </a:p>
        </p:txBody>
      </p:sp>
      <p:sp>
        <p:nvSpPr>
          <p:cNvPr id="242" name="楕円 241">
            <a:extLst>
              <a:ext uri="{FF2B5EF4-FFF2-40B4-BE49-F238E27FC236}">
                <a16:creationId xmlns:a16="http://schemas.microsoft.com/office/drawing/2014/main" id="{09A00BD7-0B91-CBE9-0FFD-36CC339A6BA6}"/>
              </a:ext>
            </a:extLst>
          </p:cNvPr>
          <p:cNvSpPr/>
          <p:nvPr/>
        </p:nvSpPr>
        <p:spPr>
          <a:xfrm>
            <a:off x="11152852" y="5481825"/>
            <a:ext cx="239428" cy="244744"/>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en-US" altLang="ja-JP" dirty="0">
              <a:solidFill>
                <a:schemeClr val="tx1"/>
              </a:solidFill>
            </a:endParaRPr>
          </a:p>
        </p:txBody>
      </p:sp>
      <p:sp>
        <p:nvSpPr>
          <p:cNvPr id="243" name="楕円 242">
            <a:extLst>
              <a:ext uri="{FF2B5EF4-FFF2-40B4-BE49-F238E27FC236}">
                <a16:creationId xmlns:a16="http://schemas.microsoft.com/office/drawing/2014/main" id="{05EF656B-DD0C-0895-A837-EEF912337C6D}"/>
              </a:ext>
            </a:extLst>
          </p:cNvPr>
          <p:cNvSpPr/>
          <p:nvPr/>
        </p:nvSpPr>
        <p:spPr>
          <a:xfrm>
            <a:off x="11163296" y="5261533"/>
            <a:ext cx="239428" cy="244744"/>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en-US" altLang="ja-JP" dirty="0">
              <a:solidFill>
                <a:schemeClr val="tx1"/>
              </a:solidFill>
            </a:endParaRPr>
          </a:p>
        </p:txBody>
      </p:sp>
      <p:sp>
        <p:nvSpPr>
          <p:cNvPr id="244" name="テキスト ボックス 243">
            <a:extLst>
              <a:ext uri="{FF2B5EF4-FFF2-40B4-BE49-F238E27FC236}">
                <a16:creationId xmlns:a16="http://schemas.microsoft.com/office/drawing/2014/main" id="{CBBE271E-3879-94CE-66C6-2275B03EB952}"/>
              </a:ext>
            </a:extLst>
          </p:cNvPr>
          <p:cNvSpPr txBox="1"/>
          <p:nvPr/>
        </p:nvSpPr>
        <p:spPr>
          <a:xfrm>
            <a:off x="11136095" y="5278207"/>
            <a:ext cx="264504" cy="249788"/>
          </a:xfrm>
          <a:prstGeom prst="rect">
            <a:avLst/>
          </a:prstGeom>
          <a:noFill/>
        </p:spPr>
        <p:txBody>
          <a:bodyPr wrap="square" rtlCol="0">
            <a:spAutoFit/>
          </a:bodyPr>
          <a:lstStyle/>
          <a:p>
            <a:r>
              <a:rPr lang="ja-JP" altLang="en-US" sz="1000" dirty="0">
                <a:latin typeface="メイリオ" panose="020B0604030504040204" pitchFamily="50" charset="-128"/>
                <a:ea typeface="メイリオ" panose="020B0604030504040204" pitchFamily="50" charset="-128"/>
              </a:rPr>
              <a:t>０</a:t>
            </a:r>
            <a:endParaRPr kumimoji="1" lang="ja-JP" altLang="en-US" sz="1000" dirty="0">
              <a:latin typeface="メイリオ" panose="020B0604030504040204" pitchFamily="50" charset="-128"/>
              <a:ea typeface="メイリオ" panose="020B0604030504040204" pitchFamily="50" charset="-128"/>
            </a:endParaRPr>
          </a:p>
        </p:txBody>
      </p:sp>
      <p:sp>
        <p:nvSpPr>
          <p:cNvPr id="245" name="テキスト ボックス 244">
            <a:extLst>
              <a:ext uri="{FF2B5EF4-FFF2-40B4-BE49-F238E27FC236}">
                <a16:creationId xmlns:a16="http://schemas.microsoft.com/office/drawing/2014/main" id="{990A9C28-CA9E-9C36-7750-EE908FC482DD}"/>
              </a:ext>
            </a:extLst>
          </p:cNvPr>
          <p:cNvSpPr txBox="1"/>
          <p:nvPr/>
        </p:nvSpPr>
        <p:spPr>
          <a:xfrm>
            <a:off x="11121905" y="5503543"/>
            <a:ext cx="264504" cy="249788"/>
          </a:xfrm>
          <a:prstGeom prst="rect">
            <a:avLst/>
          </a:prstGeom>
          <a:noFill/>
        </p:spPr>
        <p:txBody>
          <a:bodyPr wrap="square" rtlCol="0">
            <a:spAutoFit/>
          </a:bodyPr>
          <a:lstStyle/>
          <a:p>
            <a:r>
              <a:rPr lang="ja-JP" altLang="en-US" sz="1000" dirty="0">
                <a:latin typeface="メイリオ" panose="020B0604030504040204" pitchFamily="50" charset="-128"/>
                <a:ea typeface="メイリオ" panose="020B0604030504040204" pitchFamily="50" charset="-128"/>
              </a:rPr>
              <a:t>２</a:t>
            </a:r>
            <a:endParaRPr kumimoji="1" lang="ja-JP" altLang="en-US" sz="1000" dirty="0">
              <a:latin typeface="メイリオ" panose="020B0604030504040204" pitchFamily="50" charset="-128"/>
              <a:ea typeface="メイリオ" panose="020B0604030504040204" pitchFamily="50" charset="-128"/>
            </a:endParaRPr>
          </a:p>
        </p:txBody>
      </p:sp>
      <p:sp>
        <p:nvSpPr>
          <p:cNvPr id="246" name="テキスト ボックス 245">
            <a:extLst>
              <a:ext uri="{FF2B5EF4-FFF2-40B4-BE49-F238E27FC236}">
                <a16:creationId xmlns:a16="http://schemas.microsoft.com/office/drawing/2014/main" id="{DB42B7EC-BACA-32B9-ADE4-522EBB05A11B}"/>
              </a:ext>
            </a:extLst>
          </p:cNvPr>
          <p:cNvSpPr txBox="1"/>
          <p:nvPr/>
        </p:nvSpPr>
        <p:spPr>
          <a:xfrm>
            <a:off x="11129652" y="5722969"/>
            <a:ext cx="264504" cy="249788"/>
          </a:xfrm>
          <a:prstGeom prst="rect">
            <a:avLst/>
          </a:prstGeom>
          <a:noFill/>
        </p:spPr>
        <p:txBody>
          <a:bodyPr wrap="square" rtlCol="0">
            <a:spAutoFit/>
          </a:bodyPr>
          <a:lstStyle/>
          <a:p>
            <a:r>
              <a:rPr lang="ja-JP" altLang="en-US" sz="1000" dirty="0">
                <a:latin typeface="メイリオ" panose="020B0604030504040204" pitchFamily="50" charset="-128"/>
                <a:ea typeface="メイリオ" panose="020B0604030504040204" pitchFamily="50" charset="-128"/>
              </a:rPr>
              <a:t>５</a:t>
            </a:r>
            <a:endParaRPr kumimoji="1" lang="ja-JP" altLang="en-US" sz="1000" dirty="0">
              <a:latin typeface="メイリオ" panose="020B0604030504040204" pitchFamily="50" charset="-128"/>
              <a:ea typeface="メイリオ" panose="020B0604030504040204" pitchFamily="50" charset="-128"/>
            </a:endParaRPr>
          </a:p>
        </p:txBody>
      </p:sp>
      <p:sp>
        <p:nvSpPr>
          <p:cNvPr id="247" name="四角形: 1 つの角を切り取る 246">
            <a:extLst>
              <a:ext uri="{FF2B5EF4-FFF2-40B4-BE49-F238E27FC236}">
                <a16:creationId xmlns:a16="http://schemas.microsoft.com/office/drawing/2014/main" id="{097B2245-B21E-F74B-9089-E06CB5696B0A}"/>
              </a:ext>
            </a:extLst>
          </p:cNvPr>
          <p:cNvSpPr/>
          <p:nvPr/>
        </p:nvSpPr>
        <p:spPr>
          <a:xfrm>
            <a:off x="6977963" y="2840882"/>
            <a:ext cx="2425761" cy="264781"/>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dirty="0">
                <a:solidFill>
                  <a:schemeClr val="tx1"/>
                </a:solidFill>
                <a:latin typeface="メイリオ" panose="020B0604030504040204" pitchFamily="50" charset="-128"/>
                <a:ea typeface="メイリオ" panose="020B0604030504040204" pitchFamily="50" charset="-128"/>
              </a:rPr>
              <a:t>s</a:t>
            </a:r>
            <a:r>
              <a:rPr kumimoji="1" lang="en-US" altLang="ja-JP" sz="1400" dirty="0">
                <a:solidFill>
                  <a:schemeClr val="tx1"/>
                </a:solidFill>
                <a:latin typeface="メイリオ" panose="020B0604030504040204" pitchFamily="50" charset="-128"/>
                <a:ea typeface="メイリオ" panose="020B0604030504040204" pitchFamily="50" charset="-128"/>
              </a:rPr>
              <a:t>lots </a:t>
            </a:r>
            <a:r>
              <a:rPr kumimoji="1" lang="ja-JP" altLang="en-US" sz="1400" dirty="0">
                <a:solidFill>
                  <a:schemeClr val="tx1"/>
                </a:solidFill>
                <a:latin typeface="メイリオ" panose="020B0604030504040204" pitchFamily="50" charset="-128"/>
                <a:ea typeface="メイリオ" panose="020B0604030504040204" pitchFamily="50" charset="-128"/>
              </a:rPr>
              <a:t>の要素が１種類</a:t>
            </a:r>
          </a:p>
        </p:txBody>
      </p:sp>
      <p:sp>
        <p:nvSpPr>
          <p:cNvPr id="248" name="四角形: 1 つの角を切り取る 247">
            <a:extLst>
              <a:ext uri="{FF2B5EF4-FFF2-40B4-BE49-F238E27FC236}">
                <a16:creationId xmlns:a16="http://schemas.microsoft.com/office/drawing/2014/main" id="{C927AFBD-4070-52F8-BA36-569A13C63CA8}"/>
              </a:ext>
            </a:extLst>
          </p:cNvPr>
          <p:cNvSpPr/>
          <p:nvPr/>
        </p:nvSpPr>
        <p:spPr>
          <a:xfrm>
            <a:off x="6885852" y="4912893"/>
            <a:ext cx="1425725" cy="264781"/>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rPr>
              <a:t>C</a:t>
            </a:r>
            <a:r>
              <a:rPr kumimoji="1" lang="ja-JP" altLang="en-US" sz="1400" dirty="0">
                <a:solidFill>
                  <a:schemeClr val="tx1"/>
                </a:solidFill>
                <a:latin typeface="メイリオ" panose="020B0604030504040204" pitchFamily="50" charset="-128"/>
                <a:ea typeface="メイリオ" panose="020B0604030504040204" pitchFamily="50" charset="-128"/>
              </a:rPr>
              <a:t>が１つ以上</a:t>
            </a:r>
          </a:p>
        </p:txBody>
      </p:sp>
      <p:sp>
        <p:nvSpPr>
          <p:cNvPr id="249" name="四角形: 1 つの角を切り取る 248">
            <a:extLst>
              <a:ext uri="{FF2B5EF4-FFF2-40B4-BE49-F238E27FC236}">
                <a16:creationId xmlns:a16="http://schemas.microsoft.com/office/drawing/2014/main" id="{1BDD83FB-6DC0-4237-BFC2-6259912BFFA1}"/>
              </a:ext>
            </a:extLst>
          </p:cNvPr>
          <p:cNvSpPr/>
          <p:nvPr/>
        </p:nvSpPr>
        <p:spPr>
          <a:xfrm>
            <a:off x="9109004" y="4923870"/>
            <a:ext cx="2135505" cy="252780"/>
          </a:xfrm>
          <a:prstGeom prst="snip1Rect">
            <a:avLst>
              <a:gd name="adj" fmla="val 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rPr>
              <a:t>C</a:t>
            </a:r>
            <a:r>
              <a:rPr kumimoji="1" lang="ja-JP" altLang="en-US" sz="1400" dirty="0">
                <a:solidFill>
                  <a:schemeClr val="tx1"/>
                </a:solidFill>
                <a:latin typeface="メイリオ" panose="020B0604030504040204" pitchFamily="50" charset="-128"/>
                <a:ea typeface="メイリオ" panose="020B0604030504040204" pitchFamily="50" charset="-128"/>
              </a:rPr>
              <a:t>と</a:t>
            </a:r>
            <a:r>
              <a:rPr lang="en-US" altLang="ja-JP" sz="1400" dirty="0">
                <a:solidFill>
                  <a:schemeClr val="tx1"/>
                </a:solidFill>
                <a:latin typeface="メイリオ" panose="020B0604030504040204" pitchFamily="50" charset="-128"/>
                <a:ea typeface="メイリオ" panose="020B0604030504040204" pitchFamily="50" charset="-128"/>
              </a:rPr>
              <a:t>DD</a:t>
            </a:r>
            <a:r>
              <a:rPr kumimoji="1" lang="ja-JP" altLang="en-US" sz="1400" dirty="0">
                <a:solidFill>
                  <a:schemeClr val="tx1"/>
                </a:solidFill>
                <a:latin typeface="メイリオ" panose="020B0604030504040204" pitchFamily="50" charset="-128"/>
                <a:ea typeface="メイリオ" panose="020B0604030504040204" pitchFamily="50" charset="-128"/>
              </a:rPr>
              <a:t>の合計</a:t>
            </a:r>
            <a:r>
              <a:rPr lang="ja-JP" altLang="en-US" sz="1400" dirty="0">
                <a:solidFill>
                  <a:schemeClr val="tx1"/>
                </a:solidFill>
                <a:latin typeface="メイリオ" panose="020B0604030504040204" pitchFamily="50" charset="-128"/>
                <a:ea typeface="メイリオ" panose="020B0604030504040204" pitchFamily="50" charset="-128"/>
              </a:rPr>
              <a:t>を</a:t>
            </a:r>
            <a:r>
              <a:rPr kumimoji="1" lang="ja-JP" altLang="en-US" sz="1400" dirty="0">
                <a:solidFill>
                  <a:schemeClr val="tx1"/>
                </a:solidFill>
                <a:latin typeface="メイリオ" panose="020B0604030504040204" pitchFamily="50" charset="-128"/>
                <a:ea typeface="メイリオ" panose="020B0604030504040204" pitchFamily="50" charset="-128"/>
              </a:rPr>
              <a:t>数える</a:t>
            </a:r>
          </a:p>
        </p:txBody>
      </p:sp>
      <p:cxnSp>
        <p:nvCxnSpPr>
          <p:cNvPr id="250" name="直線矢印コネクタ 249">
            <a:extLst>
              <a:ext uri="{FF2B5EF4-FFF2-40B4-BE49-F238E27FC236}">
                <a16:creationId xmlns:a16="http://schemas.microsoft.com/office/drawing/2014/main" id="{6BA574A5-0AAB-260E-B0F4-9CE887558600}"/>
              </a:ext>
            </a:extLst>
          </p:cNvPr>
          <p:cNvCxnSpPr>
            <a:cxnSpLocks/>
          </p:cNvCxnSpPr>
          <p:nvPr/>
        </p:nvCxnSpPr>
        <p:spPr>
          <a:xfrm>
            <a:off x="7087204" y="3250341"/>
            <a:ext cx="0" cy="767389"/>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直線矢印コネクタ 250">
            <a:extLst>
              <a:ext uri="{FF2B5EF4-FFF2-40B4-BE49-F238E27FC236}">
                <a16:creationId xmlns:a16="http://schemas.microsoft.com/office/drawing/2014/main" id="{9F184168-4536-7EAA-DF01-C0C37F260B77}"/>
              </a:ext>
            </a:extLst>
          </p:cNvPr>
          <p:cNvCxnSpPr>
            <a:cxnSpLocks/>
          </p:cNvCxnSpPr>
          <p:nvPr/>
        </p:nvCxnSpPr>
        <p:spPr>
          <a:xfrm>
            <a:off x="7140531" y="2399174"/>
            <a:ext cx="2704" cy="380517"/>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2" name="直線矢印コネクタ 251">
            <a:extLst>
              <a:ext uri="{FF2B5EF4-FFF2-40B4-BE49-F238E27FC236}">
                <a16:creationId xmlns:a16="http://schemas.microsoft.com/office/drawing/2014/main" id="{5CE10198-74D8-0434-4C84-93AEA91062EC}"/>
              </a:ext>
            </a:extLst>
          </p:cNvPr>
          <p:cNvCxnSpPr>
            <a:cxnSpLocks/>
          </p:cNvCxnSpPr>
          <p:nvPr/>
        </p:nvCxnSpPr>
        <p:spPr>
          <a:xfrm flipV="1">
            <a:off x="9594673" y="2241350"/>
            <a:ext cx="547249" cy="2596"/>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3" name="直線矢印コネクタ 252">
            <a:extLst>
              <a:ext uri="{FF2B5EF4-FFF2-40B4-BE49-F238E27FC236}">
                <a16:creationId xmlns:a16="http://schemas.microsoft.com/office/drawing/2014/main" id="{91640AD6-3BA4-02FD-3182-330387259BCF}"/>
              </a:ext>
            </a:extLst>
          </p:cNvPr>
          <p:cNvCxnSpPr>
            <a:cxnSpLocks/>
          </p:cNvCxnSpPr>
          <p:nvPr/>
        </p:nvCxnSpPr>
        <p:spPr>
          <a:xfrm flipV="1">
            <a:off x="9548644" y="3015881"/>
            <a:ext cx="547249" cy="2596"/>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4" name="直線矢印コネクタ 253">
            <a:extLst>
              <a:ext uri="{FF2B5EF4-FFF2-40B4-BE49-F238E27FC236}">
                <a16:creationId xmlns:a16="http://schemas.microsoft.com/office/drawing/2014/main" id="{7C2272AD-03B8-E004-A8D4-3A4574FC8B46}"/>
              </a:ext>
            </a:extLst>
          </p:cNvPr>
          <p:cNvCxnSpPr>
            <a:cxnSpLocks/>
          </p:cNvCxnSpPr>
          <p:nvPr/>
        </p:nvCxnSpPr>
        <p:spPr>
          <a:xfrm flipV="1">
            <a:off x="9618702" y="4264713"/>
            <a:ext cx="547249" cy="2596"/>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5" name="テキスト ボックス 254">
            <a:extLst>
              <a:ext uri="{FF2B5EF4-FFF2-40B4-BE49-F238E27FC236}">
                <a16:creationId xmlns:a16="http://schemas.microsoft.com/office/drawing/2014/main" id="{F76611DE-91F4-2921-18E7-D5EFCDD6E5A1}"/>
              </a:ext>
            </a:extLst>
          </p:cNvPr>
          <p:cNvSpPr txBox="1"/>
          <p:nvPr/>
        </p:nvSpPr>
        <p:spPr>
          <a:xfrm>
            <a:off x="9392170" y="1895339"/>
            <a:ext cx="886201" cy="374683"/>
          </a:xfrm>
          <a:prstGeom prst="rect">
            <a:avLst/>
          </a:prstGeom>
          <a:noFill/>
        </p:spPr>
        <p:txBody>
          <a:bodyPr wrap="square" rtlCol="0">
            <a:spAutoFit/>
          </a:bodyPr>
          <a:lstStyle/>
          <a:p>
            <a:r>
              <a:rPr kumimoji="1" lang="en-US" altLang="ja-JP" dirty="0">
                <a:solidFill>
                  <a:schemeClr val="accent4">
                    <a:lumMod val="75000"/>
                  </a:schemeClr>
                </a:solidFill>
                <a:latin typeface="メイリオ" panose="020B0604030504040204" pitchFamily="50" charset="-128"/>
                <a:ea typeface="メイリオ" panose="020B0604030504040204" pitchFamily="50" charset="-128"/>
              </a:rPr>
              <a:t>TRUE</a:t>
            </a:r>
            <a:endParaRPr kumimoji="1" lang="ja-JP" altLang="en-US" dirty="0">
              <a:solidFill>
                <a:schemeClr val="accent4">
                  <a:lumMod val="75000"/>
                </a:schemeClr>
              </a:solidFill>
              <a:latin typeface="メイリオ" panose="020B0604030504040204" pitchFamily="50" charset="-128"/>
              <a:ea typeface="メイリオ" panose="020B0604030504040204" pitchFamily="50" charset="-128"/>
            </a:endParaRPr>
          </a:p>
        </p:txBody>
      </p:sp>
      <p:sp>
        <p:nvSpPr>
          <p:cNvPr id="256" name="テキスト ボックス 255">
            <a:extLst>
              <a:ext uri="{FF2B5EF4-FFF2-40B4-BE49-F238E27FC236}">
                <a16:creationId xmlns:a16="http://schemas.microsoft.com/office/drawing/2014/main" id="{4EBEE22E-72D5-D684-89FC-BECCE180EAD8}"/>
              </a:ext>
            </a:extLst>
          </p:cNvPr>
          <p:cNvSpPr txBox="1"/>
          <p:nvPr/>
        </p:nvSpPr>
        <p:spPr>
          <a:xfrm>
            <a:off x="7210438" y="5175427"/>
            <a:ext cx="1102977" cy="374683"/>
          </a:xfrm>
          <a:prstGeom prst="rect">
            <a:avLst/>
          </a:prstGeom>
          <a:noFill/>
        </p:spPr>
        <p:txBody>
          <a:bodyPr wrap="square" rtlCol="0">
            <a:spAutoFit/>
          </a:bodyPr>
          <a:lstStyle/>
          <a:p>
            <a:r>
              <a:rPr kumimoji="1" lang="en-US" altLang="ja-JP" dirty="0">
                <a:solidFill>
                  <a:schemeClr val="accent4">
                    <a:lumMod val="75000"/>
                  </a:schemeClr>
                </a:solidFill>
                <a:latin typeface="メイリオ" panose="020B0604030504040204" pitchFamily="50" charset="-128"/>
                <a:ea typeface="メイリオ" panose="020B0604030504040204" pitchFamily="50" charset="-128"/>
              </a:rPr>
              <a:t>FALSE</a:t>
            </a:r>
            <a:endParaRPr kumimoji="1" lang="ja-JP" altLang="en-US" dirty="0">
              <a:solidFill>
                <a:schemeClr val="accent4">
                  <a:lumMod val="75000"/>
                </a:schemeClr>
              </a:solidFill>
              <a:latin typeface="メイリオ" panose="020B0604030504040204" pitchFamily="50" charset="-128"/>
              <a:ea typeface="メイリオ" panose="020B0604030504040204" pitchFamily="50" charset="-128"/>
            </a:endParaRPr>
          </a:p>
        </p:txBody>
      </p:sp>
      <p:sp>
        <p:nvSpPr>
          <p:cNvPr id="257" name="テキスト ボックス 256">
            <a:extLst>
              <a:ext uri="{FF2B5EF4-FFF2-40B4-BE49-F238E27FC236}">
                <a16:creationId xmlns:a16="http://schemas.microsoft.com/office/drawing/2014/main" id="{34E8BE3B-DA56-FADE-2BEE-4DDD233C8CA6}"/>
              </a:ext>
            </a:extLst>
          </p:cNvPr>
          <p:cNvSpPr txBox="1"/>
          <p:nvPr/>
        </p:nvSpPr>
        <p:spPr>
          <a:xfrm>
            <a:off x="9433187" y="3926104"/>
            <a:ext cx="886201" cy="374683"/>
          </a:xfrm>
          <a:prstGeom prst="rect">
            <a:avLst/>
          </a:prstGeom>
          <a:noFill/>
        </p:spPr>
        <p:txBody>
          <a:bodyPr wrap="square" rtlCol="0">
            <a:spAutoFit/>
          </a:bodyPr>
          <a:lstStyle/>
          <a:p>
            <a:r>
              <a:rPr kumimoji="1" lang="en-US" altLang="ja-JP" dirty="0">
                <a:solidFill>
                  <a:schemeClr val="accent4">
                    <a:lumMod val="75000"/>
                  </a:schemeClr>
                </a:solidFill>
                <a:latin typeface="メイリオ" panose="020B0604030504040204" pitchFamily="50" charset="-128"/>
                <a:ea typeface="メイリオ" panose="020B0604030504040204" pitchFamily="50" charset="-128"/>
              </a:rPr>
              <a:t>TRUE</a:t>
            </a:r>
            <a:endParaRPr kumimoji="1" lang="ja-JP" altLang="en-US" dirty="0">
              <a:solidFill>
                <a:schemeClr val="accent4">
                  <a:lumMod val="75000"/>
                </a:schemeClr>
              </a:solidFill>
              <a:latin typeface="メイリオ" panose="020B0604030504040204" pitchFamily="50" charset="-128"/>
              <a:ea typeface="メイリオ" panose="020B0604030504040204" pitchFamily="50" charset="-128"/>
            </a:endParaRPr>
          </a:p>
        </p:txBody>
      </p:sp>
      <p:sp>
        <p:nvSpPr>
          <p:cNvPr id="258" name="テキスト ボックス 257">
            <a:extLst>
              <a:ext uri="{FF2B5EF4-FFF2-40B4-BE49-F238E27FC236}">
                <a16:creationId xmlns:a16="http://schemas.microsoft.com/office/drawing/2014/main" id="{6864349D-F8A2-1396-257E-25AFF08368EF}"/>
              </a:ext>
            </a:extLst>
          </p:cNvPr>
          <p:cNvSpPr txBox="1"/>
          <p:nvPr/>
        </p:nvSpPr>
        <p:spPr>
          <a:xfrm>
            <a:off x="7243780" y="2456243"/>
            <a:ext cx="1154939" cy="374683"/>
          </a:xfrm>
          <a:prstGeom prst="rect">
            <a:avLst/>
          </a:prstGeom>
          <a:noFill/>
        </p:spPr>
        <p:txBody>
          <a:bodyPr wrap="square" rtlCol="0">
            <a:spAutoFit/>
          </a:bodyPr>
          <a:lstStyle/>
          <a:p>
            <a:r>
              <a:rPr kumimoji="1" lang="en-US" altLang="ja-JP" dirty="0">
                <a:solidFill>
                  <a:schemeClr val="accent4">
                    <a:lumMod val="75000"/>
                  </a:schemeClr>
                </a:solidFill>
                <a:latin typeface="メイリオ" panose="020B0604030504040204" pitchFamily="50" charset="-128"/>
                <a:ea typeface="メイリオ" panose="020B0604030504040204" pitchFamily="50" charset="-128"/>
              </a:rPr>
              <a:t>FALSE</a:t>
            </a:r>
            <a:endParaRPr kumimoji="1" lang="ja-JP" altLang="en-US" dirty="0">
              <a:solidFill>
                <a:schemeClr val="accent4">
                  <a:lumMod val="75000"/>
                </a:schemeClr>
              </a:solidFill>
              <a:latin typeface="メイリオ" panose="020B0604030504040204" pitchFamily="50" charset="-128"/>
              <a:ea typeface="メイリオ" panose="020B0604030504040204" pitchFamily="50" charset="-128"/>
            </a:endParaRPr>
          </a:p>
        </p:txBody>
      </p:sp>
      <p:sp>
        <p:nvSpPr>
          <p:cNvPr id="259" name="テキスト ボックス 258">
            <a:extLst>
              <a:ext uri="{FF2B5EF4-FFF2-40B4-BE49-F238E27FC236}">
                <a16:creationId xmlns:a16="http://schemas.microsoft.com/office/drawing/2014/main" id="{6763C126-3C7B-FF36-59C1-155CDF3FA05E}"/>
              </a:ext>
            </a:extLst>
          </p:cNvPr>
          <p:cNvSpPr txBox="1"/>
          <p:nvPr/>
        </p:nvSpPr>
        <p:spPr>
          <a:xfrm>
            <a:off x="7197333" y="4486059"/>
            <a:ext cx="1154939" cy="374683"/>
          </a:xfrm>
          <a:prstGeom prst="rect">
            <a:avLst/>
          </a:prstGeom>
          <a:noFill/>
        </p:spPr>
        <p:txBody>
          <a:bodyPr wrap="square" rtlCol="0">
            <a:spAutoFit/>
          </a:bodyPr>
          <a:lstStyle/>
          <a:p>
            <a:r>
              <a:rPr kumimoji="1" lang="en-US" altLang="ja-JP" dirty="0">
                <a:solidFill>
                  <a:schemeClr val="accent4">
                    <a:lumMod val="75000"/>
                  </a:schemeClr>
                </a:solidFill>
                <a:latin typeface="メイリオ" panose="020B0604030504040204" pitchFamily="50" charset="-128"/>
                <a:ea typeface="メイリオ" panose="020B0604030504040204" pitchFamily="50" charset="-128"/>
              </a:rPr>
              <a:t>FALSE</a:t>
            </a:r>
            <a:endParaRPr kumimoji="1" lang="ja-JP" altLang="en-US" dirty="0">
              <a:solidFill>
                <a:schemeClr val="accent4">
                  <a:lumMod val="75000"/>
                </a:schemeClr>
              </a:solidFill>
              <a:latin typeface="メイリオ" panose="020B0604030504040204" pitchFamily="50" charset="-128"/>
              <a:ea typeface="メイリオ" panose="020B0604030504040204" pitchFamily="50" charset="-128"/>
            </a:endParaRPr>
          </a:p>
        </p:txBody>
      </p:sp>
      <p:cxnSp>
        <p:nvCxnSpPr>
          <p:cNvPr id="260" name="直線矢印コネクタ 259">
            <a:extLst>
              <a:ext uri="{FF2B5EF4-FFF2-40B4-BE49-F238E27FC236}">
                <a16:creationId xmlns:a16="http://schemas.microsoft.com/office/drawing/2014/main" id="{A758BA7D-AC66-7387-59B2-8D6831A8F804}"/>
              </a:ext>
            </a:extLst>
          </p:cNvPr>
          <p:cNvCxnSpPr>
            <a:cxnSpLocks/>
          </p:cNvCxnSpPr>
          <p:nvPr/>
        </p:nvCxnSpPr>
        <p:spPr>
          <a:xfrm>
            <a:off x="10864363" y="3000656"/>
            <a:ext cx="185932" cy="0"/>
          </a:xfrm>
          <a:prstGeom prst="straightConnector1">
            <a:avLst/>
          </a:prstGeom>
          <a:ln w="285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1" name="直線矢印コネクタ 260">
            <a:extLst>
              <a:ext uri="{FF2B5EF4-FFF2-40B4-BE49-F238E27FC236}">
                <a16:creationId xmlns:a16="http://schemas.microsoft.com/office/drawing/2014/main" id="{94C14F58-EEE7-593B-BC47-9B3D3648073A}"/>
              </a:ext>
            </a:extLst>
          </p:cNvPr>
          <p:cNvCxnSpPr>
            <a:cxnSpLocks/>
          </p:cNvCxnSpPr>
          <p:nvPr/>
        </p:nvCxnSpPr>
        <p:spPr>
          <a:xfrm>
            <a:off x="10864363" y="3199293"/>
            <a:ext cx="185932" cy="0"/>
          </a:xfrm>
          <a:prstGeom prst="straightConnector1">
            <a:avLst/>
          </a:prstGeom>
          <a:ln w="285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2" name="直線矢印コネクタ 261">
            <a:extLst>
              <a:ext uri="{FF2B5EF4-FFF2-40B4-BE49-F238E27FC236}">
                <a16:creationId xmlns:a16="http://schemas.microsoft.com/office/drawing/2014/main" id="{F90D8038-085A-261C-219D-C81B837E0E00}"/>
              </a:ext>
            </a:extLst>
          </p:cNvPr>
          <p:cNvCxnSpPr>
            <a:cxnSpLocks/>
          </p:cNvCxnSpPr>
          <p:nvPr/>
        </p:nvCxnSpPr>
        <p:spPr>
          <a:xfrm>
            <a:off x="10864363" y="3399415"/>
            <a:ext cx="185932" cy="0"/>
          </a:xfrm>
          <a:prstGeom prst="straightConnector1">
            <a:avLst/>
          </a:prstGeom>
          <a:ln w="285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3" name="直線矢印コネクタ 262">
            <a:extLst>
              <a:ext uri="{FF2B5EF4-FFF2-40B4-BE49-F238E27FC236}">
                <a16:creationId xmlns:a16="http://schemas.microsoft.com/office/drawing/2014/main" id="{09F48F07-DB6C-7C20-F633-A6D63D58768F}"/>
              </a:ext>
            </a:extLst>
          </p:cNvPr>
          <p:cNvCxnSpPr>
            <a:cxnSpLocks/>
          </p:cNvCxnSpPr>
          <p:nvPr/>
        </p:nvCxnSpPr>
        <p:spPr>
          <a:xfrm>
            <a:off x="10867215" y="3612725"/>
            <a:ext cx="185932" cy="0"/>
          </a:xfrm>
          <a:prstGeom prst="straightConnector1">
            <a:avLst/>
          </a:prstGeom>
          <a:ln w="285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4" name="直線矢印コネクタ 263">
            <a:extLst>
              <a:ext uri="{FF2B5EF4-FFF2-40B4-BE49-F238E27FC236}">
                <a16:creationId xmlns:a16="http://schemas.microsoft.com/office/drawing/2014/main" id="{90323B72-2A18-171E-E5C0-C525A6172AFB}"/>
              </a:ext>
            </a:extLst>
          </p:cNvPr>
          <p:cNvCxnSpPr>
            <a:cxnSpLocks/>
          </p:cNvCxnSpPr>
          <p:nvPr/>
        </p:nvCxnSpPr>
        <p:spPr>
          <a:xfrm>
            <a:off x="10864363" y="3792842"/>
            <a:ext cx="185932" cy="0"/>
          </a:xfrm>
          <a:prstGeom prst="straightConnector1">
            <a:avLst/>
          </a:prstGeom>
          <a:ln w="285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5" name="直線矢印コネクタ 264">
            <a:extLst>
              <a:ext uri="{FF2B5EF4-FFF2-40B4-BE49-F238E27FC236}">
                <a16:creationId xmlns:a16="http://schemas.microsoft.com/office/drawing/2014/main" id="{6DB688C0-42D6-52DB-FE2B-582907C2E2B6}"/>
              </a:ext>
            </a:extLst>
          </p:cNvPr>
          <p:cNvCxnSpPr>
            <a:cxnSpLocks/>
          </p:cNvCxnSpPr>
          <p:nvPr/>
        </p:nvCxnSpPr>
        <p:spPr>
          <a:xfrm>
            <a:off x="10864363" y="3977797"/>
            <a:ext cx="185932" cy="0"/>
          </a:xfrm>
          <a:prstGeom prst="straightConnector1">
            <a:avLst/>
          </a:prstGeom>
          <a:ln w="285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6" name="直線矢印コネクタ 265">
            <a:extLst>
              <a:ext uri="{FF2B5EF4-FFF2-40B4-BE49-F238E27FC236}">
                <a16:creationId xmlns:a16="http://schemas.microsoft.com/office/drawing/2014/main" id="{B569A0D5-70D1-1D08-3DD1-0FBC0414784E}"/>
              </a:ext>
            </a:extLst>
          </p:cNvPr>
          <p:cNvCxnSpPr>
            <a:cxnSpLocks/>
          </p:cNvCxnSpPr>
          <p:nvPr/>
        </p:nvCxnSpPr>
        <p:spPr>
          <a:xfrm>
            <a:off x="10835237" y="5405204"/>
            <a:ext cx="185932" cy="0"/>
          </a:xfrm>
          <a:prstGeom prst="straightConnector1">
            <a:avLst/>
          </a:prstGeom>
          <a:ln w="285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7" name="直線矢印コネクタ 266">
            <a:extLst>
              <a:ext uri="{FF2B5EF4-FFF2-40B4-BE49-F238E27FC236}">
                <a16:creationId xmlns:a16="http://schemas.microsoft.com/office/drawing/2014/main" id="{E67F6781-D0A2-61B1-E6CB-EF14484DB4AC}"/>
              </a:ext>
            </a:extLst>
          </p:cNvPr>
          <p:cNvCxnSpPr>
            <a:cxnSpLocks/>
          </p:cNvCxnSpPr>
          <p:nvPr/>
        </p:nvCxnSpPr>
        <p:spPr>
          <a:xfrm>
            <a:off x="10835237" y="5624231"/>
            <a:ext cx="185932" cy="0"/>
          </a:xfrm>
          <a:prstGeom prst="straightConnector1">
            <a:avLst/>
          </a:prstGeom>
          <a:ln w="285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a16:creationId xmlns:a16="http://schemas.microsoft.com/office/drawing/2014/main" id="{71F7B7D6-5746-0004-0721-FE62B3B5C84D}"/>
              </a:ext>
            </a:extLst>
          </p:cNvPr>
          <p:cNvCxnSpPr>
            <a:cxnSpLocks/>
          </p:cNvCxnSpPr>
          <p:nvPr/>
        </p:nvCxnSpPr>
        <p:spPr>
          <a:xfrm>
            <a:off x="10835237" y="5843258"/>
            <a:ext cx="185932" cy="0"/>
          </a:xfrm>
          <a:prstGeom prst="straightConnector1">
            <a:avLst/>
          </a:prstGeom>
          <a:ln w="285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9" name="直線コネクタ 268">
            <a:extLst>
              <a:ext uri="{FF2B5EF4-FFF2-40B4-BE49-F238E27FC236}">
                <a16:creationId xmlns:a16="http://schemas.microsoft.com/office/drawing/2014/main" id="{73D5FCC9-2DB2-BAE6-6439-8C06AD6BEE63}"/>
              </a:ext>
            </a:extLst>
          </p:cNvPr>
          <p:cNvCxnSpPr>
            <a:cxnSpLocks/>
          </p:cNvCxnSpPr>
          <p:nvPr/>
        </p:nvCxnSpPr>
        <p:spPr>
          <a:xfrm>
            <a:off x="6730252" y="6016915"/>
            <a:ext cx="4682967" cy="0"/>
          </a:xfrm>
          <a:prstGeom prst="line">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sp>
        <p:nvSpPr>
          <p:cNvPr id="270" name="四角形: 1 つの角を切り取る 269">
            <a:extLst>
              <a:ext uri="{FF2B5EF4-FFF2-40B4-BE49-F238E27FC236}">
                <a16:creationId xmlns:a16="http://schemas.microsoft.com/office/drawing/2014/main" id="{EECB0EE7-CC12-3F31-667A-4708D7AEA894}"/>
              </a:ext>
            </a:extLst>
          </p:cNvPr>
          <p:cNvSpPr/>
          <p:nvPr/>
        </p:nvSpPr>
        <p:spPr>
          <a:xfrm>
            <a:off x="6910804" y="6119097"/>
            <a:ext cx="3080225" cy="264781"/>
          </a:xfrm>
          <a:prstGeom prst="snip1Rect">
            <a:avLst>
              <a:gd name="adj" fmla="val 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dirty="0">
                <a:solidFill>
                  <a:schemeClr val="tx1"/>
                </a:solidFill>
                <a:latin typeface="メイリオ" panose="020B0604030504040204" pitchFamily="50" charset="-128"/>
                <a:ea typeface="メイリオ" panose="020B0604030504040204" pitchFamily="50" charset="-128"/>
              </a:rPr>
              <a:t>DD</a:t>
            </a:r>
            <a:r>
              <a:rPr lang="ja-JP" altLang="en-US" sz="1400" dirty="0">
                <a:solidFill>
                  <a:schemeClr val="tx1"/>
                </a:solidFill>
                <a:latin typeface="メイリオ" panose="020B0604030504040204" pitchFamily="50" charset="-128"/>
                <a:ea typeface="メイリオ" panose="020B0604030504040204" pitchFamily="50" charset="-128"/>
              </a:rPr>
              <a:t>の個数分だけ点数を２倍する</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271" name="楕円 270">
            <a:extLst>
              <a:ext uri="{FF2B5EF4-FFF2-40B4-BE49-F238E27FC236}">
                <a16:creationId xmlns:a16="http://schemas.microsoft.com/office/drawing/2014/main" id="{E58DCA30-A60B-E1DE-4C57-E62FAFAF3FFC}"/>
              </a:ext>
            </a:extLst>
          </p:cNvPr>
          <p:cNvSpPr/>
          <p:nvPr/>
        </p:nvSpPr>
        <p:spPr>
          <a:xfrm>
            <a:off x="6782261" y="1564458"/>
            <a:ext cx="252293" cy="235472"/>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en-US" altLang="ja-JP" dirty="0">
                <a:latin typeface="メイリオ" panose="020B0604030504040204" pitchFamily="50" charset="-128"/>
                <a:ea typeface="メイリオ" panose="020B0604030504040204" pitchFamily="50" charset="-128"/>
              </a:rPr>
              <a:t>5</a:t>
            </a:r>
            <a:endParaRPr kumimoji="1" lang="ja-JP" altLang="en-US" dirty="0">
              <a:latin typeface="メイリオ" panose="020B0604030504040204" pitchFamily="50" charset="-128"/>
              <a:ea typeface="メイリオ" panose="020B0604030504040204" pitchFamily="50" charset="-128"/>
            </a:endParaRPr>
          </a:p>
        </p:txBody>
      </p:sp>
      <p:sp>
        <p:nvSpPr>
          <p:cNvPr id="273" name="楕円 272">
            <a:extLst>
              <a:ext uri="{FF2B5EF4-FFF2-40B4-BE49-F238E27FC236}">
                <a16:creationId xmlns:a16="http://schemas.microsoft.com/office/drawing/2014/main" id="{5EB1CBEF-ED74-D41F-A0FA-6BAA4EAB4869}"/>
              </a:ext>
            </a:extLst>
          </p:cNvPr>
          <p:cNvSpPr/>
          <p:nvPr/>
        </p:nvSpPr>
        <p:spPr>
          <a:xfrm>
            <a:off x="6466686" y="2009528"/>
            <a:ext cx="252293" cy="235472"/>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en-US" altLang="ja-JP" dirty="0">
                <a:latin typeface="メイリオ" panose="020B0604030504040204" pitchFamily="50" charset="-128"/>
                <a:ea typeface="メイリオ" panose="020B0604030504040204" pitchFamily="50" charset="-128"/>
              </a:rPr>
              <a:t>6</a:t>
            </a:r>
          </a:p>
        </p:txBody>
      </p:sp>
      <p:sp>
        <p:nvSpPr>
          <p:cNvPr id="277" name="四角形: 1 つの角を切り取る 276">
            <a:extLst>
              <a:ext uri="{FF2B5EF4-FFF2-40B4-BE49-F238E27FC236}">
                <a16:creationId xmlns:a16="http://schemas.microsoft.com/office/drawing/2014/main" id="{A7EA79AE-D471-D7EC-E860-8D12DDE6A6DA}"/>
              </a:ext>
            </a:extLst>
          </p:cNvPr>
          <p:cNvSpPr/>
          <p:nvPr/>
        </p:nvSpPr>
        <p:spPr>
          <a:xfrm>
            <a:off x="6970163" y="2019013"/>
            <a:ext cx="2425761" cy="264781"/>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solidFill>
                <a:latin typeface="メイリオ" panose="020B0604030504040204" pitchFamily="50" charset="-128"/>
                <a:ea typeface="メイリオ" panose="020B0604030504040204" pitchFamily="50" charset="-128"/>
              </a:rPr>
              <a:t>３要素すべてが</a:t>
            </a:r>
            <a:r>
              <a:rPr lang="en-US" altLang="ja-JP" sz="1400" dirty="0">
                <a:solidFill>
                  <a:schemeClr val="tx1"/>
                </a:solidFill>
                <a:latin typeface="メイリオ" panose="020B0604030504040204" pitchFamily="50" charset="-128"/>
                <a:ea typeface="メイリオ" panose="020B0604030504040204" pitchFamily="50" charset="-128"/>
              </a:rPr>
              <a:t>DD</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278" name="テキスト ボックス 277">
            <a:extLst>
              <a:ext uri="{FF2B5EF4-FFF2-40B4-BE49-F238E27FC236}">
                <a16:creationId xmlns:a16="http://schemas.microsoft.com/office/drawing/2014/main" id="{F9D0B3D6-2A89-8703-FD7A-BCB1EE7BC6B3}"/>
              </a:ext>
            </a:extLst>
          </p:cNvPr>
          <p:cNvSpPr txBox="1"/>
          <p:nvPr/>
        </p:nvSpPr>
        <p:spPr>
          <a:xfrm>
            <a:off x="9379169" y="2653348"/>
            <a:ext cx="886201" cy="374683"/>
          </a:xfrm>
          <a:prstGeom prst="rect">
            <a:avLst/>
          </a:prstGeom>
          <a:noFill/>
        </p:spPr>
        <p:txBody>
          <a:bodyPr wrap="square" rtlCol="0">
            <a:spAutoFit/>
          </a:bodyPr>
          <a:lstStyle/>
          <a:p>
            <a:r>
              <a:rPr kumimoji="1" lang="en-US" altLang="ja-JP" dirty="0">
                <a:solidFill>
                  <a:schemeClr val="accent4">
                    <a:lumMod val="75000"/>
                  </a:schemeClr>
                </a:solidFill>
                <a:latin typeface="メイリオ" panose="020B0604030504040204" pitchFamily="50" charset="-128"/>
                <a:ea typeface="メイリオ" panose="020B0604030504040204" pitchFamily="50" charset="-128"/>
              </a:rPr>
              <a:t>TRUE</a:t>
            </a:r>
            <a:endParaRPr kumimoji="1" lang="ja-JP" altLang="en-US" dirty="0">
              <a:solidFill>
                <a:schemeClr val="accent4">
                  <a:lumMod val="75000"/>
                </a:schemeClr>
              </a:solidFill>
              <a:latin typeface="メイリオ" panose="020B0604030504040204" pitchFamily="50" charset="-128"/>
              <a:ea typeface="メイリオ" panose="020B0604030504040204" pitchFamily="50" charset="-128"/>
            </a:endParaRPr>
          </a:p>
        </p:txBody>
      </p:sp>
      <p:sp>
        <p:nvSpPr>
          <p:cNvPr id="279" name="テキスト ボックス 278">
            <a:extLst>
              <a:ext uri="{FF2B5EF4-FFF2-40B4-BE49-F238E27FC236}">
                <a16:creationId xmlns:a16="http://schemas.microsoft.com/office/drawing/2014/main" id="{10A877AA-210A-3798-BC46-D352114F1BF5}"/>
              </a:ext>
            </a:extLst>
          </p:cNvPr>
          <p:cNvSpPr txBox="1"/>
          <p:nvPr/>
        </p:nvSpPr>
        <p:spPr>
          <a:xfrm>
            <a:off x="7187836" y="3396231"/>
            <a:ext cx="1154939" cy="374683"/>
          </a:xfrm>
          <a:prstGeom prst="rect">
            <a:avLst/>
          </a:prstGeom>
          <a:noFill/>
        </p:spPr>
        <p:txBody>
          <a:bodyPr wrap="square" rtlCol="0">
            <a:spAutoFit/>
          </a:bodyPr>
          <a:lstStyle/>
          <a:p>
            <a:r>
              <a:rPr kumimoji="1" lang="en-US" altLang="ja-JP" dirty="0">
                <a:solidFill>
                  <a:schemeClr val="accent4">
                    <a:lumMod val="75000"/>
                  </a:schemeClr>
                </a:solidFill>
                <a:latin typeface="メイリオ" panose="020B0604030504040204" pitchFamily="50" charset="-128"/>
                <a:ea typeface="メイリオ" panose="020B0604030504040204" pitchFamily="50" charset="-128"/>
              </a:rPr>
              <a:t>FALSE</a:t>
            </a:r>
            <a:endParaRPr kumimoji="1" lang="ja-JP" altLang="en-US" dirty="0">
              <a:solidFill>
                <a:schemeClr val="accent4">
                  <a:lumMod val="75000"/>
                </a:schemeClr>
              </a:solidFill>
              <a:latin typeface="メイリオ" panose="020B0604030504040204" pitchFamily="50" charset="-128"/>
              <a:ea typeface="メイリオ" panose="020B0604030504040204" pitchFamily="50" charset="-128"/>
            </a:endParaRPr>
          </a:p>
        </p:txBody>
      </p:sp>
      <p:sp>
        <p:nvSpPr>
          <p:cNvPr id="280" name="四角形: 1 つの角を切り取る 279">
            <a:extLst>
              <a:ext uri="{FF2B5EF4-FFF2-40B4-BE49-F238E27FC236}">
                <a16:creationId xmlns:a16="http://schemas.microsoft.com/office/drawing/2014/main" id="{FDC2E3F8-97D3-6808-9FBB-9A3753839E9B}"/>
              </a:ext>
            </a:extLst>
          </p:cNvPr>
          <p:cNvSpPr/>
          <p:nvPr/>
        </p:nvSpPr>
        <p:spPr>
          <a:xfrm>
            <a:off x="6951090" y="4089582"/>
            <a:ext cx="2422934" cy="264781"/>
          </a:xfrm>
          <a:prstGeom prst="snip1Rect">
            <a:avLst>
              <a:gd name="adj" fmla="val 50000"/>
            </a:avLst>
          </a:prstGeom>
          <a:solidFill>
            <a:srgbClr val="FFFFFF"/>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solidFill>
                <a:latin typeface="メイリオ" panose="020B0604030504040204" pitchFamily="50" charset="-128"/>
                <a:ea typeface="メイリオ" panose="020B0604030504040204" pitchFamily="50" charset="-128"/>
              </a:rPr>
              <a:t>すべての</a:t>
            </a:r>
            <a:r>
              <a:rPr kumimoji="1" lang="en-US" altLang="ja-JP" sz="1400" dirty="0">
                <a:solidFill>
                  <a:schemeClr val="tx1"/>
                </a:solidFill>
                <a:latin typeface="メイリオ" panose="020B0604030504040204" pitchFamily="50" charset="-128"/>
                <a:ea typeface="メイリオ" panose="020B0604030504040204" pitchFamily="50" charset="-128"/>
              </a:rPr>
              <a:t>slots</a:t>
            </a:r>
            <a:r>
              <a:rPr kumimoji="1" lang="ja-JP" altLang="en-US" sz="1400" dirty="0">
                <a:solidFill>
                  <a:schemeClr val="tx1"/>
                </a:solidFill>
                <a:latin typeface="メイリオ" panose="020B0604030504040204" pitchFamily="50" charset="-128"/>
                <a:ea typeface="メイリオ" panose="020B0604030504040204" pitchFamily="50" charset="-128"/>
              </a:rPr>
              <a:t>がバー</a:t>
            </a:r>
          </a:p>
        </p:txBody>
      </p:sp>
      <p:cxnSp>
        <p:nvCxnSpPr>
          <p:cNvPr id="281" name="直線矢印コネクタ 280">
            <a:extLst>
              <a:ext uri="{FF2B5EF4-FFF2-40B4-BE49-F238E27FC236}">
                <a16:creationId xmlns:a16="http://schemas.microsoft.com/office/drawing/2014/main" id="{696D8DA7-1821-C192-FFCF-58EC89DE98FC}"/>
              </a:ext>
            </a:extLst>
          </p:cNvPr>
          <p:cNvCxnSpPr>
            <a:cxnSpLocks/>
          </p:cNvCxnSpPr>
          <p:nvPr/>
        </p:nvCxnSpPr>
        <p:spPr>
          <a:xfrm>
            <a:off x="7094084" y="4423558"/>
            <a:ext cx="0" cy="404396"/>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2" name="テキスト ボックス 281">
            <a:extLst>
              <a:ext uri="{FF2B5EF4-FFF2-40B4-BE49-F238E27FC236}">
                <a16:creationId xmlns:a16="http://schemas.microsoft.com/office/drawing/2014/main" id="{4D0941F1-07CE-CC64-2046-2AAF78578A64}"/>
              </a:ext>
            </a:extLst>
          </p:cNvPr>
          <p:cNvSpPr txBox="1"/>
          <p:nvPr/>
        </p:nvSpPr>
        <p:spPr>
          <a:xfrm>
            <a:off x="8241799" y="4671519"/>
            <a:ext cx="886201" cy="374683"/>
          </a:xfrm>
          <a:prstGeom prst="rect">
            <a:avLst/>
          </a:prstGeom>
          <a:noFill/>
        </p:spPr>
        <p:txBody>
          <a:bodyPr wrap="square" rtlCol="0">
            <a:spAutoFit/>
          </a:bodyPr>
          <a:lstStyle/>
          <a:p>
            <a:r>
              <a:rPr kumimoji="1" lang="en-US" altLang="ja-JP" dirty="0">
                <a:solidFill>
                  <a:schemeClr val="accent4">
                    <a:lumMod val="75000"/>
                  </a:schemeClr>
                </a:solidFill>
                <a:latin typeface="メイリオ" panose="020B0604030504040204" pitchFamily="50" charset="-128"/>
                <a:ea typeface="メイリオ" panose="020B0604030504040204" pitchFamily="50" charset="-128"/>
              </a:rPr>
              <a:t>TRUE</a:t>
            </a:r>
            <a:endParaRPr kumimoji="1" lang="ja-JP" altLang="en-US" dirty="0">
              <a:solidFill>
                <a:schemeClr val="accent4">
                  <a:lumMod val="75000"/>
                </a:schemeClr>
              </a:solidFill>
              <a:latin typeface="メイリオ" panose="020B0604030504040204" pitchFamily="50" charset="-128"/>
              <a:ea typeface="メイリオ" panose="020B0604030504040204" pitchFamily="50" charset="-128"/>
            </a:endParaRPr>
          </a:p>
        </p:txBody>
      </p:sp>
      <p:cxnSp>
        <p:nvCxnSpPr>
          <p:cNvPr id="283" name="直線矢印コネクタ 282">
            <a:extLst>
              <a:ext uri="{FF2B5EF4-FFF2-40B4-BE49-F238E27FC236}">
                <a16:creationId xmlns:a16="http://schemas.microsoft.com/office/drawing/2014/main" id="{22227177-F212-CE0B-F990-312ABAB33EC3}"/>
              </a:ext>
            </a:extLst>
          </p:cNvPr>
          <p:cNvCxnSpPr>
            <a:cxnSpLocks/>
          </p:cNvCxnSpPr>
          <p:nvPr/>
        </p:nvCxnSpPr>
        <p:spPr>
          <a:xfrm flipV="1">
            <a:off x="8412040" y="5028360"/>
            <a:ext cx="547249" cy="2596"/>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4" name="直線矢印コネクタ 283">
            <a:extLst>
              <a:ext uri="{FF2B5EF4-FFF2-40B4-BE49-F238E27FC236}">
                <a16:creationId xmlns:a16="http://schemas.microsoft.com/office/drawing/2014/main" id="{CA1F9777-B118-88FE-19F8-0CCD4EBA8B2B}"/>
              </a:ext>
            </a:extLst>
          </p:cNvPr>
          <p:cNvCxnSpPr>
            <a:cxnSpLocks/>
          </p:cNvCxnSpPr>
          <p:nvPr/>
        </p:nvCxnSpPr>
        <p:spPr>
          <a:xfrm>
            <a:off x="9593537" y="5401607"/>
            <a:ext cx="540210"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5" name="直線コネクタ 284">
            <a:extLst>
              <a:ext uri="{FF2B5EF4-FFF2-40B4-BE49-F238E27FC236}">
                <a16:creationId xmlns:a16="http://schemas.microsoft.com/office/drawing/2014/main" id="{FD1FA41E-6F20-91CB-39DC-055580D105D5}"/>
              </a:ext>
            </a:extLst>
          </p:cNvPr>
          <p:cNvCxnSpPr>
            <a:cxnSpLocks/>
          </p:cNvCxnSpPr>
          <p:nvPr/>
        </p:nvCxnSpPr>
        <p:spPr>
          <a:xfrm flipV="1">
            <a:off x="9617990" y="5243831"/>
            <a:ext cx="0" cy="184325"/>
          </a:xfrm>
          <a:prstGeom prst="line">
            <a:avLst/>
          </a:prstGeom>
          <a:ln w="57150">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6" name="直線矢印コネクタ 285">
            <a:extLst>
              <a:ext uri="{FF2B5EF4-FFF2-40B4-BE49-F238E27FC236}">
                <a16:creationId xmlns:a16="http://schemas.microsoft.com/office/drawing/2014/main" id="{DCDA55BD-A0B7-A590-8553-EAA4B43F5778}"/>
              </a:ext>
            </a:extLst>
          </p:cNvPr>
          <p:cNvCxnSpPr>
            <a:cxnSpLocks/>
          </p:cNvCxnSpPr>
          <p:nvPr/>
        </p:nvCxnSpPr>
        <p:spPr>
          <a:xfrm>
            <a:off x="7093977" y="5173648"/>
            <a:ext cx="8217" cy="310857"/>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7" name="楕円 286">
            <a:extLst>
              <a:ext uri="{FF2B5EF4-FFF2-40B4-BE49-F238E27FC236}">
                <a16:creationId xmlns:a16="http://schemas.microsoft.com/office/drawing/2014/main" id="{F939CF2D-3752-41CE-E918-5088A4BC3281}"/>
              </a:ext>
            </a:extLst>
          </p:cNvPr>
          <p:cNvSpPr/>
          <p:nvPr/>
        </p:nvSpPr>
        <p:spPr>
          <a:xfrm>
            <a:off x="6913555" y="5514493"/>
            <a:ext cx="377279" cy="374687"/>
          </a:xfrm>
          <a:prstGeom prst="ellipse">
            <a:avLst/>
          </a:prstGeom>
          <a:solidFill>
            <a:schemeClr val="bg1"/>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500" dirty="0">
              <a:solidFill>
                <a:schemeClr val="tx1"/>
              </a:solidFill>
            </a:endParaRPr>
          </a:p>
        </p:txBody>
      </p:sp>
      <p:sp>
        <p:nvSpPr>
          <p:cNvPr id="288" name="テキスト ボックス 287">
            <a:extLst>
              <a:ext uri="{FF2B5EF4-FFF2-40B4-BE49-F238E27FC236}">
                <a16:creationId xmlns:a16="http://schemas.microsoft.com/office/drawing/2014/main" id="{7558C3D3-51B1-BBC9-E919-8E7D94FE1058}"/>
              </a:ext>
            </a:extLst>
          </p:cNvPr>
          <p:cNvSpPr txBox="1"/>
          <p:nvPr/>
        </p:nvSpPr>
        <p:spPr>
          <a:xfrm>
            <a:off x="6941623" y="5571333"/>
            <a:ext cx="698422" cy="296624"/>
          </a:xfrm>
          <a:prstGeom prst="rect">
            <a:avLst/>
          </a:prstGeom>
          <a:noFill/>
        </p:spPr>
        <p:txBody>
          <a:bodyPr wrap="square" rtlCol="0">
            <a:spAutoFit/>
          </a:bodyPr>
          <a:lstStyle/>
          <a:p>
            <a:r>
              <a:rPr kumimoji="1" lang="ja-JP" altLang="en-US" sz="1300" dirty="0"/>
              <a:t>０</a:t>
            </a:r>
          </a:p>
        </p:txBody>
      </p:sp>
    </p:spTree>
    <p:extLst>
      <p:ext uri="{BB962C8B-B14F-4D97-AF65-F5344CB8AC3E}">
        <p14:creationId xmlns:p14="http://schemas.microsoft.com/office/powerpoint/2010/main" val="19676336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９章　ループ</a:t>
            </a:r>
          </a:p>
        </p:txBody>
      </p:sp>
      <p:sp>
        <p:nvSpPr>
          <p:cNvPr id="4" name="正方形/長方形 3">
            <a:extLst>
              <a:ext uri="{FF2B5EF4-FFF2-40B4-BE49-F238E27FC236}">
                <a16:creationId xmlns:a16="http://schemas.microsoft.com/office/drawing/2014/main" id="{578782C7-6070-7C3A-DAB7-3101F4C6ED5C}"/>
              </a:ext>
            </a:extLst>
          </p:cNvPr>
          <p:cNvSpPr/>
          <p:nvPr/>
        </p:nvSpPr>
        <p:spPr>
          <a:xfrm>
            <a:off x="682560" y="1066273"/>
            <a:ext cx="10540261" cy="5528957"/>
          </a:xfrm>
          <a:prstGeom prst="rect">
            <a:avLst/>
          </a:prstGeom>
          <a:solidFill>
            <a:schemeClr val="bg1"/>
          </a:solidFill>
          <a:ln w="57150">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
        <p:nvSpPr>
          <p:cNvPr id="3" name="字幕 2">
            <a:extLst>
              <a:ext uri="{FF2B5EF4-FFF2-40B4-BE49-F238E27FC236}">
                <a16:creationId xmlns:a16="http://schemas.microsoft.com/office/drawing/2014/main" id="{EF422FEA-2F34-70ED-56A9-01A65A2AD142}"/>
              </a:ext>
            </a:extLst>
          </p:cNvPr>
          <p:cNvSpPr>
            <a:spLocks noGrp="1"/>
          </p:cNvSpPr>
          <p:nvPr>
            <p:ph type="subTitle" idx="1"/>
          </p:nvPr>
        </p:nvSpPr>
        <p:spPr>
          <a:xfrm>
            <a:off x="682560" y="1143635"/>
            <a:ext cx="9391483" cy="5446283"/>
          </a:xfrm>
        </p:spPr>
        <p:txBody>
          <a:bodyPr>
            <a:normAutofit/>
          </a:bodyPr>
          <a:lstStyle/>
          <a:p>
            <a:pPr algn="l"/>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練習</a:t>
            </a:r>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a:t>
            </a:r>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ウェイトのかかったさいころの期待値を計算する</a:t>
            </a:r>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p:txBody>
      </p:sp>
      <p:pic>
        <p:nvPicPr>
          <p:cNvPr id="15" name="図 14">
            <a:extLst>
              <a:ext uri="{FF2B5EF4-FFF2-40B4-BE49-F238E27FC236}">
                <a16:creationId xmlns:a16="http://schemas.microsoft.com/office/drawing/2014/main" id="{2756502C-8C1E-B65D-2253-EC4888CCCE0F}"/>
              </a:ext>
            </a:extLst>
          </p:cNvPr>
          <p:cNvPicPr>
            <a:picLocks noChangeAspect="1"/>
          </p:cNvPicPr>
          <p:nvPr/>
        </p:nvPicPr>
        <p:blipFill>
          <a:blip r:embed="rId2"/>
          <a:stretch>
            <a:fillRect/>
          </a:stretch>
        </p:blipFill>
        <p:spPr>
          <a:xfrm>
            <a:off x="1659850" y="2037498"/>
            <a:ext cx="5735714" cy="3992057"/>
          </a:xfrm>
          <a:prstGeom prst="rect">
            <a:avLst/>
          </a:prstGeom>
          <a:ln>
            <a:solidFill>
              <a:schemeClr val="bg2">
                <a:lumMod val="90000"/>
              </a:schemeClr>
            </a:solidFill>
          </a:ln>
        </p:spPr>
      </p:pic>
      <p:pic>
        <p:nvPicPr>
          <p:cNvPr id="17" name="図 16">
            <a:extLst>
              <a:ext uri="{FF2B5EF4-FFF2-40B4-BE49-F238E27FC236}">
                <a16:creationId xmlns:a16="http://schemas.microsoft.com/office/drawing/2014/main" id="{037E4005-37C7-F190-4FE3-D78BB0567FCD}"/>
              </a:ext>
            </a:extLst>
          </p:cNvPr>
          <p:cNvPicPr>
            <a:picLocks noChangeAspect="1"/>
          </p:cNvPicPr>
          <p:nvPr/>
        </p:nvPicPr>
        <p:blipFill rotWithShape="1">
          <a:blip r:embed="rId3"/>
          <a:srcRect t="95820" r="76118"/>
          <a:stretch/>
        </p:blipFill>
        <p:spPr>
          <a:xfrm>
            <a:off x="4697220" y="6148830"/>
            <a:ext cx="2238944" cy="254442"/>
          </a:xfrm>
          <a:prstGeom prst="rect">
            <a:avLst/>
          </a:prstGeom>
          <a:ln>
            <a:solidFill>
              <a:schemeClr val="bg2">
                <a:lumMod val="90000"/>
              </a:schemeClr>
            </a:solidFill>
          </a:ln>
        </p:spPr>
      </p:pic>
      <p:cxnSp>
        <p:nvCxnSpPr>
          <p:cNvPr id="13" name="直線矢印コネクタ 12">
            <a:extLst>
              <a:ext uri="{FF2B5EF4-FFF2-40B4-BE49-F238E27FC236}">
                <a16:creationId xmlns:a16="http://schemas.microsoft.com/office/drawing/2014/main" id="{74FF8975-518B-E7D8-023D-CCCCAEBC6F95}"/>
              </a:ext>
            </a:extLst>
          </p:cNvPr>
          <p:cNvCxnSpPr>
            <a:cxnSpLocks/>
          </p:cNvCxnSpPr>
          <p:nvPr/>
        </p:nvCxnSpPr>
        <p:spPr>
          <a:xfrm>
            <a:off x="3093558" y="3029030"/>
            <a:ext cx="4457700"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0" name="図 19">
            <a:extLst>
              <a:ext uri="{FF2B5EF4-FFF2-40B4-BE49-F238E27FC236}">
                <a16:creationId xmlns:a16="http://schemas.microsoft.com/office/drawing/2014/main" id="{7DF4726D-09AD-20A1-84D0-1F7051028D94}"/>
              </a:ext>
            </a:extLst>
          </p:cNvPr>
          <p:cNvPicPr>
            <a:picLocks noChangeAspect="1"/>
          </p:cNvPicPr>
          <p:nvPr/>
        </p:nvPicPr>
        <p:blipFill rotWithShape="1">
          <a:blip r:embed="rId3"/>
          <a:srcRect t="10520" r="86549" b="78424"/>
          <a:stretch/>
        </p:blipFill>
        <p:spPr>
          <a:xfrm>
            <a:off x="7744625" y="2692561"/>
            <a:ext cx="1261044" cy="672939"/>
          </a:xfrm>
          <a:prstGeom prst="rect">
            <a:avLst/>
          </a:prstGeom>
          <a:ln>
            <a:solidFill>
              <a:schemeClr val="bg2">
                <a:lumMod val="90000"/>
              </a:schemeClr>
            </a:solidFill>
          </a:ln>
        </p:spPr>
      </p:pic>
      <p:pic>
        <p:nvPicPr>
          <p:cNvPr id="21" name="図 20">
            <a:extLst>
              <a:ext uri="{FF2B5EF4-FFF2-40B4-BE49-F238E27FC236}">
                <a16:creationId xmlns:a16="http://schemas.microsoft.com/office/drawing/2014/main" id="{99A74E32-60BC-5E0A-5150-F7D9C90CFAA0}"/>
              </a:ext>
            </a:extLst>
          </p:cNvPr>
          <p:cNvPicPr>
            <a:picLocks noChangeAspect="1"/>
          </p:cNvPicPr>
          <p:nvPr/>
        </p:nvPicPr>
        <p:blipFill rotWithShape="1">
          <a:blip r:embed="rId3"/>
          <a:srcRect t="26375" r="73545" b="66729"/>
          <a:stretch/>
        </p:blipFill>
        <p:spPr>
          <a:xfrm>
            <a:off x="7736403" y="3379946"/>
            <a:ext cx="2480244" cy="419735"/>
          </a:xfrm>
          <a:prstGeom prst="rect">
            <a:avLst/>
          </a:prstGeom>
          <a:ln>
            <a:solidFill>
              <a:schemeClr val="bg2">
                <a:lumMod val="90000"/>
              </a:schemeClr>
            </a:solidFill>
          </a:ln>
        </p:spPr>
      </p:pic>
      <p:cxnSp>
        <p:nvCxnSpPr>
          <p:cNvPr id="23" name="直線矢印コネクタ 22">
            <a:extLst>
              <a:ext uri="{FF2B5EF4-FFF2-40B4-BE49-F238E27FC236}">
                <a16:creationId xmlns:a16="http://schemas.microsoft.com/office/drawing/2014/main" id="{C9ECE7B1-66E5-FF30-6682-D63E9631F145}"/>
              </a:ext>
            </a:extLst>
          </p:cNvPr>
          <p:cNvCxnSpPr>
            <a:cxnSpLocks/>
          </p:cNvCxnSpPr>
          <p:nvPr/>
        </p:nvCxnSpPr>
        <p:spPr>
          <a:xfrm>
            <a:off x="2179158" y="3589813"/>
            <a:ext cx="5372100"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5" name="図 24">
            <a:extLst>
              <a:ext uri="{FF2B5EF4-FFF2-40B4-BE49-F238E27FC236}">
                <a16:creationId xmlns:a16="http://schemas.microsoft.com/office/drawing/2014/main" id="{7EC5E597-8A41-FF1C-481F-0F6923510EB7}"/>
              </a:ext>
            </a:extLst>
          </p:cNvPr>
          <p:cNvPicPr>
            <a:picLocks noChangeAspect="1"/>
          </p:cNvPicPr>
          <p:nvPr/>
        </p:nvPicPr>
        <p:blipFill rotWithShape="1">
          <a:blip r:embed="rId3"/>
          <a:srcRect t="50580" r="82214" b="38760"/>
          <a:stretch/>
        </p:blipFill>
        <p:spPr>
          <a:xfrm>
            <a:off x="7736403" y="3923138"/>
            <a:ext cx="1667444" cy="648920"/>
          </a:xfrm>
          <a:prstGeom prst="rect">
            <a:avLst/>
          </a:prstGeom>
          <a:ln>
            <a:solidFill>
              <a:schemeClr val="bg2">
                <a:lumMod val="90000"/>
              </a:schemeClr>
            </a:solidFill>
          </a:ln>
        </p:spPr>
      </p:pic>
      <p:cxnSp>
        <p:nvCxnSpPr>
          <p:cNvPr id="26" name="直線矢印コネクタ 25">
            <a:extLst>
              <a:ext uri="{FF2B5EF4-FFF2-40B4-BE49-F238E27FC236}">
                <a16:creationId xmlns:a16="http://schemas.microsoft.com/office/drawing/2014/main" id="{C457D67A-4C59-DDCE-374F-6A06D71FF0A8}"/>
              </a:ext>
            </a:extLst>
          </p:cNvPr>
          <p:cNvCxnSpPr>
            <a:cxnSpLocks/>
          </p:cNvCxnSpPr>
          <p:nvPr/>
        </p:nvCxnSpPr>
        <p:spPr>
          <a:xfrm>
            <a:off x="3003047" y="4529671"/>
            <a:ext cx="4548211"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8" name="図 27">
            <a:extLst>
              <a:ext uri="{FF2B5EF4-FFF2-40B4-BE49-F238E27FC236}">
                <a16:creationId xmlns:a16="http://schemas.microsoft.com/office/drawing/2014/main" id="{A914C37A-323E-A073-0ED3-6E8505B52953}"/>
              </a:ext>
            </a:extLst>
          </p:cNvPr>
          <p:cNvPicPr>
            <a:picLocks noChangeAspect="1"/>
          </p:cNvPicPr>
          <p:nvPr/>
        </p:nvPicPr>
        <p:blipFill rotWithShape="1">
          <a:blip r:embed="rId3"/>
          <a:srcRect t="66797" r="78286" b="22541"/>
          <a:stretch/>
        </p:blipFill>
        <p:spPr>
          <a:xfrm>
            <a:off x="7736403" y="4730181"/>
            <a:ext cx="2035744" cy="648921"/>
          </a:xfrm>
          <a:prstGeom prst="rect">
            <a:avLst/>
          </a:prstGeom>
          <a:ln>
            <a:solidFill>
              <a:schemeClr val="bg2">
                <a:lumMod val="90000"/>
              </a:schemeClr>
            </a:solidFill>
          </a:ln>
        </p:spPr>
      </p:pic>
      <p:cxnSp>
        <p:nvCxnSpPr>
          <p:cNvPr id="29" name="直線矢印コネクタ 28">
            <a:extLst>
              <a:ext uri="{FF2B5EF4-FFF2-40B4-BE49-F238E27FC236}">
                <a16:creationId xmlns:a16="http://schemas.microsoft.com/office/drawing/2014/main" id="{0E38F840-0398-BB90-C4CE-27B499FA4F44}"/>
              </a:ext>
            </a:extLst>
          </p:cNvPr>
          <p:cNvCxnSpPr>
            <a:cxnSpLocks/>
          </p:cNvCxnSpPr>
          <p:nvPr/>
        </p:nvCxnSpPr>
        <p:spPr>
          <a:xfrm>
            <a:off x="3003046" y="5054641"/>
            <a:ext cx="4548211"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30" name="図 29">
            <a:extLst>
              <a:ext uri="{FF2B5EF4-FFF2-40B4-BE49-F238E27FC236}">
                <a16:creationId xmlns:a16="http://schemas.microsoft.com/office/drawing/2014/main" id="{42C00B05-61D0-4A2F-7B10-4EA961A126C5}"/>
              </a:ext>
            </a:extLst>
          </p:cNvPr>
          <p:cNvPicPr>
            <a:picLocks noChangeAspect="1"/>
          </p:cNvPicPr>
          <p:nvPr/>
        </p:nvPicPr>
        <p:blipFill rotWithShape="1">
          <a:blip r:embed="rId3"/>
          <a:srcRect t="82493" r="71783" b="6684"/>
          <a:stretch/>
        </p:blipFill>
        <p:spPr>
          <a:xfrm>
            <a:off x="7744625" y="5463081"/>
            <a:ext cx="2645344" cy="658737"/>
          </a:xfrm>
          <a:prstGeom prst="rect">
            <a:avLst/>
          </a:prstGeom>
          <a:ln>
            <a:solidFill>
              <a:schemeClr val="bg2">
                <a:lumMod val="90000"/>
              </a:schemeClr>
            </a:solidFill>
          </a:ln>
        </p:spPr>
      </p:pic>
      <p:cxnSp>
        <p:nvCxnSpPr>
          <p:cNvPr id="31" name="直線矢印コネクタ 30">
            <a:extLst>
              <a:ext uri="{FF2B5EF4-FFF2-40B4-BE49-F238E27FC236}">
                <a16:creationId xmlns:a16="http://schemas.microsoft.com/office/drawing/2014/main" id="{566A23AA-F880-FACC-3334-376B9079DE5B}"/>
              </a:ext>
            </a:extLst>
          </p:cNvPr>
          <p:cNvCxnSpPr>
            <a:cxnSpLocks/>
          </p:cNvCxnSpPr>
          <p:nvPr/>
        </p:nvCxnSpPr>
        <p:spPr>
          <a:xfrm>
            <a:off x="3003046" y="5588041"/>
            <a:ext cx="4548211"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C1BBC8DC-6FEB-734C-3E44-02FCEC8545C6}"/>
              </a:ext>
            </a:extLst>
          </p:cNvPr>
          <p:cNvCxnSpPr>
            <a:cxnSpLocks/>
          </p:cNvCxnSpPr>
          <p:nvPr/>
        </p:nvCxnSpPr>
        <p:spPr>
          <a:xfrm>
            <a:off x="4382095" y="6148830"/>
            <a:ext cx="255612" cy="115682"/>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20784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９章　ループ</a:t>
            </a:r>
          </a:p>
        </p:txBody>
      </p:sp>
      <p:sp>
        <p:nvSpPr>
          <p:cNvPr id="4" name="正方形/長方形 3">
            <a:extLst>
              <a:ext uri="{FF2B5EF4-FFF2-40B4-BE49-F238E27FC236}">
                <a16:creationId xmlns:a16="http://schemas.microsoft.com/office/drawing/2014/main" id="{578782C7-6070-7C3A-DAB7-3101F4C6ED5C}"/>
              </a:ext>
            </a:extLst>
          </p:cNvPr>
          <p:cNvSpPr/>
          <p:nvPr/>
        </p:nvSpPr>
        <p:spPr>
          <a:xfrm>
            <a:off x="528181" y="1102297"/>
            <a:ext cx="10540261" cy="552895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
        <p:nvSpPr>
          <p:cNvPr id="3" name="字幕 2">
            <a:extLst>
              <a:ext uri="{FF2B5EF4-FFF2-40B4-BE49-F238E27FC236}">
                <a16:creationId xmlns:a16="http://schemas.microsoft.com/office/drawing/2014/main" id="{EF422FEA-2F34-70ED-56A9-01A65A2AD142}"/>
              </a:ext>
            </a:extLst>
          </p:cNvPr>
          <p:cNvSpPr>
            <a:spLocks noGrp="1"/>
          </p:cNvSpPr>
          <p:nvPr>
            <p:ph type="subTitle" idx="1"/>
          </p:nvPr>
        </p:nvSpPr>
        <p:spPr>
          <a:xfrm>
            <a:off x="682560" y="1143635"/>
            <a:ext cx="9391483" cy="5446283"/>
          </a:xfrm>
        </p:spPr>
        <p:txBody>
          <a:bodyPr>
            <a:normAutofit/>
          </a:bodyPr>
          <a:lstStyle/>
          <a:p>
            <a:pPr algn="l"/>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a:t>
            </a:r>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スロットマシンの</a:t>
            </a:r>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期待値を求める</a:t>
            </a:r>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スロットマシンのリストを作る</a:t>
            </a:r>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実行内容：</a:t>
            </a:r>
            <a:r>
              <a:rPr lang="en-US" altLang="ja-JP" sz="1200" dirty="0" err="1">
                <a:latin typeface="メイリオ" panose="020B0604030504040204" pitchFamily="50" charset="-128"/>
                <a:ea typeface="メイリオ" panose="020B0604030504040204" pitchFamily="50" charset="-128"/>
              </a:rPr>
              <a:t>expand.grid</a:t>
            </a:r>
            <a:r>
              <a:rPr lang="ja-JP" altLang="en-US" sz="1200" dirty="0">
                <a:latin typeface="メイリオ" panose="020B0604030504040204" pitchFamily="50" charset="-128"/>
                <a:ea typeface="メイリオ" panose="020B0604030504040204" pitchFamily="50" charset="-128"/>
              </a:rPr>
              <a:t>を使って３つの組み合わせのリストを作る</a:t>
            </a:r>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確率のルックアップテーブルを作る</a:t>
            </a:r>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それぞれの確率を追加する</a:t>
            </a:r>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p:txBody>
      </p:sp>
      <p:cxnSp>
        <p:nvCxnSpPr>
          <p:cNvPr id="13" name="直線矢印コネクタ 12">
            <a:extLst>
              <a:ext uri="{FF2B5EF4-FFF2-40B4-BE49-F238E27FC236}">
                <a16:creationId xmlns:a16="http://schemas.microsoft.com/office/drawing/2014/main" id="{74FF8975-518B-E7D8-023D-CCCCAEBC6F95}"/>
              </a:ext>
            </a:extLst>
          </p:cNvPr>
          <p:cNvCxnSpPr>
            <a:cxnSpLocks/>
          </p:cNvCxnSpPr>
          <p:nvPr/>
        </p:nvCxnSpPr>
        <p:spPr>
          <a:xfrm>
            <a:off x="6096000" y="2739719"/>
            <a:ext cx="581891"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 name="正方形/長方形 6">
            <a:extLst>
              <a:ext uri="{FF2B5EF4-FFF2-40B4-BE49-F238E27FC236}">
                <a16:creationId xmlns:a16="http://schemas.microsoft.com/office/drawing/2014/main" id="{E325EE49-CC21-FA2A-9628-F197D866B664}"/>
              </a:ext>
            </a:extLst>
          </p:cNvPr>
          <p:cNvSpPr/>
          <p:nvPr/>
        </p:nvSpPr>
        <p:spPr>
          <a:xfrm>
            <a:off x="8702985" y="1545300"/>
            <a:ext cx="2391170" cy="3951092"/>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200" dirty="0" err="1">
                <a:solidFill>
                  <a:schemeClr val="tx1"/>
                </a:solidFill>
              </a:rPr>
              <a:t>stringsAsFactors</a:t>
            </a:r>
            <a:r>
              <a:rPr lang="en-US" altLang="ja-JP" sz="1200" dirty="0">
                <a:solidFill>
                  <a:schemeClr val="tx1"/>
                </a:solidFill>
              </a:rPr>
              <a:t> = FALSE</a:t>
            </a:r>
          </a:p>
          <a:p>
            <a:endParaRPr lang="en-US" altLang="ja-JP" sz="1200" dirty="0">
              <a:solidFill>
                <a:schemeClr val="tx1"/>
              </a:solidFill>
            </a:endParaRPr>
          </a:p>
          <a:p>
            <a:r>
              <a:rPr lang="en-US" altLang="ja-JP" sz="1200" dirty="0">
                <a:solidFill>
                  <a:schemeClr val="tx1"/>
                </a:solidFill>
              </a:rPr>
              <a:t>https://nakazakimasahito.wordpress.com/2020/06/01/r-stringsasfactors-false%E3%81%AB%E3%81%A4%E3%81%84%E3%81%A6%E3%80%80/</a:t>
            </a:r>
            <a:endParaRPr lang="en-US" altLang="ja-JP" sz="1050" dirty="0">
              <a:solidFill>
                <a:schemeClr val="tx1"/>
              </a:solidFill>
            </a:endParaRPr>
          </a:p>
        </p:txBody>
      </p:sp>
      <p:pic>
        <p:nvPicPr>
          <p:cNvPr id="17" name="図 16">
            <a:extLst>
              <a:ext uri="{FF2B5EF4-FFF2-40B4-BE49-F238E27FC236}">
                <a16:creationId xmlns:a16="http://schemas.microsoft.com/office/drawing/2014/main" id="{E54533DD-62F6-CB97-1E4D-863931614F59}"/>
              </a:ext>
            </a:extLst>
          </p:cNvPr>
          <p:cNvPicPr>
            <a:picLocks noChangeAspect="1"/>
          </p:cNvPicPr>
          <p:nvPr/>
        </p:nvPicPr>
        <p:blipFill>
          <a:blip r:embed="rId2"/>
          <a:stretch>
            <a:fillRect/>
          </a:stretch>
        </p:blipFill>
        <p:spPr>
          <a:xfrm>
            <a:off x="969179" y="3790553"/>
            <a:ext cx="7421011" cy="314369"/>
          </a:xfrm>
          <a:prstGeom prst="rect">
            <a:avLst/>
          </a:prstGeom>
        </p:spPr>
      </p:pic>
      <p:pic>
        <p:nvPicPr>
          <p:cNvPr id="19" name="図 18">
            <a:extLst>
              <a:ext uri="{FF2B5EF4-FFF2-40B4-BE49-F238E27FC236}">
                <a16:creationId xmlns:a16="http://schemas.microsoft.com/office/drawing/2014/main" id="{52B92D81-993D-8414-49B8-57B484E9FA5E}"/>
              </a:ext>
            </a:extLst>
          </p:cNvPr>
          <p:cNvPicPr>
            <a:picLocks noChangeAspect="1"/>
          </p:cNvPicPr>
          <p:nvPr/>
        </p:nvPicPr>
        <p:blipFill>
          <a:blip r:embed="rId3"/>
          <a:stretch>
            <a:fillRect/>
          </a:stretch>
        </p:blipFill>
        <p:spPr>
          <a:xfrm>
            <a:off x="969179" y="4725370"/>
            <a:ext cx="3200847" cy="743054"/>
          </a:xfrm>
          <a:prstGeom prst="rect">
            <a:avLst/>
          </a:prstGeom>
        </p:spPr>
      </p:pic>
      <p:pic>
        <p:nvPicPr>
          <p:cNvPr id="23" name="図 22">
            <a:extLst>
              <a:ext uri="{FF2B5EF4-FFF2-40B4-BE49-F238E27FC236}">
                <a16:creationId xmlns:a16="http://schemas.microsoft.com/office/drawing/2014/main" id="{04C06689-A0F7-4E54-4F6F-1E8E8DAC27BE}"/>
              </a:ext>
            </a:extLst>
          </p:cNvPr>
          <p:cNvPicPr>
            <a:picLocks noChangeAspect="1"/>
          </p:cNvPicPr>
          <p:nvPr/>
        </p:nvPicPr>
        <p:blipFill>
          <a:blip r:embed="rId4"/>
          <a:stretch>
            <a:fillRect/>
          </a:stretch>
        </p:blipFill>
        <p:spPr>
          <a:xfrm>
            <a:off x="954171" y="2306583"/>
            <a:ext cx="5039428" cy="838317"/>
          </a:xfrm>
          <a:prstGeom prst="rect">
            <a:avLst/>
          </a:prstGeom>
        </p:spPr>
      </p:pic>
      <p:pic>
        <p:nvPicPr>
          <p:cNvPr id="27" name="図 26">
            <a:extLst>
              <a:ext uri="{FF2B5EF4-FFF2-40B4-BE49-F238E27FC236}">
                <a16:creationId xmlns:a16="http://schemas.microsoft.com/office/drawing/2014/main" id="{27A4ED25-3A06-AD1A-6CE7-6F0BE3404FA6}"/>
              </a:ext>
            </a:extLst>
          </p:cNvPr>
          <p:cNvPicPr>
            <a:picLocks noChangeAspect="1"/>
          </p:cNvPicPr>
          <p:nvPr/>
        </p:nvPicPr>
        <p:blipFill>
          <a:blip r:embed="rId5"/>
          <a:stretch>
            <a:fillRect/>
          </a:stretch>
        </p:blipFill>
        <p:spPr>
          <a:xfrm>
            <a:off x="5167583" y="4750575"/>
            <a:ext cx="2695951" cy="762106"/>
          </a:xfrm>
          <a:prstGeom prst="rect">
            <a:avLst/>
          </a:prstGeom>
        </p:spPr>
      </p:pic>
      <p:pic>
        <p:nvPicPr>
          <p:cNvPr id="29" name="図 28">
            <a:extLst>
              <a:ext uri="{FF2B5EF4-FFF2-40B4-BE49-F238E27FC236}">
                <a16:creationId xmlns:a16="http://schemas.microsoft.com/office/drawing/2014/main" id="{F4E1C010-FA1E-8AD6-1807-55C5A1C3F3BA}"/>
              </a:ext>
            </a:extLst>
          </p:cNvPr>
          <p:cNvPicPr>
            <a:picLocks noChangeAspect="1"/>
          </p:cNvPicPr>
          <p:nvPr/>
        </p:nvPicPr>
        <p:blipFill>
          <a:blip r:embed="rId6"/>
          <a:stretch>
            <a:fillRect/>
          </a:stretch>
        </p:blipFill>
        <p:spPr>
          <a:xfrm>
            <a:off x="6719187" y="2294157"/>
            <a:ext cx="1314633" cy="838317"/>
          </a:xfrm>
          <a:prstGeom prst="rect">
            <a:avLst/>
          </a:prstGeom>
        </p:spPr>
      </p:pic>
      <p:sp>
        <p:nvSpPr>
          <p:cNvPr id="30" name="楕円 29">
            <a:extLst>
              <a:ext uri="{FF2B5EF4-FFF2-40B4-BE49-F238E27FC236}">
                <a16:creationId xmlns:a16="http://schemas.microsoft.com/office/drawing/2014/main" id="{2E718A86-7618-47AE-D950-428871DB5AE2}"/>
              </a:ext>
            </a:extLst>
          </p:cNvPr>
          <p:cNvSpPr/>
          <p:nvPr/>
        </p:nvSpPr>
        <p:spPr>
          <a:xfrm>
            <a:off x="4813938" y="1606422"/>
            <a:ext cx="206220"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ja-JP" altLang="en-US" dirty="0">
                <a:latin typeface="メイリオ" panose="020B0604030504040204" pitchFamily="50" charset="-128"/>
                <a:ea typeface="メイリオ" panose="020B0604030504040204" pitchFamily="50" charset="-128"/>
              </a:rPr>
              <a:t>１</a:t>
            </a:r>
          </a:p>
        </p:txBody>
      </p:sp>
      <p:sp>
        <p:nvSpPr>
          <p:cNvPr id="31" name="楕円 30">
            <a:extLst>
              <a:ext uri="{FF2B5EF4-FFF2-40B4-BE49-F238E27FC236}">
                <a16:creationId xmlns:a16="http://schemas.microsoft.com/office/drawing/2014/main" id="{6B6C97F1-BE62-D3FE-5FE8-D0778B7FF8C0}"/>
              </a:ext>
            </a:extLst>
          </p:cNvPr>
          <p:cNvSpPr/>
          <p:nvPr/>
        </p:nvSpPr>
        <p:spPr>
          <a:xfrm>
            <a:off x="5275191" y="3404792"/>
            <a:ext cx="206220"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32" name="楕円 31">
            <a:extLst>
              <a:ext uri="{FF2B5EF4-FFF2-40B4-BE49-F238E27FC236}">
                <a16:creationId xmlns:a16="http://schemas.microsoft.com/office/drawing/2014/main" id="{248E5353-0E3F-A56E-D541-FA0B63C2717E}"/>
              </a:ext>
            </a:extLst>
          </p:cNvPr>
          <p:cNvSpPr/>
          <p:nvPr/>
        </p:nvSpPr>
        <p:spPr>
          <a:xfrm>
            <a:off x="4419883" y="4479336"/>
            <a:ext cx="206220"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cxnSp>
        <p:nvCxnSpPr>
          <p:cNvPr id="5" name="直線矢印コネクタ 4">
            <a:extLst>
              <a:ext uri="{FF2B5EF4-FFF2-40B4-BE49-F238E27FC236}">
                <a16:creationId xmlns:a16="http://schemas.microsoft.com/office/drawing/2014/main" id="{A7E02A25-5303-E149-4316-F750399A1447}"/>
              </a:ext>
            </a:extLst>
          </p:cNvPr>
          <p:cNvCxnSpPr>
            <a:cxnSpLocks/>
          </p:cNvCxnSpPr>
          <p:nvPr/>
        </p:nvCxnSpPr>
        <p:spPr>
          <a:xfrm>
            <a:off x="4438267" y="5167487"/>
            <a:ext cx="581891"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25562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正方形/長方形 24">
            <a:extLst>
              <a:ext uri="{FF2B5EF4-FFF2-40B4-BE49-F238E27FC236}">
                <a16:creationId xmlns:a16="http://schemas.microsoft.com/office/drawing/2014/main" id="{2BDDE695-2C15-E252-BBE8-714A99D59233}"/>
              </a:ext>
            </a:extLst>
          </p:cNvPr>
          <p:cNvSpPr/>
          <p:nvPr/>
        </p:nvSpPr>
        <p:spPr>
          <a:xfrm>
            <a:off x="528181" y="1102297"/>
            <a:ext cx="10540261" cy="552895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９章　ループ</a:t>
            </a:r>
          </a:p>
        </p:txBody>
      </p:sp>
      <p:sp>
        <p:nvSpPr>
          <p:cNvPr id="3" name="字幕 2">
            <a:extLst>
              <a:ext uri="{FF2B5EF4-FFF2-40B4-BE49-F238E27FC236}">
                <a16:creationId xmlns:a16="http://schemas.microsoft.com/office/drawing/2014/main" id="{EF422FEA-2F34-70ED-56A9-01A65A2AD142}"/>
              </a:ext>
            </a:extLst>
          </p:cNvPr>
          <p:cNvSpPr>
            <a:spLocks noGrp="1"/>
          </p:cNvSpPr>
          <p:nvPr>
            <p:ph type="subTitle" idx="1"/>
          </p:nvPr>
        </p:nvSpPr>
        <p:spPr>
          <a:xfrm>
            <a:off x="682560" y="1143635"/>
            <a:ext cx="9391483" cy="5446283"/>
          </a:xfrm>
        </p:spPr>
        <p:txBody>
          <a:bodyPr>
            <a:normAutofit/>
          </a:bodyPr>
          <a:lstStyle/>
          <a:p>
            <a:pPr algn="l"/>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各組の確率を追加する</a:t>
            </a:r>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実行内容：</a:t>
            </a:r>
            <a:r>
              <a:rPr lang="en-US" altLang="ja-JP" sz="1200" dirty="0" err="1">
                <a:latin typeface="メイリオ" panose="020B0604030504040204" pitchFamily="50" charset="-128"/>
                <a:ea typeface="メイリオ" panose="020B0604030504040204" pitchFamily="50" charset="-128"/>
              </a:rPr>
              <a:t>expand.grid</a:t>
            </a:r>
            <a:r>
              <a:rPr lang="ja-JP" altLang="en-US" sz="1200" dirty="0">
                <a:latin typeface="メイリオ" panose="020B0604030504040204" pitchFamily="50" charset="-128"/>
                <a:ea typeface="メイリオ" panose="020B0604030504040204" pitchFamily="50" charset="-128"/>
              </a:rPr>
              <a:t>を使って３つの組み合わせのリストを作る</a:t>
            </a:r>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確率の検算</a:t>
            </a:r>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賞金を代入する</a:t>
            </a:r>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実行内容：</a:t>
            </a:r>
            <a:r>
              <a:rPr lang="en-US" altLang="ja-JP" sz="1200" dirty="0">
                <a:latin typeface="メイリオ" panose="020B0604030504040204" pitchFamily="50" charset="-128"/>
                <a:ea typeface="メイリオ" panose="020B0604030504040204" pitchFamily="50" charset="-128"/>
              </a:rPr>
              <a:t>for</a:t>
            </a:r>
            <a:r>
              <a:rPr lang="ja-JP" altLang="en-US" sz="1200" dirty="0">
                <a:latin typeface="メイリオ" panose="020B0604030504040204" pitchFamily="50" charset="-128"/>
                <a:ea typeface="メイリオ" panose="020B0604030504040204" pitchFamily="50" charset="-128"/>
              </a:rPr>
              <a:t>文を使って各行の賞金を</a:t>
            </a:r>
            <a:r>
              <a:rPr lang="en-US" altLang="ja-JP" sz="1200" dirty="0">
                <a:latin typeface="メイリオ" panose="020B0604030504040204" pitchFamily="50" charset="-128"/>
                <a:ea typeface="メイリオ" panose="020B0604030504040204" pitchFamily="50" charset="-128"/>
              </a:rPr>
              <a:t>prize</a:t>
            </a:r>
            <a:r>
              <a:rPr lang="ja-JP" altLang="en-US" sz="1200" dirty="0">
                <a:latin typeface="メイリオ" panose="020B0604030504040204" pitchFamily="50" charset="-128"/>
                <a:ea typeface="メイリオ" panose="020B0604030504040204" pitchFamily="50" charset="-128"/>
              </a:rPr>
              <a:t>に代入する</a:t>
            </a:r>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期待値を出す</a:t>
            </a:r>
            <a:endParaRPr lang="en-US" altLang="ja-JP" sz="20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809D787F-CA4F-19FA-04BC-3C3E047A3540}"/>
              </a:ext>
            </a:extLst>
          </p:cNvPr>
          <p:cNvPicPr>
            <a:picLocks noChangeAspect="1"/>
          </p:cNvPicPr>
          <p:nvPr/>
        </p:nvPicPr>
        <p:blipFill>
          <a:blip r:embed="rId2"/>
          <a:stretch>
            <a:fillRect/>
          </a:stretch>
        </p:blipFill>
        <p:spPr>
          <a:xfrm>
            <a:off x="1244724" y="1945789"/>
            <a:ext cx="4458322" cy="504895"/>
          </a:xfrm>
          <a:prstGeom prst="rect">
            <a:avLst/>
          </a:prstGeom>
        </p:spPr>
      </p:pic>
      <p:pic>
        <p:nvPicPr>
          <p:cNvPr id="11" name="図 10">
            <a:extLst>
              <a:ext uri="{FF2B5EF4-FFF2-40B4-BE49-F238E27FC236}">
                <a16:creationId xmlns:a16="http://schemas.microsoft.com/office/drawing/2014/main" id="{641E52A4-9998-E71B-3932-5B896B6C4EDF}"/>
              </a:ext>
            </a:extLst>
          </p:cNvPr>
          <p:cNvPicPr>
            <a:picLocks noChangeAspect="1"/>
          </p:cNvPicPr>
          <p:nvPr/>
        </p:nvPicPr>
        <p:blipFill>
          <a:blip r:embed="rId3"/>
          <a:stretch>
            <a:fillRect/>
          </a:stretch>
        </p:blipFill>
        <p:spPr>
          <a:xfrm>
            <a:off x="1244724" y="3119426"/>
            <a:ext cx="2657846" cy="390580"/>
          </a:xfrm>
          <a:prstGeom prst="rect">
            <a:avLst/>
          </a:prstGeom>
        </p:spPr>
      </p:pic>
      <p:pic>
        <p:nvPicPr>
          <p:cNvPr id="16" name="図 15">
            <a:extLst>
              <a:ext uri="{FF2B5EF4-FFF2-40B4-BE49-F238E27FC236}">
                <a16:creationId xmlns:a16="http://schemas.microsoft.com/office/drawing/2014/main" id="{C189FA43-7CC0-8CC1-7B5F-D95ACB865343}"/>
              </a:ext>
            </a:extLst>
          </p:cNvPr>
          <p:cNvPicPr>
            <a:picLocks noChangeAspect="1"/>
          </p:cNvPicPr>
          <p:nvPr/>
        </p:nvPicPr>
        <p:blipFill>
          <a:blip r:embed="rId4"/>
          <a:stretch>
            <a:fillRect/>
          </a:stretch>
        </p:blipFill>
        <p:spPr>
          <a:xfrm>
            <a:off x="4205445" y="3114631"/>
            <a:ext cx="1428949" cy="314369"/>
          </a:xfrm>
          <a:prstGeom prst="rect">
            <a:avLst/>
          </a:prstGeom>
        </p:spPr>
      </p:pic>
      <p:pic>
        <p:nvPicPr>
          <p:cNvPr id="20" name="図 19">
            <a:extLst>
              <a:ext uri="{FF2B5EF4-FFF2-40B4-BE49-F238E27FC236}">
                <a16:creationId xmlns:a16="http://schemas.microsoft.com/office/drawing/2014/main" id="{86820E7E-A84E-BEA5-F223-070846854A3D}"/>
              </a:ext>
            </a:extLst>
          </p:cNvPr>
          <p:cNvPicPr>
            <a:picLocks noChangeAspect="1"/>
          </p:cNvPicPr>
          <p:nvPr/>
        </p:nvPicPr>
        <p:blipFill>
          <a:blip r:embed="rId5"/>
          <a:stretch>
            <a:fillRect/>
          </a:stretch>
        </p:blipFill>
        <p:spPr>
          <a:xfrm>
            <a:off x="1244724" y="4054888"/>
            <a:ext cx="2419688" cy="323895"/>
          </a:xfrm>
          <a:prstGeom prst="rect">
            <a:avLst/>
          </a:prstGeom>
        </p:spPr>
      </p:pic>
      <p:pic>
        <p:nvPicPr>
          <p:cNvPr id="22" name="図 21">
            <a:extLst>
              <a:ext uri="{FF2B5EF4-FFF2-40B4-BE49-F238E27FC236}">
                <a16:creationId xmlns:a16="http://schemas.microsoft.com/office/drawing/2014/main" id="{7BE6346A-62B0-A051-0E3E-EDDC90BF55E9}"/>
              </a:ext>
            </a:extLst>
          </p:cNvPr>
          <p:cNvPicPr>
            <a:picLocks noChangeAspect="1"/>
          </p:cNvPicPr>
          <p:nvPr/>
        </p:nvPicPr>
        <p:blipFill>
          <a:blip r:embed="rId6"/>
          <a:stretch>
            <a:fillRect/>
          </a:stretch>
        </p:blipFill>
        <p:spPr>
          <a:xfrm>
            <a:off x="1244724" y="4754198"/>
            <a:ext cx="3962953" cy="905001"/>
          </a:xfrm>
          <a:prstGeom prst="rect">
            <a:avLst/>
          </a:prstGeom>
        </p:spPr>
      </p:pic>
      <p:pic>
        <p:nvPicPr>
          <p:cNvPr id="28" name="図 27">
            <a:extLst>
              <a:ext uri="{FF2B5EF4-FFF2-40B4-BE49-F238E27FC236}">
                <a16:creationId xmlns:a16="http://schemas.microsoft.com/office/drawing/2014/main" id="{2C1D8B83-00F3-9BB2-5763-21958A71E8F4}"/>
              </a:ext>
            </a:extLst>
          </p:cNvPr>
          <p:cNvPicPr>
            <a:picLocks noChangeAspect="1"/>
          </p:cNvPicPr>
          <p:nvPr/>
        </p:nvPicPr>
        <p:blipFill rotWithShape="1">
          <a:blip r:embed="rId7"/>
          <a:srcRect t="2299" b="-1"/>
          <a:stretch/>
        </p:blipFill>
        <p:spPr>
          <a:xfrm>
            <a:off x="5930269" y="1961617"/>
            <a:ext cx="3362794" cy="809738"/>
          </a:xfrm>
          <a:prstGeom prst="rect">
            <a:avLst/>
          </a:prstGeom>
        </p:spPr>
      </p:pic>
      <p:pic>
        <p:nvPicPr>
          <p:cNvPr id="32" name="図 31">
            <a:extLst>
              <a:ext uri="{FF2B5EF4-FFF2-40B4-BE49-F238E27FC236}">
                <a16:creationId xmlns:a16="http://schemas.microsoft.com/office/drawing/2014/main" id="{2DB46570-E869-15E2-D7E9-58134A8377A9}"/>
              </a:ext>
            </a:extLst>
          </p:cNvPr>
          <p:cNvPicPr>
            <a:picLocks noChangeAspect="1"/>
          </p:cNvPicPr>
          <p:nvPr/>
        </p:nvPicPr>
        <p:blipFill>
          <a:blip r:embed="rId8"/>
          <a:stretch>
            <a:fillRect/>
          </a:stretch>
        </p:blipFill>
        <p:spPr>
          <a:xfrm>
            <a:off x="3939409" y="6218054"/>
            <a:ext cx="2629267" cy="314369"/>
          </a:xfrm>
          <a:prstGeom prst="rect">
            <a:avLst/>
          </a:prstGeom>
        </p:spPr>
      </p:pic>
      <p:pic>
        <p:nvPicPr>
          <p:cNvPr id="34" name="図 33">
            <a:extLst>
              <a:ext uri="{FF2B5EF4-FFF2-40B4-BE49-F238E27FC236}">
                <a16:creationId xmlns:a16="http://schemas.microsoft.com/office/drawing/2014/main" id="{4434E629-8BDE-B460-72BE-95CBE364C0AA}"/>
              </a:ext>
            </a:extLst>
          </p:cNvPr>
          <p:cNvPicPr>
            <a:picLocks noChangeAspect="1"/>
          </p:cNvPicPr>
          <p:nvPr/>
        </p:nvPicPr>
        <p:blipFill>
          <a:blip r:embed="rId9"/>
          <a:stretch>
            <a:fillRect/>
          </a:stretch>
        </p:blipFill>
        <p:spPr>
          <a:xfrm>
            <a:off x="1244724" y="6207341"/>
            <a:ext cx="2457793" cy="352474"/>
          </a:xfrm>
          <a:prstGeom prst="rect">
            <a:avLst/>
          </a:prstGeom>
        </p:spPr>
      </p:pic>
      <p:sp>
        <p:nvSpPr>
          <p:cNvPr id="35" name="楕円 34">
            <a:extLst>
              <a:ext uri="{FF2B5EF4-FFF2-40B4-BE49-F238E27FC236}">
                <a16:creationId xmlns:a16="http://schemas.microsoft.com/office/drawing/2014/main" id="{7FFF4DFE-08AA-6C7B-0EB3-1A5CDBA024E2}"/>
              </a:ext>
            </a:extLst>
          </p:cNvPr>
          <p:cNvSpPr/>
          <p:nvPr/>
        </p:nvSpPr>
        <p:spPr>
          <a:xfrm>
            <a:off x="3902570" y="1160992"/>
            <a:ext cx="206220"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36" name="楕円 35">
            <a:extLst>
              <a:ext uri="{FF2B5EF4-FFF2-40B4-BE49-F238E27FC236}">
                <a16:creationId xmlns:a16="http://schemas.microsoft.com/office/drawing/2014/main" id="{1DEB8852-D701-E552-27B0-9ACA2888A3D1}"/>
              </a:ext>
            </a:extLst>
          </p:cNvPr>
          <p:cNvSpPr/>
          <p:nvPr/>
        </p:nvSpPr>
        <p:spPr>
          <a:xfrm>
            <a:off x="3019980" y="3709384"/>
            <a:ext cx="206220"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en-US" altLang="ja-JP" dirty="0">
                <a:latin typeface="メイリオ" panose="020B0604030504040204" pitchFamily="50" charset="-128"/>
                <a:ea typeface="メイリオ" panose="020B0604030504040204" pitchFamily="50" charset="-128"/>
              </a:rPr>
              <a:t>3</a:t>
            </a:r>
          </a:p>
        </p:txBody>
      </p:sp>
      <p:sp>
        <p:nvSpPr>
          <p:cNvPr id="37" name="楕円 36">
            <a:extLst>
              <a:ext uri="{FF2B5EF4-FFF2-40B4-BE49-F238E27FC236}">
                <a16:creationId xmlns:a16="http://schemas.microsoft.com/office/drawing/2014/main" id="{D3BC0CAF-6DCD-5A11-1050-71180B3D58F9}"/>
              </a:ext>
            </a:extLst>
          </p:cNvPr>
          <p:cNvSpPr/>
          <p:nvPr/>
        </p:nvSpPr>
        <p:spPr>
          <a:xfrm>
            <a:off x="2813760" y="5892449"/>
            <a:ext cx="206220" cy="232109"/>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en-US" altLang="ja-JP" dirty="0">
                <a:latin typeface="メイリオ" panose="020B0604030504040204" pitchFamily="50" charset="-128"/>
                <a:ea typeface="メイリオ" panose="020B0604030504040204" pitchFamily="50" charset="-128"/>
              </a:rPr>
              <a:t>4</a:t>
            </a:r>
          </a:p>
        </p:txBody>
      </p:sp>
      <p:grpSp>
        <p:nvGrpSpPr>
          <p:cNvPr id="24" name="グループ化 23">
            <a:extLst>
              <a:ext uri="{FF2B5EF4-FFF2-40B4-BE49-F238E27FC236}">
                <a16:creationId xmlns:a16="http://schemas.microsoft.com/office/drawing/2014/main" id="{0B14FA17-CC0F-54F6-F2D2-B6B33D3F5FBD}"/>
              </a:ext>
            </a:extLst>
          </p:cNvPr>
          <p:cNvGrpSpPr/>
          <p:nvPr/>
        </p:nvGrpSpPr>
        <p:grpSpPr>
          <a:xfrm>
            <a:off x="9378240" y="2275367"/>
            <a:ext cx="2713034" cy="4314551"/>
            <a:chOff x="9378240" y="2275367"/>
            <a:chExt cx="2713034" cy="4314551"/>
          </a:xfrm>
        </p:grpSpPr>
        <p:sp>
          <p:nvSpPr>
            <p:cNvPr id="7" name="正方形/長方形 6">
              <a:extLst>
                <a:ext uri="{FF2B5EF4-FFF2-40B4-BE49-F238E27FC236}">
                  <a16:creationId xmlns:a16="http://schemas.microsoft.com/office/drawing/2014/main" id="{E325EE49-CC21-FA2A-9628-F197D866B664}"/>
                </a:ext>
              </a:extLst>
            </p:cNvPr>
            <p:cNvSpPr/>
            <p:nvPr/>
          </p:nvSpPr>
          <p:spPr>
            <a:xfrm>
              <a:off x="9378240" y="2275367"/>
              <a:ext cx="2713034" cy="4314551"/>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050" dirty="0">
                  <a:solidFill>
                    <a:schemeClr val="tx1"/>
                  </a:solidFill>
                </a:rPr>
                <a:t>for</a:t>
              </a:r>
              <a:r>
                <a:rPr lang="ja-JP" altLang="en-US" sz="1050" dirty="0">
                  <a:solidFill>
                    <a:schemeClr val="tx1"/>
                  </a:solidFill>
                </a:rPr>
                <a:t>文</a:t>
              </a:r>
              <a:endParaRPr lang="en-US" altLang="ja-JP" sz="1050" dirty="0">
                <a:solidFill>
                  <a:schemeClr val="tx1"/>
                </a:solidFill>
              </a:endParaRPr>
            </a:p>
            <a:p>
              <a:endParaRPr lang="en-US" altLang="ja-JP" sz="1050" dirty="0">
                <a:solidFill>
                  <a:schemeClr val="tx1"/>
                </a:solidFill>
              </a:endParaRPr>
            </a:p>
            <a:p>
              <a:r>
                <a:rPr lang="en-US" altLang="ja-JP" sz="1050" dirty="0">
                  <a:solidFill>
                    <a:schemeClr val="tx1"/>
                  </a:solidFill>
                </a:rPr>
                <a:t>for (</a:t>
              </a:r>
              <a:r>
                <a:rPr lang="ja-JP" altLang="en-US" sz="1050" dirty="0">
                  <a:solidFill>
                    <a:schemeClr val="tx1"/>
                  </a:solidFill>
                </a:rPr>
                <a:t>要素を格納する変数 </a:t>
              </a:r>
              <a:r>
                <a:rPr lang="en-US" altLang="ja-JP" sz="1050" dirty="0">
                  <a:solidFill>
                    <a:schemeClr val="tx1"/>
                  </a:solidFill>
                </a:rPr>
                <a:t>in </a:t>
              </a:r>
              <a:r>
                <a:rPr lang="ja-JP" altLang="en-US" sz="1050" dirty="0">
                  <a:solidFill>
                    <a:schemeClr val="tx1"/>
                  </a:solidFill>
                </a:rPr>
                <a:t>集合</a:t>
              </a:r>
              <a:r>
                <a:rPr lang="en-US" altLang="ja-JP" sz="1050" dirty="0">
                  <a:solidFill>
                    <a:schemeClr val="tx1"/>
                  </a:solidFill>
                </a:rPr>
                <a:t>){</a:t>
              </a:r>
            </a:p>
            <a:p>
              <a:r>
                <a:rPr lang="ja-JP" altLang="en-US" sz="1050" dirty="0">
                  <a:solidFill>
                    <a:schemeClr val="tx1"/>
                  </a:solidFill>
                </a:rPr>
                <a:t>　処理</a:t>
              </a:r>
              <a:endParaRPr lang="en-US" altLang="ja-JP" sz="1050" dirty="0">
                <a:solidFill>
                  <a:schemeClr val="tx1"/>
                </a:solidFill>
              </a:endParaRPr>
            </a:p>
            <a:p>
              <a:r>
                <a:rPr lang="en-US" altLang="ja-JP" sz="1050" dirty="0">
                  <a:solidFill>
                    <a:schemeClr val="tx1"/>
                  </a:solidFill>
                </a:rPr>
                <a:t>}</a:t>
              </a:r>
            </a:p>
            <a:p>
              <a:endParaRPr lang="en-US" altLang="ja-JP" sz="1050" dirty="0">
                <a:solidFill>
                  <a:schemeClr val="tx1"/>
                </a:solidFill>
              </a:endParaRPr>
            </a:p>
            <a:p>
              <a:r>
                <a:rPr lang="en-US" altLang="ja-JP" sz="1050" dirty="0">
                  <a:solidFill>
                    <a:schemeClr val="tx1"/>
                  </a:solidFill>
                </a:rPr>
                <a:t>ex)</a:t>
              </a:r>
            </a:p>
          </p:txBody>
        </p:sp>
        <p:pic>
          <p:nvPicPr>
            <p:cNvPr id="8" name="図 7">
              <a:extLst>
                <a:ext uri="{FF2B5EF4-FFF2-40B4-BE49-F238E27FC236}">
                  <a16:creationId xmlns:a16="http://schemas.microsoft.com/office/drawing/2014/main" id="{F98C7E07-386D-742A-DE38-08A6431D19B9}"/>
                </a:ext>
              </a:extLst>
            </p:cNvPr>
            <p:cNvPicPr>
              <a:picLocks noChangeAspect="1"/>
            </p:cNvPicPr>
            <p:nvPr/>
          </p:nvPicPr>
          <p:blipFill>
            <a:blip r:embed="rId10"/>
            <a:stretch>
              <a:fillRect/>
            </a:stretch>
          </p:blipFill>
          <p:spPr>
            <a:xfrm>
              <a:off x="9754530" y="4556872"/>
              <a:ext cx="2172003" cy="914528"/>
            </a:xfrm>
            <a:prstGeom prst="rect">
              <a:avLst/>
            </a:prstGeom>
            <a:ln>
              <a:solidFill>
                <a:schemeClr val="bg2">
                  <a:lumMod val="90000"/>
                </a:schemeClr>
              </a:solidFill>
            </a:ln>
          </p:spPr>
        </p:pic>
        <p:pic>
          <p:nvPicPr>
            <p:cNvPr id="10" name="図 9">
              <a:extLst>
                <a:ext uri="{FF2B5EF4-FFF2-40B4-BE49-F238E27FC236}">
                  <a16:creationId xmlns:a16="http://schemas.microsoft.com/office/drawing/2014/main" id="{510E18DE-6EA4-ABF1-C009-F7365A482120}"/>
                </a:ext>
              </a:extLst>
            </p:cNvPr>
            <p:cNvPicPr>
              <a:picLocks noChangeAspect="1"/>
            </p:cNvPicPr>
            <p:nvPr/>
          </p:nvPicPr>
          <p:blipFill>
            <a:blip r:embed="rId11"/>
            <a:stretch>
              <a:fillRect/>
            </a:stretch>
          </p:blipFill>
          <p:spPr>
            <a:xfrm>
              <a:off x="9754293" y="3254559"/>
              <a:ext cx="1343212" cy="1209844"/>
            </a:xfrm>
            <a:prstGeom prst="rect">
              <a:avLst/>
            </a:prstGeom>
            <a:ln>
              <a:solidFill>
                <a:schemeClr val="bg2">
                  <a:lumMod val="90000"/>
                </a:schemeClr>
              </a:solidFill>
            </a:ln>
          </p:spPr>
        </p:pic>
        <p:pic>
          <p:nvPicPr>
            <p:cNvPr id="14" name="図 13">
              <a:extLst>
                <a:ext uri="{FF2B5EF4-FFF2-40B4-BE49-F238E27FC236}">
                  <a16:creationId xmlns:a16="http://schemas.microsoft.com/office/drawing/2014/main" id="{690D99C1-39C3-365F-1EC9-AB319A1577F4}"/>
                </a:ext>
              </a:extLst>
            </p:cNvPr>
            <p:cNvPicPr>
              <a:picLocks noChangeAspect="1"/>
            </p:cNvPicPr>
            <p:nvPr/>
          </p:nvPicPr>
          <p:blipFill>
            <a:blip r:embed="rId12"/>
            <a:stretch>
              <a:fillRect/>
            </a:stretch>
          </p:blipFill>
          <p:spPr>
            <a:xfrm>
              <a:off x="9754530" y="5563869"/>
              <a:ext cx="2257740" cy="933580"/>
            </a:xfrm>
            <a:prstGeom prst="rect">
              <a:avLst/>
            </a:prstGeom>
            <a:ln>
              <a:solidFill>
                <a:schemeClr val="bg2">
                  <a:lumMod val="90000"/>
                </a:schemeClr>
              </a:solidFill>
            </a:ln>
          </p:spPr>
        </p:pic>
      </p:grpSp>
      <p:pic>
        <p:nvPicPr>
          <p:cNvPr id="30" name="図 29">
            <a:extLst>
              <a:ext uri="{FF2B5EF4-FFF2-40B4-BE49-F238E27FC236}">
                <a16:creationId xmlns:a16="http://schemas.microsoft.com/office/drawing/2014/main" id="{FFCE45BA-D329-2260-F5F5-F38305B02722}"/>
              </a:ext>
            </a:extLst>
          </p:cNvPr>
          <p:cNvPicPr>
            <a:picLocks noChangeAspect="1"/>
          </p:cNvPicPr>
          <p:nvPr/>
        </p:nvPicPr>
        <p:blipFill>
          <a:blip r:embed="rId13"/>
          <a:stretch>
            <a:fillRect/>
          </a:stretch>
        </p:blipFill>
        <p:spPr>
          <a:xfrm>
            <a:off x="5378301" y="4754198"/>
            <a:ext cx="3829584" cy="809738"/>
          </a:xfrm>
          <a:prstGeom prst="rect">
            <a:avLst/>
          </a:prstGeom>
        </p:spPr>
      </p:pic>
      <p:cxnSp>
        <p:nvCxnSpPr>
          <p:cNvPr id="13" name="直線矢印コネクタ 12">
            <a:extLst>
              <a:ext uri="{FF2B5EF4-FFF2-40B4-BE49-F238E27FC236}">
                <a16:creationId xmlns:a16="http://schemas.microsoft.com/office/drawing/2014/main" id="{74FF8975-518B-E7D8-023D-CCCCAEBC6F95}"/>
              </a:ext>
            </a:extLst>
          </p:cNvPr>
          <p:cNvCxnSpPr>
            <a:cxnSpLocks/>
          </p:cNvCxnSpPr>
          <p:nvPr/>
        </p:nvCxnSpPr>
        <p:spPr>
          <a:xfrm>
            <a:off x="5634394" y="2366486"/>
            <a:ext cx="290945"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線矢印コネクタ 18">
            <a:extLst>
              <a:ext uri="{FF2B5EF4-FFF2-40B4-BE49-F238E27FC236}">
                <a16:creationId xmlns:a16="http://schemas.microsoft.com/office/drawing/2014/main" id="{01D59CCC-3BC6-9415-083E-097815815E3E}"/>
              </a:ext>
            </a:extLst>
          </p:cNvPr>
          <p:cNvCxnSpPr>
            <a:cxnSpLocks/>
          </p:cNvCxnSpPr>
          <p:nvPr/>
        </p:nvCxnSpPr>
        <p:spPr>
          <a:xfrm>
            <a:off x="3860207" y="3326839"/>
            <a:ext cx="290945"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8510EB4D-6B88-4217-0E2B-F45AC51B91AD}"/>
              </a:ext>
            </a:extLst>
          </p:cNvPr>
          <p:cNvCxnSpPr>
            <a:cxnSpLocks/>
          </p:cNvCxnSpPr>
          <p:nvPr/>
        </p:nvCxnSpPr>
        <p:spPr>
          <a:xfrm>
            <a:off x="5062204" y="5287605"/>
            <a:ext cx="290945"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CC6468D2-415A-2024-CCF2-4BBF37F949EC}"/>
              </a:ext>
            </a:extLst>
          </p:cNvPr>
          <p:cNvCxnSpPr>
            <a:cxnSpLocks/>
          </p:cNvCxnSpPr>
          <p:nvPr/>
        </p:nvCxnSpPr>
        <p:spPr>
          <a:xfrm>
            <a:off x="3648464" y="6375238"/>
            <a:ext cx="290945"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23529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正方形/長方形 24">
            <a:extLst>
              <a:ext uri="{FF2B5EF4-FFF2-40B4-BE49-F238E27FC236}">
                <a16:creationId xmlns:a16="http://schemas.microsoft.com/office/drawing/2014/main" id="{2BDDE695-2C15-E252-BBE8-714A99D59233}"/>
              </a:ext>
            </a:extLst>
          </p:cNvPr>
          <p:cNvSpPr/>
          <p:nvPr/>
        </p:nvSpPr>
        <p:spPr>
          <a:xfrm>
            <a:off x="528181" y="1102297"/>
            <a:ext cx="10540261" cy="552895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９章　ループ</a:t>
            </a:r>
          </a:p>
        </p:txBody>
      </p:sp>
      <p:sp>
        <p:nvSpPr>
          <p:cNvPr id="3" name="字幕 2">
            <a:extLst>
              <a:ext uri="{FF2B5EF4-FFF2-40B4-BE49-F238E27FC236}">
                <a16:creationId xmlns:a16="http://schemas.microsoft.com/office/drawing/2014/main" id="{EF422FEA-2F34-70ED-56A9-01A65A2AD142}"/>
              </a:ext>
            </a:extLst>
          </p:cNvPr>
          <p:cNvSpPr>
            <a:spLocks noGrp="1"/>
          </p:cNvSpPr>
          <p:nvPr>
            <p:ph type="subTitle" idx="1"/>
          </p:nvPr>
        </p:nvSpPr>
        <p:spPr>
          <a:xfrm>
            <a:off x="682560" y="1143635"/>
            <a:ext cx="10540261" cy="5446283"/>
          </a:xfrm>
        </p:spPr>
        <p:txBody>
          <a:bodyPr>
            <a:normAutofit/>
          </a:bodyPr>
          <a:lstStyle/>
          <a:p>
            <a:pPr algn="l"/>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##score </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の中身を訂正する</a:t>
            </a:r>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実行内容：</a:t>
            </a:r>
            <a:r>
              <a:rPr lang="ja-JP" altLang="en-US" sz="1200" dirty="0">
                <a:solidFill>
                  <a:schemeClr val="tx1"/>
                </a:solidFill>
                <a:latin typeface="メイリオ" panose="020B0604030504040204" pitchFamily="50" charset="-128"/>
                <a:ea typeface="メイリオ" panose="020B0604030504040204" pitchFamily="50" charset="-128"/>
              </a:rPr>
              <a:t>・</a:t>
            </a:r>
            <a:r>
              <a:rPr lang="en-US" altLang="ja-JP" sz="1200" dirty="0">
                <a:solidFill>
                  <a:schemeClr val="tx1"/>
                </a:solidFill>
                <a:latin typeface="メイリオ" panose="020B0604030504040204" pitchFamily="50" charset="-128"/>
                <a:ea typeface="メイリオ" panose="020B0604030504040204" pitchFamily="50" charset="-128"/>
              </a:rPr>
              <a:t>DD</a:t>
            </a:r>
            <a:r>
              <a:rPr lang="ja-JP" altLang="en-US" sz="1200" dirty="0">
                <a:solidFill>
                  <a:schemeClr val="tx1"/>
                </a:solidFill>
                <a:latin typeface="メイリオ" panose="020B0604030504040204" pitchFamily="50" charset="-128"/>
                <a:ea typeface="メイリオ" panose="020B0604030504040204" pitchFamily="50" charset="-128"/>
              </a:rPr>
              <a:t>をほかのシンボルとして扱うことができるようにする</a:t>
            </a:r>
            <a:endParaRPr lang="en-US" altLang="ja-JP" sz="1200" dirty="0">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　　　　　</a:t>
            </a:r>
            <a:r>
              <a:rPr lang="ja-JP" altLang="en-US" sz="1200" dirty="0">
                <a:solidFill>
                  <a:schemeClr val="tx1"/>
                </a:solidFill>
                <a:latin typeface="メイリオ" panose="020B0604030504040204" pitchFamily="50" charset="-128"/>
                <a:ea typeface="メイリオ" panose="020B0604030504040204" pitchFamily="50" charset="-128"/>
              </a:rPr>
              <a:t>・ダイヤを</a:t>
            </a:r>
            <a:r>
              <a:rPr lang="en-US" altLang="ja-JP" sz="1200" dirty="0">
                <a:solidFill>
                  <a:schemeClr val="tx1"/>
                </a:solidFill>
                <a:latin typeface="メイリオ" panose="020B0604030504040204" pitchFamily="50" charset="-128"/>
                <a:ea typeface="メイリオ" panose="020B0604030504040204" pitchFamily="50" charset="-128"/>
              </a:rPr>
              <a:t>C</a:t>
            </a:r>
            <a:r>
              <a:rPr lang="ja-JP" altLang="en-US" sz="1200" dirty="0">
                <a:solidFill>
                  <a:schemeClr val="tx1"/>
                </a:solidFill>
                <a:latin typeface="メイリオ" panose="020B0604030504040204" pitchFamily="50" charset="-128"/>
                <a:ea typeface="メイリオ" panose="020B0604030504040204" pitchFamily="50" charset="-128"/>
              </a:rPr>
              <a:t>として扱えるのは、すでにシンボルが</a:t>
            </a:r>
            <a:r>
              <a:rPr lang="en-US" altLang="ja-JP" sz="1200" dirty="0">
                <a:solidFill>
                  <a:schemeClr val="tx1"/>
                </a:solidFill>
                <a:latin typeface="メイリオ" panose="020B0604030504040204" pitchFamily="50" charset="-128"/>
                <a:ea typeface="メイリオ" panose="020B0604030504040204" pitchFamily="50" charset="-128"/>
              </a:rPr>
              <a:t>C</a:t>
            </a:r>
            <a:r>
              <a:rPr lang="ja-JP" altLang="en-US" sz="1200" dirty="0">
                <a:solidFill>
                  <a:schemeClr val="tx1"/>
                </a:solidFill>
                <a:latin typeface="メイリオ" panose="020B0604030504040204" pitchFamily="50" charset="-128"/>
                <a:ea typeface="メイリオ" panose="020B0604030504040204" pitchFamily="50" charset="-128"/>
              </a:rPr>
              <a:t>を含むときのみという制限をつける</a:t>
            </a:r>
            <a:endParaRPr lang="en-US" altLang="ja-JP" sz="1200" dirty="0">
              <a:solidFill>
                <a:schemeClr val="tx1"/>
              </a:solidFill>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solidFill>
                <a:schemeClr val="tx1"/>
              </a:solidFill>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solidFill>
                <a:schemeClr val="tx1"/>
              </a:solidFill>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solidFill>
                <a:schemeClr val="tx1"/>
              </a:solidFill>
              <a:latin typeface="メイリオ" panose="020B0604030504040204" pitchFamily="50" charset="-128"/>
              <a:ea typeface="メイリオ" panose="020B0604030504040204" pitchFamily="50" charset="-128"/>
            </a:endParaRPr>
          </a:p>
          <a:p>
            <a:pPr algn="l"/>
            <a:endParaRPr lang="en-US" altLang="ja-JP" sz="1200" dirty="0">
              <a:solidFill>
                <a:schemeClr val="tx1"/>
              </a:solidFill>
              <a:latin typeface="メイリオ" panose="020B0604030504040204" pitchFamily="50" charset="-128"/>
              <a:ea typeface="メイリオ" panose="020B0604030504040204" pitchFamily="50" charset="-128"/>
            </a:endParaRPr>
          </a:p>
          <a:p>
            <a:pPr algn="l"/>
            <a:endParaRPr lang="en-US" altLang="ja-JP" sz="1200" dirty="0">
              <a:solidFill>
                <a:schemeClr val="tx1"/>
              </a:solidFill>
              <a:latin typeface="メイリオ" panose="020B0604030504040204" pitchFamily="50" charset="-128"/>
              <a:ea typeface="メイリオ" panose="020B0604030504040204" pitchFamily="50" charset="-128"/>
            </a:endParaRPr>
          </a:p>
          <a:p>
            <a:pPr algn="l"/>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##symbols </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を </a:t>
            </a:r>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slots </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に置き換える</a:t>
            </a:r>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実行内容：「すべてのカードで</a:t>
            </a:r>
            <a:r>
              <a:rPr lang="en-US" altLang="ja-JP" sz="1200" dirty="0">
                <a:latin typeface="メイリオ" panose="020B0604030504040204" pitchFamily="50" charset="-128"/>
                <a:ea typeface="メイリオ" panose="020B0604030504040204" pitchFamily="50" charset="-128"/>
              </a:rPr>
              <a:t>same</a:t>
            </a:r>
            <a:r>
              <a:rPr lang="ja-JP" altLang="en-US" sz="1200" dirty="0">
                <a:latin typeface="メイリオ" panose="020B0604030504040204" pitchFamily="50" charset="-128"/>
                <a:ea typeface="メイリオ" panose="020B0604030504040204" pitchFamily="50" charset="-128"/>
              </a:rPr>
              <a:t>や</a:t>
            </a:r>
            <a:r>
              <a:rPr lang="en-US" altLang="ja-JP" sz="1200" dirty="0">
                <a:latin typeface="メイリオ" panose="020B0604030504040204" pitchFamily="50" charset="-128"/>
                <a:ea typeface="メイリオ" panose="020B0604030504040204" pitchFamily="50" charset="-128"/>
              </a:rPr>
              <a:t>bars</a:t>
            </a:r>
            <a:r>
              <a:rPr lang="ja-JP" altLang="en-US" sz="1200" dirty="0">
                <a:latin typeface="メイリオ" panose="020B0604030504040204" pitchFamily="50" charset="-128"/>
                <a:ea typeface="メイリオ" panose="020B0604030504040204" pitchFamily="50" charset="-128"/>
              </a:rPr>
              <a:t>が成り立つか判断する」を、「</a:t>
            </a:r>
            <a:r>
              <a:rPr lang="en-US" altLang="ja-JP" sz="1200" dirty="0">
                <a:latin typeface="メイリオ" panose="020B0604030504040204" pitchFamily="50" charset="-128"/>
                <a:ea typeface="メイリオ" panose="020B0604030504040204" pitchFamily="50" charset="-128"/>
              </a:rPr>
              <a:t>DD</a:t>
            </a:r>
            <a:r>
              <a:rPr lang="ja-JP" altLang="en-US" sz="1200" dirty="0">
                <a:latin typeface="メイリオ" panose="020B0604030504040204" pitchFamily="50" charset="-128"/>
                <a:ea typeface="メイリオ" panose="020B0604030504040204" pitchFamily="50" charset="-128"/>
              </a:rPr>
              <a:t>以外のカードで</a:t>
            </a:r>
            <a:r>
              <a:rPr lang="en-US" altLang="ja-JP" sz="1200" dirty="0">
                <a:latin typeface="メイリオ" panose="020B0604030504040204" pitchFamily="50" charset="-128"/>
                <a:ea typeface="メイリオ" panose="020B0604030504040204" pitchFamily="50" charset="-128"/>
              </a:rPr>
              <a:t>same</a:t>
            </a:r>
            <a:r>
              <a:rPr lang="ja-JP" altLang="en-US" sz="1200" dirty="0">
                <a:latin typeface="メイリオ" panose="020B0604030504040204" pitchFamily="50" charset="-128"/>
                <a:ea typeface="メイリオ" panose="020B0604030504040204" pitchFamily="50" charset="-128"/>
              </a:rPr>
              <a:t>や</a:t>
            </a:r>
            <a:r>
              <a:rPr lang="en-US" altLang="ja-JP" sz="1200" dirty="0">
                <a:latin typeface="メイリオ" panose="020B0604030504040204" pitchFamily="50" charset="-128"/>
                <a:ea typeface="メイリオ" panose="020B0604030504040204" pitchFamily="50" charset="-128"/>
              </a:rPr>
              <a:t>bars</a:t>
            </a:r>
            <a:r>
              <a:rPr lang="ja-JP" altLang="en-US" sz="1200" dirty="0">
                <a:latin typeface="メイリオ" panose="020B0604030504040204" pitchFamily="50" charset="-128"/>
                <a:ea typeface="メイリオ" panose="020B0604030504040204" pitchFamily="50" charset="-128"/>
              </a:rPr>
              <a:t>が成り立つか判断する」処理に置き換える</a:t>
            </a:r>
            <a:endParaRPr lang="en-US" altLang="ja-JP" sz="1200" dirty="0">
              <a:latin typeface="メイリオ" panose="020B0604030504040204" pitchFamily="50" charset="-128"/>
              <a:ea typeface="メイリオ" panose="020B0604030504040204" pitchFamily="50" charset="-128"/>
            </a:endParaRPr>
          </a:p>
          <a:p>
            <a:pPr algn="l"/>
            <a:r>
              <a:rPr lang="ja-JP" altLang="en-US" sz="1200" dirty="0">
                <a:solidFill>
                  <a:schemeClr val="tx1"/>
                </a:solidFill>
                <a:latin typeface="メイリオ" panose="020B0604030504040204" pitchFamily="50" charset="-128"/>
                <a:ea typeface="メイリオ" panose="020B0604030504040204" pitchFamily="50" charset="-128"/>
              </a:rPr>
              <a:t>　　　　　・変数 </a:t>
            </a:r>
            <a:r>
              <a:rPr lang="en-US" altLang="ja-JP" sz="1200" dirty="0">
                <a:solidFill>
                  <a:schemeClr val="tx1"/>
                </a:solidFill>
                <a:latin typeface="メイリオ" panose="020B0604030504040204" pitchFamily="50" charset="-128"/>
                <a:ea typeface="メイリオ" panose="020B0604030504040204" pitchFamily="50" charset="-128"/>
              </a:rPr>
              <a:t>slots</a:t>
            </a:r>
            <a:r>
              <a:rPr lang="ja-JP" altLang="en-US" sz="1200" dirty="0">
                <a:latin typeface="メイリオ" panose="020B0604030504040204" pitchFamily="50" charset="-128"/>
                <a:ea typeface="メイリオ" panose="020B0604030504040204" pitchFamily="50" charset="-128"/>
              </a:rPr>
              <a:t> を用意し、</a:t>
            </a:r>
            <a:r>
              <a:rPr lang="en-US" altLang="ja-JP" sz="1200" dirty="0">
                <a:latin typeface="メイリオ" panose="020B0604030504040204" pitchFamily="50" charset="-128"/>
                <a:ea typeface="メイリオ" panose="020B0604030504040204" pitchFamily="50" charset="-128"/>
              </a:rPr>
              <a:t>DD</a:t>
            </a:r>
            <a:r>
              <a:rPr lang="ja-JP" altLang="en-US" sz="1200" dirty="0">
                <a:latin typeface="メイリオ" panose="020B0604030504040204" pitchFamily="50" charset="-128"/>
                <a:ea typeface="メイリオ" panose="020B0604030504040204" pitchFamily="50" charset="-128"/>
              </a:rPr>
              <a:t>以外のシンボルを格納する</a:t>
            </a:r>
            <a:endParaRPr lang="en-US" altLang="ja-JP" sz="1200" dirty="0">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　　　　　・</a:t>
            </a:r>
            <a:r>
              <a:rPr lang="en-US" altLang="ja-JP" sz="1200" dirty="0">
                <a:latin typeface="メイリオ" panose="020B0604030504040204" pitchFamily="50" charset="-128"/>
                <a:ea typeface="メイリオ" panose="020B0604030504040204" pitchFamily="50" charset="-128"/>
              </a:rPr>
              <a:t>same</a:t>
            </a:r>
            <a:r>
              <a:rPr lang="ja-JP" altLang="en-US" sz="1200" dirty="0">
                <a:latin typeface="メイリオ" panose="020B0604030504040204" pitchFamily="50" charset="-128"/>
                <a:ea typeface="メイリオ" panose="020B0604030504040204" pitchFamily="50" charset="-128"/>
              </a:rPr>
              <a:t>や</a:t>
            </a:r>
            <a:r>
              <a:rPr lang="en-US" altLang="ja-JP" sz="1200" dirty="0">
                <a:latin typeface="メイリオ" panose="020B0604030504040204" pitchFamily="50" charset="-128"/>
                <a:ea typeface="メイリオ" panose="020B0604030504040204" pitchFamily="50" charset="-128"/>
              </a:rPr>
              <a:t>bars</a:t>
            </a:r>
            <a:r>
              <a:rPr lang="ja-JP" altLang="en-US" sz="1200" dirty="0">
                <a:latin typeface="メイリオ" panose="020B0604030504040204" pitchFamily="50" charset="-128"/>
                <a:ea typeface="メイリオ" panose="020B0604030504040204" pitchFamily="50" charset="-128"/>
              </a:rPr>
              <a:t>は、</a:t>
            </a:r>
            <a:r>
              <a:rPr lang="en-US" altLang="ja-JP" sz="1200" dirty="0">
                <a:latin typeface="メイリオ" panose="020B0604030504040204" pitchFamily="50" charset="-128"/>
                <a:ea typeface="メイリオ" panose="020B0604030504040204" pitchFamily="50" charset="-128"/>
              </a:rPr>
              <a:t>symbols</a:t>
            </a:r>
            <a:r>
              <a:rPr lang="ja-JP" altLang="en-US" sz="1200" dirty="0">
                <a:latin typeface="メイリオ" panose="020B0604030504040204" pitchFamily="50" charset="-128"/>
                <a:ea typeface="メイリオ" panose="020B0604030504040204" pitchFamily="50" charset="-128"/>
              </a:rPr>
              <a:t>ではなく</a:t>
            </a:r>
            <a:r>
              <a:rPr lang="en-US" altLang="ja-JP" sz="1200" dirty="0">
                <a:latin typeface="メイリオ" panose="020B0604030504040204" pitchFamily="50" charset="-128"/>
                <a:ea typeface="メイリオ" panose="020B0604030504040204" pitchFamily="50" charset="-128"/>
              </a:rPr>
              <a:t>slots</a:t>
            </a:r>
            <a:r>
              <a:rPr lang="ja-JP" altLang="en-US" sz="1200" dirty="0">
                <a:latin typeface="メイリオ" panose="020B0604030504040204" pitchFamily="50" charset="-128"/>
                <a:ea typeface="メイリオ" panose="020B0604030504040204" pitchFamily="50" charset="-128"/>
              </a:rPr>
              <a:t>で成り立つか判断できるようにする</a:t>
            </a:r>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p:txBody>
      </p:sp>
      <p:pic>
        <p:nvPicPr>
          <p:cNvPr id="5" name="図 4">
            <a:extLst>
              <a:ext uri="{FF2B5EF4-FFF2-40B4-BE49-F238E27FC236}">
                <a16:creationId xmlns:a16="http://schemas.microsoft.com/office/drawing/2014/main" id="{00B569E8-FEE7-B590-033C-E7ACAB1FE1CB}"/>
              </a:ext>
            </a:extLst>
          </p:cNvPr>
          <p:cNvPicPr>
            <a:picLocks noChangeAspect="1"/>
          </p:cNvPicPr>
          <p:nvPr/>
        </p:nvPicPr>
        <p:blipFill>
          <a:blip r:embed="rId3"/>
          <a:stretch>
            <a:fillRect/>
          </a:stretch>
        </p:blipFill>
        <p:spPr>
          <a:xfrm>
            <a:off x="1431902" y="5866000"/>
            <a:ext cx="2857899" cy="523948"/>
          </a:xfrm>
          <a:prstGeom prst="rect">
            <a:avLst/>
          </a:prstGeom>
          <a:ln>
            <a:solidFill>
              <a:schemeClr val="bg2">
                <a:lumMod val="90000"/>
              </a:schemeClr>
            </a:solidFill>
          </a:ln>
        </p:spPr>
      </p:pic>
      <p:sp>
        <p:nvSpPr>
          <p:cNvPr id="9" name="正方形/長方形 8">
            <a:extLst>
              <a:ext uri="{FF2B5EF4-FFF2-40B4-BE49-F238E27FC236}">
                <a16:creationId xmlns:a16="http://schemas.microsoft.com/office/drawing/2014/main" id="{F0A54532-D2DA-F849-6054-A547A0707C33}"/>
              </a:ext>
            </a:extLst>
          </p:cNvPr>
          <p:cNvSpPr/>
          <p:nvPr/>
        </p:nvSpPr>
        <p:spPr>
          <a:xfrm>
            <a:off x="969180" y="2126513"/>
            <a:ext cx="8791508" cy="216904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200" dirty="0">
                <a:solidFill>
                  <a:schemeClr val="tx1"/>
                </a:solidFill>
              </a:rPr>
              <a:t>DD</a:t>
            </a:r>
            <a:r>
              <a:rPr lang="ja-JP" altLang="en-US" sz="1200" dirty="0">
                <a:solidFill>
                  <a:schemeClr val="tx1"/>
                </a:solidFill>
              </a:rPr>
              <a:t>をほかのシンボルとして扱う</a:t>
            </a:r>
            <a:endParaRPr lang="en-US" altLang="ja-JP" sz="1200" dirty="0">
              <a:solidFill>
                <a:schemeClr val="tx1"/>
              </a:solidFill>
            </a:endParaRPr>
          </a:p>
          <a:p>
            <a:endParaRPr lang="en-US" altLang="ja-JP" sz="1200" dirty="0">
              <a:solidFill>
                <a:schemeClr val="tx1"/>
              </a:solidFill>
            </a:endParaRPr>
          </a:p>
          <a:p>
            <a:r>
              <a:rPr lang="ja-JP" altLang="en-US" sz="1200" dirty="0">
                <a:solidFill>
                  <a:schemeClr val="tx1"/>
                </a:solidFill>
              </a:rPr>
              <a:t>→</a:t>
            </a:r>
            <a:r>
              <a:rPr lang="en-US" altLang="ja-JP" sz="1200" dirty="0">
                <a:solidFill>
                  <a:schemeClr val="tx1"/>
                </a:solidFill>
              </a:rPr>
              <a:t>DD</a:t>
            </a:r>
            <a:r>
              <a:rPr lang="ja-JP" altLang="en-US" sz="1200" dirty="0">
                <a:solidFill>
                  <a:schemeClr val="tx1"/>
                </a:solidFill>
              </a:rPr>
              <a:t>以外で</a:t>
            </a:r>
            <a:r>
              <a:rPr lang="en-US" altLang="ja-JP" sz="1200" dirty="0">
                <a:solidFill>
                  <a:schemeClr val="tx1"/>
                </a:solidFill>
              </a:rPr>
              <a:t>same</a:t>
            </a:r>
            <a:r>
              <a:rPr lang="ja-JP" altLang="en-US" sz="1200" dirty="0">
                <a:solidFill>
                  <a:schemeClr val="tx1"/>
                </a:solidFill>
              </a:rPr>
              <a:t>が成り立つとき、</a:t>
            </a:r>
            <a:r>
              <a:rPr lang="en-US" altLang="ja-JP" sz="1200" dirty="0">
                <a:solidFill>
                  <a:schemeClr val="tx1"/>
                </a:solidFill>
              </a:rPr>
              <a:t>DD</a:t>
            </a:r>
            <a:r>
              <a:rPr lang="ja-JP" altLang="en-US" sz="1200" dirty="0">
                <a:solidFill>
                  <a:schemeClr val="tx1"/>
                </a:solidFill>
              </a:rPr>
              <a:t>は</a:t>
            </a:r>
            <a:r>
              <a:rPr lang="en-US" altLang="ja-JP" sz="1200" dirty="0">
                <a:solidFill>
                  <a:schemeClr val="tx1"/>
                </a:solidFill>
              </a:rPr>
              <a:t>DD</a:t>
            </a:r>
            <a:r>
              <a:rPr lang="ja-JP" altLang="en-US" sz="1200" dirty="0">
                <a:solidFill>
                  <a:schemeClr val="tx1"/>
                </a:solidFill>
              </a:rPr>
              <a:t>以外の要素と同じとして扱う、賞金は</a:t>
            </a:r>
            <a:r>
              <a:rPr lang="en-US" altLang="ja-JP" sz="1200" dirty="0">
                <a:solidFill>
                  <a:schemeClr val="tx1"/>
                </a:solidFill>
              </a:rPr>
              <a:t>DD</a:t>
            </a:r>
            <a:r>
              <a:rPr lang="ja-JP" altLang="en-US" sz="1200" dirty="0">
                <a:solidFill>
                  <a:schemeClr val="tx1"/>
                </a:solidFill>
              </a:rPr>
              <a:t>の数だけ２倍にする</a:t>
            </a:r>
            <a:endParaRPr lang="en-US" altLang="ja-JP" sz="1200" dirty="0">
              <a:solidFill>
                <a:schemeClr val="tx1"/>
              </a:solidFill>
            </a:endParaRPr>
          </a:p>
          <a:p>
            <a:endParaRPr lang="en-US" altLang="ja-JP" sz="1200" dirty="0">
              <a:solidFill>
                <a:schemeClr val="tx1"/>
              </a:solidFill>
            </a:endParaRPr>
          </a:p>
          <a:p>
            <a:r>
              <a:rPr lang="ja-JP" altLang="en-US" sz="1200" dirty="0">
                <a:solidFill>
                  <a:schemeClr val="tx1"/>
                </a:solidFill>
              </a:rPr>
              <a:t>→</a:t>
            </a:r>
            <a:r>
              <a:rPr lang="en-US" altLang="ja-JP" sz="1200" dirty="0">
                <a:solidFill>
                  <a:schemeClr val="tx1"/>
                </a:solidFill>
              </a:rPr>
              <a:t>DD</a:t>
            </a:r>
            <a:r>
              <a:rPr lang="ja-JP" altLang="en-US" sz="1200" dirty="0">
                <a:solidFill>
                  <a:schemeClr val="tx1"/>
                </a:solidFill>
              </a:rPr>
              <a:t>以外で</a:t>
            </a:r>
            <a:r>
              <a:rPr lang="en-US" altLang="ja-JP" sz="1200" dirty="0">
                <a:solidFill>
                  <a:schemeClr val="tx1"/>
                </a:solidFill>
              </a:rPr>
              <a:t>bars</a:t>
            </a:r>
            <a:r>
              <a:rPr lang="ja-JP" altLang="en-US" sz="1200" dirty="0">
                <a:solidFill>
                  <a:schemeClr val="tx1"/>
                </a:solidFill>
              </a:rPr>
              <a:t>が成り立つとき、</a:t>
            </a:r>
            <a:r>
              <a:rPr lang="en-US" altLang="ja-JP" sz="1200" dirty="0">
                <a:solidFill>
                  <a:schemeClr val="tx1"/>
                </a:solidFill>
              </a:rPr>
              <a:t>DD</a:t>
            </a:r>
            <a:r>
              <a:rPr lang="ja-JP" altLang="en-US" sz="1200" dirty="0">
                <a:solidFill>
                  <a:schemeClr val="tx1"/>
                </a:solidFill>
              </a:rPr>
              <a:t>はバーとして扱う、賞金は</a:t>
            </a:r>
            <a:r>
              <a:rPr lang="en-US" altLang="ja-JP" sz="1200" dirty="0">
                <a:solidFill>
                  <a:schemeClr val="tx1"/>
                </a:solidFill>
              </a:rPr>
              <a:t>DD</a:t>
            </a:r>
            <a:r>
              <a:rPr lang="ja-JP" altLang="en-US" sz="1200" dirty="0">
                <a:solidFill>
                  <a:schemeClr val="tx1"/>
                </a:solidFill>
              </a:rPr>
              <a:t>の数だけ２倍にする</a:t>
            </a:r>
            <a:endParaRPr lang="en-US" altLang="ja-JP" sz="1200" dirty="0">
              <a:solidFill>
                <a:schemeClr val="tx1"/>
              </a:solidFill>
            </a:endParaRPr>
          </a:p>
          <a:p>
            <a:endParaRPr lang="en-US" altLang="ja-JP" sz="1200" dirty="0">
              <a:solidFill>
                <a:schemeClr val="tx1"/>
              </a:solidFill>
            </a:endParaRPr>
          </a:p>
          <a:p>
            <a:r>
              <a:rPr lang="ja-JP" altLang="en-US" sz="1200" dirty="0">
                <a:solidFill>
                  <a:schemeClr val="tx1"/>
                </a:solidFill>
              </a:rPr>
              <a:t>→</a:t>
            </a:r>
            <a:r>
              <a:rPr lang="en-US" altLang="ja-JP" sz="1200" dirty="0">
                <a:solidFill>
                  <a:schemeClr val="tx1"/>
                </a:solidFill>
              </a:rPr>
              <a:t>C</a:t>
            </a:r>
            <a:r>
              <a:rPr lang="ja-JP" altLang="en-US" sz="1200" dirty="0">
                <a:solidFill>
                  <a:schemeClr val="tx1"/>
                </a:solidFill>
              </a:rPr>
              <a:t>があるときに限り、</a:t>
            </a:r>
            <a:r>
              <a:rPr lang="en-US" altLang="ja-JP" sz="1200" dirty="0">
                <a:solidFill>
                  <a:schemeClr val="tx1"/>
                </a:solidFill>
              </a:rPr>
              <a:t>DD</a:t>
            </a:r>
            <a:r>
              <a:rPr lang="ja-JP" altLang="en-US" sz="1200" dirty="0">
                <a:solidFill>
                  <a:schemeClr val="tx1"/>
                </a:solidFill>
              </a:rPr>
              <a:t>は</a:t>
            </a:r>
            <a:r>
              <a:rPr lang="en-US" altLang="ja-JP" sz="1200" dirty="0">
                <a:solidFill>
                  <a:schemeClr val="tx1"/>
                </a:solidFill>
              </a:rPr>
              <a:t>C</a:t>
            </a:r>
            <a:r>
              <a:rPr lang="ja-JP" altLang="en-US" sz="1200" dirty="0">
                <a:solidFill>
                  <a:schemeClr val="tx1"/>
                </a:solidFill>
              </a:rPr>
              <a:t>として扱う、賞金は</a:t>
            </a:r>
            <a:r>
              <a:rPr lang="en-US" altLang="ja-JP" sz="1200" dirty="0">
                <a:solidFill>
                  <a:schemeClr val="tx1"/>
                </a:solidFill>
              </a:rPr>
              <a:t>DD</a:t>
            </a:r>
            <a:r>
              <a:rPr lang="ja-JP" altLang="en-US" sz="1200" dirty="0">
                <a:solidFill>
                  <a:schemeClr val="tx1"/>
                </a:solidFill>
              </a:rPr>
              <a:t>の数だけ２倍にする</a:t>
            </a:r>
            <a:endParaRPr lang="en-US" altLang="ja-JP" sz="1200" dirty="0">
              <a:solidFill>
                <a:schemeClr val="tx1"/>
              </a:solidFill>
            </a:endParaRPr>
          </a:p>
          <a:p>
            <a:endParaRPr lang="en-US" altLang="ja-JP" sz="1200" dirty="0">
              <a:solidFill>
                <a:schemeClr val="tx1"/>
              </a:solidFill>
            </a:endParaRPr>
          </a:p>
          <a:p>
            <a:r>
              <a:rPr lang="ja-JP" altLang="en-US" sz="1200" dirty="0">
                <a:solidFill>
                  <a:schemeClr val="tx1"/>
                </a:solidFill>
              </a:rPr>
              <a:t>解決策</a:t>
            </a:r>
            <a:endParaRPr lang="en-US" altLang="ja-JP" sz="1200" dirty="0">
              <a:solidFill>
                <a:schemeClr val="tx1"/>
              </a:solidFill>
            </a:endParaRPr>
          </a:p>
          <a:p>
            <a:r>
              <a:rPr lang="en-US" altLang="ja-JP" sz="1200" dirty="0">
                <a:solidFill>
                  <a:schemeClr val="tx1"/>
                </a:solidFill>
              </a:rPr>
              <a:t>DD</a:t>
            </a:r>
            <a:r>
              <a:rPr lang="ja-JP" altLang="en-US" sz="1200" dirty="0">
                <a:solidFill>
                  <a:schemeClr val="tx1"/>
                </a:solidFill>
              </a:rPr>
              <a:t>以外で</a:t>
            </a:r>
            <a:r>
              <a:rPr lang="en-US" altLang="ja-JP" sz="1200" dirty="0">
                <a:solidFill>
                  <a:schemeClr val="tx1"/>
                </a:solidFill>
              </a:rPr>
              <a:t>same</a:t>
            </a:r>
            <a:r>
              <a:rPr lang="ja-JP" altLang="en-US" sz="1200" dirty="0">
                <a:solidFill>
                  <a:schemeClr val="tx1"/>
                </a:solidFill>
              </a:rPr>
              <a:t>が成り立つとき、</a:t>
            </a:r>
            <a:r>
              <a:rPr lang="en-US" altLang="ja-JP" sz="1200" dirty="0">
                <a:solidFill>
                  <a:schemeClr val="tx1"/>
                </a:solidFill>
              </a:rPr>
              <a:t>DD</a:t>
            </a:r>
            <a:r>
              <a:rPr lang="ja-JP" altLang="en-US" sz="1200" dirty="0">
                <a:solidFill>
                  <a:schemeClr val="tx1"/>
                </a:solidFill>
              </a:rPr>
              <a:t>以外で</a:t>
            </a:r>
            <a:r>
              <a:rPr lang="en-US" altLang="ja-JP" sz="1200" dirty="0">
                <a:solidFill>
                  <a:schemeClr val="tx1"/>
                </a:solidFill>
              </a:rPr>
              <a:t>bars</a:t>
            </a:r>
            <a:r>
              <a:rPr lang="ja-JP" altLang="en-US" sz="1200" dirty="0">
                <a:solidFill>
                  <a:schemeClr val="tx1"/>
                </a:solidFill>
              </a:rPr>
              <a:t>が成り立つとき、</a:t>
            </a:r>
            <a:r>
              <a:rPr lang="en-US" altLang="ja-JP" sz="1200" dirty="0">
                <a:solidFill>
                  <a:schemeClr val="tx1"/>
                </a:solidFill>
              </a:rPr>
              <a:t>C</a:t>
            </a:r>
            <a:r>
              <a:rPr lang="ja-JP" altLang="en-US" sz="1200" dirty="0">
                <a:solidFill>
                  <a:schemeClr val="tx1"/>
                </a:solidFill>
              </a:rPr>
              <a:t>が存在するとき　で場合分けをする</a:t>
            </a:r>
            <a:endParaRPr lang="en-US" altLang="ja-JP" sz="1200" dirty="0">
              <a:solidFill>
                <a:schemeClr val="tx1"/>
              </a:solidFill>
            </a:endParaRPr>
          </a:p>
          <a:p>
            <a:r>
              <a:rPr lang="ja-JP" altLang="en-US" sz="1200" dirty="0">
                <a:solidFill>
                  <a:schemeClr val="tx1"/>
                </a:solidFill>
              </a:rPr>
              <a:t>→</a:t>
            </a:r>
            <a:r>
              <a:rPr lang="en-US" altLang="ja-JP" sz="1200" dirty="0">
                <a:solidFill>
                  <a:schemeClr val="tx1"/>
                </a:solidFill>
              </a:rPr>
              <a:t>DD</a:t>
            </a:r>
            <a:r>
              <a:rPr lang="ja-JP" altLang="en-US" sz="1200" dirty="0">
                <a:solidFill>
                  <a:schemeClr val="tx1"/>
                </a:solidFill>
              </a:rPr>
              <a:t>を抜いたシンボルを入れる変数</a:t>
            </a:r>
            <a:r>
              <a:rPr lang="en-US" altLang="ja-JP" sz="1200" dirty="0">
                <a:solidFill>
                  <a:schemeClr val="tx1"/>
                </a:solidFill>
              </a:rPr>
              <a:t>(slots)</a:t>
            </a:r>
            <a:r>
              <a:rPr lang="ja-JP" altLang="en-US" sz="1200" dirty="0">
                <a:solidFill>
                  <a:schemeClr val="tx1"/>
                </a:solidFill>
              </a:rPr>
              <a:t>を用意する</a:t>
            </a:r>
            <a:endParaRPr lang="en-US" altLang="ja-JP" sz="1200" dirty="0">
              <a:solidFill>
                <a:schemeClr val="tx1"/>
              </a:solidFill>
            </a:endParaRPr>
          </a:p>
        </p:txBody>
      </p:sp>
      <p:sp>
        <p:nvSpPr>
          <p:cNvPr id="18" name="楕円 17">
            <a:extLst>
              <a:ext uri="{FF2B5EF4-FFF2-40B4-BE49-F238E27FC236}">
                <a16:creationId xmlns:a16="http://schemas.microsoft.com/office/drawing/2014/main" id="{E4C41325-23B5-B75C-2D8E-4294A047BC46}"/>
              </a:ext>
            </a:extLst>
          </p:cNvPr>
          <p:cNvSpPr/>
          <p:nvPr/>
        </p:nvSpPr>
        <p:spPr>
          <a:xfrm>
            <a:off x="4910931" y="4499044"/>
            <a:ext cx="252293" cy="235472"/>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en-US" altLang="ja-JP" dirty="0">
                <a:latin typeface="メイリオ" panose="020B0604030504040204" pitchFamily="50" charset="-128"/>
                <a:ea typeface="メイリオ" panose="020B0604030504040204" pitchFamily="50" charset="-128"/>
              </a:rPr>
              <a:t>5</a:t>
            </a:r>
            <a:endParaRPr kumimoji="1"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496950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正方形/長方形 24">
            <a:extLst>
              <a:ext uri="{FF2B5EF4-FFF2-40B4-BE49-F238E27FC236}">
                <a16:creationId xmlns:a16="http://schemas.microsoft.com/office/drawing/2014/main" id="{2BDDE695-2C15-E252-BBE8-714A99D59233}"/>
              </a:ext>
            </a:extLst>
          </p:cNvPr>
          <p:cNvSpPr/>
          <p:nvPr/>
        </p:nvSpPr>
        <p:spPr>
          <a:xfrm>
            <a:off x="528181" y="1143635"/>
            <a:ext cx="10540261" cy="552895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９章　ループ</a:t>
            </a:r>
          </a:p>
        </p:txBody>
      </p:sp>
      <p:sp>
        <p:nvSpPr>
          <p:cNvPr id="3" name="字幕 2">
            <a:extLst>
              <a:ext uri="{FF2B5EF4-FFF2-40B4-BE49-F238E27FC236}">
                <a16:creationId xmlns:a16="http://schemas.microsoft.com/office/drawing/2014/main" id="{EF422FEA-2F34-70ED-56A9-01A65A2AD142}"/>
              </a:ext>
            </a:extLst>
          </p:cNvPr>
          <p:cNvSpPr>
            <a:spLocks noGrp="1"/>
          </p:cNvSpPr>
          <p:nvPr>
            <p:ph type="subTitle" idx="1"/>
          </p:nvPr>
        </p:nvSpPr>
        <p:spPr>
          <a:xfrm>
            <a:off x="682560" y="1143635"/>
            <a:ext cx="10540261" cy="5446283"/>
          </a:xfrm>
        </p:spPr>
        <p:txBody>
          <a:bodyPr>
            <a:normAutofit/>
          </a:bodyPr>
          <a:lstStyle/>
          <a:p>
            <a:pPr algn="l"/>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賞金を計算する</a:t>
            </a:r>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##combos$prize </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に、賞金を再入力する</a:t>
            </a:r>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lang="en-US" altLang="ja-JP" sz="1200" dirty="0">
              <a:latin typeface="メイリオ" panose="020B0604030504040204" pitchFamily="50" charset="-128"/>
              <a:ea typeface="メイリオ" panose="020B0604030504040204" pitchFamily="50" charset="-128"/>
            </a:endParaRPr>
          </a:p>
        </p:txBody>
      </p:sp>
      <p:sp>
        <p:nvSpPr>
          <p:cNvPr id="4" name="楕円 3">
            <a:extLst>
              <a:ext uri="{FF2B5EF4-FFF2-40B4-BE49-F238E27FC236}">
                <a16:creationId xmlns:a16="http://schemas.microsoft.com/office/drawing/2014/main" id="{25FD5EE7-A62C-40E5-50EC-6A16662D7208}"/>
              </a:ext>
            </a:extLst>
          </p:cNvPr>
          <p:cNvSpPr/>
          <p:nvPr/>
        </p:nvSpPr>
        <p:spPr>
          <a:xfrm>
            <a:off x="3092763" y="1187854"/>
            <a:ext cx="252293" cy="235472"/>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kumimoji="1" lang="en-US" altLang="ja-JP" dirty="0">
                <a:latin typeface="メイリオ" panose="020B0604030504040204" pitchFamily="50" charset="-128"/>
                <a:ea typeface="メイリオ" panose="020B0604030504040204" pitchFamily="50" charset="-128"/>
              </a:rPr>
              <a:t>6</a:t>
            </a:r>
          </a:p>
        </p:txBody>
      </p:sp>
      <p:sp>
        <p:nvSpPr>
          <p:cNvPr id="6" name="正方形/長方形 5">
            <a:extLst>
              <a:ext uri="{FF2B5EF4-FFF2-40B4-BE49-F238E27FC236}">
                <a16:creationId xmlns:a16="http://schemas.microsoft.com/office/drawing/2014/main" id="{7BDA8FC7-9851-8237-14E7-C7CA7706D5A8}"/>
              </a:ext>
            </a:extLst>
          </p:cNvPr>
          <p:cNvSpPr/>
          <p:nvPr/>
        </p:nvSpPr>
        <p:spPr>
          <a:xfrm>
            <a:off x="5358809" y="4810300"/>
            <a:ext cx="993908" cy="48068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200" dirty="0" err="1">
                <a:solidFill>
                  <a:schemeClr val="tx1"/>
                </a:solidFill>
              </a:rPr>
              <a:t>nrow</a:t>
            </a:r>
            <a:r>
              <a:rPr lang="en-US" altLang="ja-JP" sz="1200" dirty="0">
                <a:solidFill>
                  <a:schemeClr val="tx1"/>
                </a:solidFill>
              </a:rPr>
              <a:t> </a:t>
            </a:r>
            <a:r>
              <a:rPr lang="ja-JP" altLang="en-US" sz="1200" dirty="0">
                <a:solidFill>
                  <a:schemeClr val="tx1"/>
                </a:solidFill>
              </a:rPr>
              <a:t>行数</a:t>
            </a:r>
            <a:endParaRPr lang="en-US" altLang="ja-JP" sz="1200" dirty="0">
              <a:solidFill>
                <a:schemeClr val="tx1"/>
              </a:solidFill>
            </a:endParaRPr>
          </a:p>
          <a:p>
            <a:r>
              <a:rPr lang="en-US" altLang="ja-JP" sz="1200" dirty="0" err="1">
                <a:solidFill>
                  <a:schemeClr val="tx1"/>
                </a:solidFill>
              </a:rPr>
              <a:t>ncol</a:t>
            </a:r>
            <a:r>
              <a:rPr lang="ja-JP" altLang="en-US" sz="1200" dirty="0">
                <a:solidFill>
                  <a:schemeClr val="tx1"/>
                </a:solidFill>
              </a:rPr>
              <a:t> 列数</a:t>
            </a:r>
            <a:endParaRPr lang="en-US" altLang="ja-JP" sz="1050" dirty="0">
              <a:solidFill>
                <a:schemeClr val="tx1"/>
              </a:solidFill>
            </a:endParaRPr>
          </a:p>
        </p:txBody>
      </p:sp>
      <p:pic>
        <p:nvPicPr>
          <p:cNvPr id="8" name="図 7">
            <a:extLst>
              <a:ext uri="{FF2B5EF4-FFF2-40B4-BE49-F238E27FC236}">
                <a16:creationId xmlns:a16="http://schemas.microsoft.com/office/drawing/2014/main" id="{22C6207A-50B9-081E-8B12-A0D8BC31CFED}"/>
              </a:ext>
            </a:extLst>
          </p:cNvPr>
          <p:cNvPicPr>
            <a:picLocks noChangeAspect="1"/>
          </p:cNvPicPr>
          <p:nvPr/>
        </p:nvPicPr>
        <p:blipFill rotWithShape="1">
          <a:blip r:embed="rId3"/>
          <a:srcRect t="2365"/>
          <a:stretch/>
        </p:blipFill>
        <p:spPr>
          <a:xfrm>
            <a:off x="969179" y="1595593"/>
            <a:ext cx="5925377" cy="2604277"/>
          </a:xfrm>
          <a:prstGeom prst="rect">
            <a:avLst/>
          </a:prstGeom>
          <a:ln>
            <a:solidFill>
              <a:schemeClr val="bg2">
                <a:lumMod val="90000"/>
              </a:schemeClr>
            </a:solidFill>
          </a:ln>
        </p:spPr>
      </p:pic>
      <p:pic>
        <p:nvPicPr>
          <p:cNvPr id="11" name="図 10">
            <a:extLst>
              <a:ext uri="{FF2B5EF4-FFF2-40B4-BE49-F238E27FC236}">
                <a16:creationId xmlns:a16="http://schemas.microsoft.com/office/drawing/2014/main" id="{62D2FF3F-4A0F-70CB-1B65-3013D680ED29}"/>
              </a:ext>
            </a:extLst>
          </p:cNvPr>
          <p:cNvPicPr>
            <a:picLocks noChangeAspect="1"/>
          </p:cNvPicPr>
          <p:nvPr/>
        </p:nvPicPr>
        <p:blipFill>
          <a:blip r:embed="rId4"/>
          <a:stretch>
            <a:fillRect/>
          </a:stretch>
        </p:blipFill>
        <p:spPr>
          <a:xfrm>
            <a:off x="969179" y="4743663"/>
            <a:ext cx="4010585" cy="1076475"/>
          </a:xfrm>
          <a:prstGeom prst="rect">
            <a:avLst/>
          </a:prstGeom>
          <a:ln>
            <a:solidFill>
              <a:schemeClr val="bg2">
                <a:lumMod val="90000"/>
              </a:schemeClr>
            </a:solidFill>
          </a:ln>
        </p:spPr>
      </p:pic>
      <p:pic>
        <p:nvPicPr>
          <p:cNvPr id="14" name="図 13">
            <a:extLst>
              <a:ext uri="{FF2B5EF4-FFF2-40B4-BE49-F238E27FC236}">
                <a16:creationId xmlns:a16="http://schemas.microsoft.com/office/drawing/2014/main" id="{F8136BB5-B267-C1C8-D8D1-C5FB789F97D2}"/>
              </a:ext>
            </a:extLst>
          </p:cNvPr>
          <p:cNvPicPr>
            <a:picLocks noChangeAspect="1"/>
          </p:cNvPicPr>
          <p:nvPr/>
        </p:nvPicPr>
        <p:blipFill>
          <a:blip r:embed="rId5"/>
          <a:stretch>
            <a:fillRect/>
          </a:stretch>
        </p:blipFill>
        <p:spPr>
          <a:xfrm>
            <a:off x="2473255" y="5933427"/>
            <a:ext cx="2686425" cy="333422"/>
          </a:xfrm>
          <a:prstGeom prst="rect">
            <a:avLst/>
          </a:prstGeom>
          <a:ln>
            <a:solidFill>
              <a:schemeClr val="bg2">
                <a:lumMod val="90000"/>
              </a:schemeClr>
            </a:solidFill>
          </a:ln>
        </p:spPr>
      </p:pic>
      <p:cxnSp>
        <p:nvCxnSpPr>
          <p:cNvPr id="13" name="直線矢印コネクタ 12">
            <a:extLst>
              <a:ext uri="{FF2B5EF4-FFF2-40B4-BE49-F238E27FC236}">
                <a16:creationId xmlns:a16="http://schemas.microsoft.com/office/drawing/2014/main" id="{74FF8975-518B-E7D8-023D-CCCCAEBC6F95}"/>
              </a:ext>
            </a:extLst>
          </p:cNvPr>
          <p:cNvCxnSpPr>
            <a:cxnSpLocks/>
          </p:cNvCxnSpPr>
          <p:nvPr/>
        </p:nvCxnSpPr>
        <p:spPr>
          <a:xfrm>
            <a:off x="2137144" y="5949165"/>
            <a:ext cx="296635" cy="185085"/>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 name="楕円 17">
            <a:extLst>
              <a:ext uri="{FF2B5EF4-FFF2-40B4-BE49-F238E27FC236}">
                <a16:creationId xmlns:a16="http://schemas.microsoft.com/office/drawing/2014/main" id="{F6A9EA3D-B8D6-066F-4A21-F62285C44CB5}"/>
              </a:ext>
            </a:extLst>
          </p:cNvPr>
          <p:cNvSpPr/>
          <p:nvPr/>
        </p:nvSpPr>
        <p:spPr>
          <a:xfrm>
            <a:off x="5603470" y="4354030"/>
            <a:ext cx="252293" cy="235472"/>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tIns="90000" rtlCol="0" anchor="ctr"/>
          <a:lstStyle/>
          <a:p>
            <a:pPr algn="ctr"/>
            <a:r>
              <a:rPr lang="ja-JP" altLang="en-US" dirty="0">
                <a:latin typeface="メイリオ" panose="020B0604030504040204" pitchFamily="50" charset="-128"/>
                <a:ea typeface="メイリオ" panose="020B0604030504040204" pitchFamily="50" charset="-128"/>
              </a:rPr>
              <a:t>４</a:t>
            </a:r>
            <a:endParaRPr kumimoji="1" lang="en-US" altLang="ja-JP" dirty="0">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9052F936-85B4-C6D6-0DB4-8617D3393DF1}"/>
              </a:ext>
            </a:extLst>
          </p:cNvPr>
          <p:cNvSpPr/>
          <p:nvPr/>
        </p:nvSpPr>
        <p:spPr>
          <a:xfrm>
            <a:off x="7570064" y="1289622"/>
            <a:ext cx="3458902" cy="2287518"/>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200" dirty="0">
                <a:solidFill>
                  <a:schemeClr val="tx1"/>
                </a:solidFill>
              </a:rPr>
              <a:t>while</a:t>
            </a:r>
            <a:r>
              <a:rPr lang="ja-JP" altLang="en-US" sz="1200" dirty="0">
                <a:solidFill>
                  <a:schemeClr val="tx1"/>
                </a:solidFill>
              </a:rPr>
              <a:t>文</a:t>
            </a:r>
            <a:endParaRPr lang="en-US" altLang="ja-JP" sz="1200" dirty="0">
              <a:solidFill>
                <a:schemeClr val="tx1"/>
              </a:solidFill>
            </a:endParaRPr>
          </a:p>
          <a:p>
            <a:r>
              <a:rPr lang="ja-JP" altLang="en-US" sz="1200" dirty="0">
                <a:solidFill>
                  <a:schemeClr val="tx1"/>
                </a:solidFill>
              </a:rPr>
              <a:t>条件が</a:t>
            </a:r>
            <a:r>
              <a:rPr lang="en-US" altLang="ja-JP" sz="1200" dirty="0">
                <a:solidFill>
                  <a:schemeClr val="tx1"/>
                </a:solidFill>
              </a:rPr>
              <a:t>TRUE</a:t>
            </a:r>
            <a:r>
              <a:rPr lang="ja-JP" altLang="en-US" sz="1200" dirty="0">
                <a:solidFill>
                  <a:schemeClr val="tx1"/>
                </a:solidFill>
              </a:rPr>
              <a:t>である限りループを続ける</a:t>
            </a:r>
            <a:endParaRPr lang="en-US" altLang="ja-JP" sz="1200" dirty="0">
              <a:solidFill>
                <a:schemeClr val="tx1"/>
              </a:solidFill>
            </a:endParaRPr>
          </a:p>
          <a:p>
            <a:endParaRPr lang="en-US" altLang="ja-JP" sz="1200" dirty="0">
              <a:solidFill>
                <a:schemeClr val="tx1"/>
              </a:solidFill>
            </a:endParaRPr>
          </a:p>
        </p:txBody>
      </p:sp>
      <p:sp>
        <p:nvSpPr>
          <p:cNvPr id="22" name="正方形/長方形 21">
            <a:extLst>
              <a:ext uri="{FF2B5EF4-FFF2-40B4-BE49-F238E27FC236}">
                <a16:creationId xmlns:a16="http://schemas.microsoft.com/office/drawing/2014/main" id="{35E93972-6993-B14B-7DEE-6EF172B5C013}"/>
              </a:ext>
            </a:extLst>
          </p:cNvPr>
          <p:cNvSpPr/>
          <p:nvPr/>
        </p:nvSpPr>
        <p:spPr>
          <a:xfrm>
            <a:off x="7561422" y="3866775"/>
            <a:ext cx="3458901" cy="2723143"/>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ja-JP" sz="1200" dirty="0">
                <a:solidFill>
                  <a:schemeClr val="tx1"/>
                </a:solidFill>
              </a:rPr>
              <a:t>repeat</a:t>
            </a:r>
            <a:r>
              <a:rPr lang="ja-JP" altLang="en-US" sz="1200" dirty="0">
                <a:solidFill>
                  <a:schemeClr val="tx1"/>
                </a:solidFill>
              </a:rPr>
              <a:t>文</a:t>
            </a:r>
            <a:endParaRPr lang="en-US" altLang="ja-JP" sz="1200" dirty="0">
              <a:solidFill>
                <a:schemeClr val="tx1"/>
              </a:solidFill>
            </a:endParaRPr>
          </a:p>
          <a:p>
            <a:r>
              <a:rPr lang="en-US" altLang="ja-JP" sz="1200" dirty="0">
                <a:solidFill>
                  <a:schemeClr val="tx1"/>
                </a:solidFill>
              </a:rPr>
              <a:t>break</a:t>
            </a:r>
            <a:r>
              <a:rPr lang="ja-JP" altLang="en-US" sz="1200" dirty="0">
                <a:solidFill>
                  <a:schemeClr val="tx1"/>
                </a:solidFill>
              </a:rPr>
              <a:t>に行き当たるまで」ループを続ける</a:t>
            </a:r>
            <a:endParaRPr lang="en-US" altLang="ja-JP" sz="1200" dirty="0">
              <a:solidFill>
                <a:schemeClr val="tx1"/>
              </a:solidFill>
            </a:endParaRPr>
          </a:p>
          <a:p>
            <a:endParaRPr lang="en-US" altLang="ja-JP" sz="1200" dirty="0">
              <a:solidFill>
                <a:schemeClr val="tx1"/>
              </a:solidFill>
            </a:endParaRPr>
          </a:p>
        </p:txBody>
      </p:sp>
      <p:pic>
        <p:nvPicPr>
          <p:cNvPr id="24" name="図 23">
            <a:extLst>
              <a:ext uri="{FF2B5EF4-FFF2-40B4-BE49-F238E27FC236}">
                <a16:creationId xmlns:a16="http://schemas.microsoft.com/office/drawing/2014/main" id="{4F15AC93-50D4-BCBF-A820-83E52CBE3A61}"/>
              </a:ext>
            </a:extLst>
          </p:cNvPr>
          <p:cNvPicPr>
            <a:picLocks noChangeAspect="1"/>
          </p:cNvPicPr>
          <p:nvPr/>
        </p:nvPicPr>
        <p:blipFill>
          <a:blip r:embed="rId6"/>
          <a:stretch>
            <a:fillRect/>
          </a:stretch>
        </p:blipFill>
        <p:spPr>
          <a:xfrm>
            <a:off x="7651110" y="1728922"/>
            <a:ext cx="3219899" cy="1743318"/>
          </a:xfrm>
          <a:prstGeom prst="rect">
            <a:avLst/>
          </a:prstGeom>
        </p:spPr>
      </p:pic>
      <p:pic>
        <p:nvPicPr>
          <p:cNvPr id="27" name="図 26">
            <a:extLst>
              <a:ext uri="{FF2B5EF4-FFF2-40B4-BE49-F238E27FC236}">
                <a16:creationId xmlns:a16="http://schemas.microsoft.com/office/drawing/2014/main" id="{86D0B0DF-1F85-CAE9-F900-2C00D7FEF9E5}"/>
              </a:ext>
            </a:extLst>
          </p:cNvPr>
          <p:cNvPicPr>
            <a:picLocks noChangeAspect="1"/>
          </p:cNvPicPr>
          <p:nvPr/>
        </p:nvPicPr>
        <p:blipFill>
          <a:blip r:embed="rId7"/>
          <a:stretch>
            <a:fillRect/>
          </a:stretch>
        </p:blipFill>
        <p:spPr>
          <a:xfrm>
            <a:off x="7641933" y="4299049"/>
            <a:ext cx="3315163" cy="2172003"/>
          </a:xfrm>
          <a:prstGeom prst="rect">
            <a:avLst/>
          </a:prstGeom>
        </p:spPr>
      </p:pic>
      <p:cxnSp>
        <p:nvCxnSpPr>
          <p:cNvPr id="31" name="直線コネクタ 30">
            <a:extLst>
              <a:ext uri="{FF2B5EF4-FFF2-40B4-BE49-F238E27FC236}">
                <a16:creationId xmlns:a16="http://schemas.microsoft.com/office/drawing/2014/main" id="{3C67F2C0-FDF6-9C27-972D-E0814EC11110}"/>
              </a:ext>
            </a:extLst>
          </p:cNvPr>
          <p:cNvCxnSpPr>
            <a:cxnSpLocks/>
          </p:cNvCxnSpPr>
          <p:nvPr/>
        </p:nvCxnSpPr>
        <p:spPr>
          <a:xfrm flipV="1">
            <a:off x="7187452" y="1289622"/>
            <a:ext cx="0" cy="5283198"/>
          </a:xfrm>
          <a:prstGeom prst="line">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71480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D3C1F12C-BF8C-9C8F-D21F-9B097050642C}"/>
              </a:ext>
            </a:extLst>
          </p:cNvPr>
          <p:cNvSpPr/>
          <p:nvPr/>
        </p:nvSpPr>
        <p:spPr>
          <a:xfrm>
            <a:off x="5798311" y="45985"/>
            <a:ext cx="6078256" cy="6766029"/>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９章　ループ　最終コード</a:t>
            </a:r>
          </a:p>
        </p:txBody>
      </p:sp>
      <p:sp>
        <p:nvSpPr>
          <p:cNvPr id="3" name="正方形/長方形 2">
            <a:extLst>
              <a:ext uri="{FF2B5EF4-FFF2-40B4-BE49-F238E27FC236}">
                <a16:creationId xmlns:a16="http://schemas.microsoft.com/office/drawing/2014/main" id="{EA726E9A-04B9-6624-7FD8-5C18812D3E24}"/>
              </a:ext>
            </a:extLst>
          </p:cNvPr>
          <p:cNvSpPr/>
          <p:nvPr/>
        </p:nvSpPr>
        <p:spPr>
          <a:xfrm>
            <a:off x="528181" y="1084672"/>
            <a:ext cx="10540261" cy="572734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pic>
        <p:nvPicPr>
          <p:cNvPr id="9" name="図 8">
            <a:extLst>
              <a:ext uri="{FF2B5EF4-FFF2-40B4-BE49-F238E27FC236}">
                <a16:creationId xmlns:a16="http://schemas.microsoft.com/office/drawing/2014/main" id="{397E533F-47CB-95D4-B33A-204A63518067}"/>
              </a:ext>
            </a:extLst>
          </p:cNvPr>
          <p:cNvPicPr>
            <a:picLocks noChangeAspect="1"/>
          </p:cNvPicPr>
          <p:nvPr/>
        </p:nvPicPr>
        <p:blipFill>
          <a:blip r:embed="rId2"/>
          <a:stretch>
            <a:fillRect/>
          </a:stretch>
        </p:blipFill>
        <p:spPr>
          <a:xfrm>
            <a:off x="653058" y="1624740"/>
            <a:ext cx="5020376" cy="4601217"/>
          </a:xfrm>
          <a:prstGeom prst="rect">
            <a:avLst/>
          </a:prstGeom>
          <a:ln>
            <a:solidFill>
              <a:schemeClr val="bg2">
                <a:lumMod val="90000"/>
              </a:schemeClr>
            </a:solidFill>
          </a:ln>
        </p:spPr>
      </p:pic>
      <p:pic>
        <p:nvPicPr>
          <p:cNvPr id="12" name="図 11">
            <a:extLst>
              <a:ext uri="{FF2B5EF4-FFF2-40B4-BE49-F238E27FC236}">
                <a16:creationId xmlns:a16="http://schemas.microsoft.com/office/drawing/2014/main" id="{3D3DEEFF-4A94-9348-DBBE-7C3CC58D1F37}"/>
              </a:ext>
            </a:extLst>
          </p:cNvPr>
          <p:cNvPicPr>
            <a:picLocks noChangeAspect="1"/>
          </p:cNvPicPr>
          <p:nvPr/>
        </p:nvPicPr>
        <p:blipFill>
          <a:blip r:embed="rId3"/>
          <a:stretch>
            <a:fillRect/>
          </a:stretch>
        </p:blipFill>
        <p:spPr>
          <a:xfrm>
            <a:off x="5983448" y="118599"/>
            <a:ext cx="5706271" cy="6620799"/>
          </a:xfrm>
          <a:prstGeom prst="rect">
            <a:avLst/>
          </a:prstGeom>
          <a:ln>
            <a:solidFill>
              <a:schemeClr val="bg2">
                <a:lumMod val="90000"/>
              </a:schemeClr>
            </a:solidFill>
          </a:ln>
        </p:spPr>
      </p:pic>
    </p:spTree>
    <p:extLst>
      <p:ext uri="{BB962C8B-B14F-4D97-AF65-F5344CB8AC3E}">
        <p14:creationId xmlns:p14="http://schemas.microsoft.com/office/powerpoint/2010/main" val="510323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fontScale="90000"/>
          </a:bodyPr>
          <a:lstStyle/>
          <a:p>
            <a:pPr algn="l"/>
            <a:r>
              <a:rPr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１０</a:t>
            </a:r>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章　スピード</a:t>
            </a:r>
            <a:r>
              <a:rPr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　フローチャート</a:t>
            </a:r>
            <a:endPar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78782C7-6070-7C3A-DAB7-3101F4C6ED5C}"/>
              </a:ext>
            </a:extLst>
          </p:cNvPr>
          <p:cNvSpPr/>
          <p:nvPr/>
        </p:nvSpPr>
        <p:spPr>
          <a:xfrm>
            <a:off x="884439" y="1097282"/>
            <a:ext cx="10613447" cy="5528957"/>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solidFill>
                <a:schemeClr val="tx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9753955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１０</a:t>
            </a:r>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章　</a:t>
            </a:r>
            <a:r>
              <a:rPr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スピード</a:t>
            </a:r>
            <a:endPar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78782C7-6070-7C3A-DAB7-3101F4C6ED5C}"/>
              </a:ext>
            </a:extLst>
          </p:cNvPr>
          <p:cNvSpPr/>
          <p:nvPr/>
        </p:nvSpPr>
        <p:spPr>
          <a:xfrm>
            <a:off x="658169" y="1098587"/>
            <a:ext cx="10540261" cy="552895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
        <p:nvSpPr>
          <p:cNvPr id="6" name="正方形/長方形 5">
            <a:extLst>
              <a:ext uri="{FF2B5EF4-FFF2-40B4-BE49-F238E27FC236}">
                <a16:creationId xmlns:a16="http://schemas.microsoft.com/office/drawing/2014/main" id="{75CE81D2-C5EE-4E63-DA6F-4D50A6E33162}"/>
              </a:ext>
            </a:extLst>
          </p:cNvPr>
          <p:cNvSpPr/>
          <p:nvPr/>
        </p:nvSpPr>
        <p:spPr>
          <a:xfrm>
            <a:off x="8561647" y="1263081"/>
            <a:ext cx="2391170" cy="1183629"/>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lang="en-US" altLang="ja-JP" sz="1000" dirty="0">
              <a:solidFill>
                <a:schemeClr val="tx1"/>
              </a:solidFill>
            </a:endParaRPr>
          </a:p>
        </p:txBody>
      </p:sp>
      <p:sp>
        <p:nvSpPr>
          <p:cNvPr id="3" name="字幕 2">
            <a:extLst>
              <a:ext uri="{FF2B5EF4-FFF2-40B4-BE49-F238E27FC236}">
                <a16:creationId xmlns:a16="http://schemas.microsoft.com/office/drawing/2014/main" id="{EF422FEA-2F34-70ED-56A9-01A65A2AD142}"/>
              </a:ext>
            </a:extLst>
          </p:cNvPr>
          <p:cNvSpPr>
            <a:spLocks noGrp="1"/>
          </p:cNvSpPr>
          <p:nvPr>
            <p:ph type="subTitle" idx="1"/>
          </p:nvPr>
        </p:nvSpPr>
        <p:spPr>
          <a:xfrm>
            <a:off x="682560" y="1143635"/>
            <a:ext cx="9391483" cy="5446283"/>
          </a:xfrm>
        </p:spPr>
        <p:txBody>
          <a:bodyPr>
            <a:normAutofit/>
          </a:bodyPr>
          <a:lstStyle/>
          <a:p>
            <a:pPr algn="l"/>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a:t>
            </a:r>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a:t>
            </a:r>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1200" dirty="0">
                <a:latin typeface="メイリオ" panose="020B0604030504040204" pitchFamily="50" charset="-128"/>
                <a:ea typeface="メイリオ" panose="020B0604030504040204" pitchFamily="50" charset="-128"/>
              </a:rPr>
              <a:t>変数名：</a:t>
            </a:r>
            <a:endParaRPr lang="en-US" altLang="ja-JP" sz="1200" dirty="0">
              <a:latin typeface="メイリオ" panose="020B0604030504040204" pitchFamily="50" charset="-128"/>
              <a:ea typeface="メイリオ" panose="020B0604030504040204" pitchFamily="50" charset="-128"/>
            </a:endParaRPr>
          </a:p>
        </p:txBody>
      </p:sp>
      <p:cxnSp>
        <p:nvCxnSpPr>
          <p:cNvPr id="13" name="直線矢印コネクタ 12">
            <a:extLst>
              <a:ext uri="{FF2B5EF4-FFF2-40B4-BE49-F238E27FC236}">
                <a16:creationId xmlns:a16="http://schemas.microsoft.com/office/drawing/2014/main" id="{74FF8975-518B-E7D8-023D-CCCCAEBC6F95}"/>
              </a:ext>
            </a:extLst>
          </p:cNvPr>
          <p:cNvCxnSpPr>
            <a:cxnSpLocks/>
          </p:cNvCxnSpPr>
          <p:nvPr/>
        </p:nvCxnSpPr>
        <p:spPr>
          <a:xfrm>
            <a:off x="4548393" y="1472982"/>
            <a:ext cx="581891" cy="0"/>
          </a:xfrm>
          <a:prstGeom prst="straightConnector1">
            <a:avLst/>
          </a:prstGeom>
          <a:ln w="571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883931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１０</a:t>
            </a:r>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章　スピード　最終コード</a:t>
            </a:r>
          </a:p>
        </p:txBody>
      </p:sp>
      <p:sp>
        <p:nvSpPr>
          <p:cNvPr id="11" name="正方形/長方形 10">
            <a:extLst>
              <a:ext uri="{FF2B5EF4-FFF2-40B4-BE49-F238E27FC236}">
                <a16:creationId xmlns:a16="http://schemas.microsoft.com/office/drawing/2014/main" id="{661A3A95-316A-208D-1006-9B4CAF8277CA}"/>
              </a:ext>
            </a:extLst>
          </p:cNvPr>
          <p:cNvSpPr/>
          <p:nvPr/>
        </p:nvSpPr>
        <p:spPr>
          <a:xfrm>
            <a:off x="528181" y="892099"/>
            <a:ext cx="11135638" cy="5965902"/>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Tree>
    <p:extLst>
      <p:ext uri="{BB962C8B-B14F-4D97-AF65-F5344CB8AC3E}">
        <p14:creationId xmlns:p14="http://schemas.microsoft.com/office/powerpoint/2010/main" val="11346859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疑問点</a:t>
            </a:r>
          </a:p>
        </p:txBody>
      </p:sp>
      <p:sp>
        <p:nvSpPr>
          <p:cNvPr id="4" name="正方形/長方形 3">
            <a:extLst>
              <a:ext uri="{FF2B5EF4-FFF2-40B4-BE49-F238E27FC236}">
                <a16:creationId xmlns:a16="http://schemas.microsoft.com/office/drawing/2014/main" id="{578782C7-6070-7C3A-DAB7-3101F4C6ED5C}"/>
              </a:ext>
            </a:extLst>
          </p:cNvPr>
          <p:cNvSpPr/>
          <p:nvPr/>
        </p:nvSpPr>
        <p:spPr>
          <a:xfrm>
            <a:off x="884439" y="1109610"/>
            <a:ext cx="9440262" cy="5528957"/>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
        <p:nvSpPr>
          <p:cNvPr id="3" name="字幕 2">
            <a:extLst>
              <a:ext uri="{FF2B5EF4-FFF2-40B4-BE49-F238E27FC236}">
                <a16:creationId xmlns:a16="http://schemas.microsoft.com/office/drawing/2014/main" id="{EF422FEA-2F34-70ED-56A9-01A65A2AD142}"/>
              </a:ext>
            </a:extLst>
          </p:cNvPr>
          <p:cNvSpPr>
            <a:spLocks noGrp="1"/>
          </p:cNvSpPr>
          <p:nvPr>
            <p:ph type="subTitle" idx="1"/>
          </p:nvPr>
        </p:nvSpPr>
        <p:spPr>
          <a:xfrm>
            <a:off x="884439" y="1097282"/>
            <a:ext cx="9391483" cy="5446283"/>
          </a:xfrm>
        </p:spPr>
        <p:txBody>
          <a:bodyPr>
            <a:normAutofit/>
          </a:bodyPr>
          <a:lstStyle/>
          <a:p>
            <a:pPr algn="l"/>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配列の順番が０からではない理由</a:t>
            </a:r>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kumimoji="1" lang="en-US" altLang="ja-JP" sz="2000" dirty="0" err="1">
                <a:solidFill>
                  <a:schemeClr val="accent4">
                    <a:lumMod val="75000"/>
                  </a:schemeClr>
                </a:solidFill>
                <a:latin typeface="メイリオ" panose="020B0604030504040204" pitchFamily="50" charset="-128"/>
                <a:ea typeface="メイリオ" panose="020B0604030504040204" pitchFamily="50" charset="-128"/>
              </a:rPr>
              <a:t>R,Python</a:t>
            </a:r>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が肩を宣言する必要がない共通点に関して</a:t>
            </a:r>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rPr>
              <a:t>A,B,C </a:t>
            </a:r>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と</a:t>
            </a:r>
            <a:r>
              <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rPr>
              <a:t>B,A</a:t>
            </a:r>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,C</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が出てくるが、これを一つにまとめる方法はないのか。（後で考える）</a:t>
            </a:r>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kumimoji="1" lang="ja-JP" altLang="en-US" sz="2000" dirty="0">
                <a:solidFill>
                  <a:srgbClr val="C00000"/>
                </a:solidFill>
                <a:latin typeface="メイリオ" panose="020B0604030504040204" pitchFamily="50" charset="-128"/>
                <a:ea typeface="メイリオ" panose="020B0604030504040204" pitchFamily="50" charset="-128"/>
              </a:rPr>
              <a:t>あとで！！！</a:t>
            </a:r>
            <a:r>
              <a:rPr kumimoji="1" lang="en-US" altLang="ja-JP" sz="2000" dirty="0">
                <a:solidFill>
                  <a:srgbClr val="C00000"/>
                </a:solidFill>
                <a:latin typeface="メイリオ" panose="020B0604030504040204" pitchFamily="50" charset="-128"/>
                <a:ea typeface="メイリオ" panose="020B0604030504040204" pitchFamily="50" charset="-128"/>
              </a:rPr>
              <a:t>Factor</a:t>
            </a:r>
            <a:r>
              <a:rPr kumimoji="1" lang="ja-JP" altLang="en-US" sz="2000" dirty="0">
                <a:solidFill>
                  <a:srgbClr val="C00000"/>
                </a:solidFill>
                <a:latin typeface="メイリオ" panose="020B0604030504040204" pitchFamily="50" charset="-128"/>
                <a:ea typeface="メイリオ" panose="020B0604030504040204" pitchFamily="50" charset="-128"/>
              </a:rPr>
              <a:t>！！！絶対調べる！！！！</a:t>
            </a:r>
            <a:endParaRPr kumimoji="1" lang="en-US" altLang="ja-JP" sz="2000" dirty="0">
              <a:solidFill>
                <a:srgbClr val="C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1352438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感想</a:t>
            </a:r>
          </a:p>
        </p:txBody>
      </p:sp>
      <p:sp>
        <p:nvSpPr>
          <p:cNvPr id="4" name="正方形/長方形 3">
            <a:extLst>
              <a:ext uri="{FF2B5EF4-FFF2-40B4-BE49-F238E27FC236}">
                <a16:creationId xmlns:a16="http://schemas.microsoft.com/office/drawing/2014/main" id="{578782C7-6070-7C3A-DAB7-3101F4C6ED5C}"/>
              </a:ext>
            </a:extLst>
          </p:cNvPr>
          <p:cNvSpPr/>
          <p:nvPr/>
        </p:nvSpPr>
        <p:spPr>
          <a:xfrm>
            <a:off x="884439" y="1109610"/>
            <a:ext cx="9440262" cy="5528957"/>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
        <p:nvSpPr>
          <p:cNvPr id="3" name="字幕 2">
            <a:extLst>
              <a:ext uri="{FF2B5EF4-FFF2-40B4-BE49-F238E27FC236}">
                <a16:creationId xmlns:a16="http://schemas.microsoft.com/office/drawing/2014/main" id="{EF422FEA-2F34-70ED-56A9-01A65A2AD142}"/>
              </a:ext>
            </a:extLst>
          </p:cNvPr>
          <p:cNvSpPr>
            <a:spLocks noGrp="1"/>
          </p:cNvSpPr>
          <p:nvPr>
            <p:ph type="subTitle" idx="1"/>
          </p:nvPr>
        </p:nvSpPr>
        <p:spPr>
          <a:xfrm>
            <a:off x="884439" y="1097282"/>
            <a:ext cx="9391483" cy="5446283"/>
          </a:xfrm>
        </p:spPr>
        <p:txBody>
          <a:bodyPr>
            <a:normAutofit/>
          </a:bodyPr>
          <a:lstStyle/>
          <a:p>
            <a:pPr algn="l"/>
            <a:r>
              <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rPr>
              <a:t>Cherries</a:t>
            </a:r>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の点数を場合分けする際、</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添字操作を利用して、７行の</a:t>
            </a:r>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if</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文を１行に短縮できたことに感動した。</a:t>
            </a:r>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218</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行目 確率が起こるときの項目</a:t>
            </a:r>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DD,BB</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などを指定しておくと、あとから</a:t>
            </a:r>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combos$prob1</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に代入するときに、</a:t>
            </a:r>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prob[combos$Var1]</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のように取り出せるのはすごいと思った。配列の</a:t>
            </a:r>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0,1,2,…</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が</a:t>
            </a:r>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DD,7,BBB</a:t>
            </a:r>
          </a:p>
          <a:p>
            <a:pPr algn="l"/>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rPr>
              <a:t>cat() print()</a:t>
            </a:r>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でどちらも表示するが、表示の目的やコードの扱い方が違うのが面白いと感じた</a:t>
            </a:r>
          </a:p>
        </p:txBody>
      </p:sp>
    </p:spTree>
    <p:extLst>
      <p:ext uri="{BB962C8B-B14F-4D97-AF65-F5344CB8AC3E}">
        <p14:creationId xmlns:p14="http://schemas.microsoft.com/office/powerpoint/2010/main" val="8785945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92D15D-6ED6-F1E2-415D-C5D0D0CAAC83}"/>
              </a:ext>
            </a:extLst>
          </p:cNvPr>
          <p:cNvSpPr>
            <a:spLocks noGrp="1"/>
          </p:cNvSpPr>
          <p:nvPr>
            <p:ph type="ctrTitle"/>
          </p:nvPr>
        </p:nvSpPr>
        <p:spPr>
          <a:xfrm>
            <a:off x="528181" y="314435"/>
            <a:ext cx="5891408" cy="700173"/>
          </a:xfrm>
        </p:spPr>
        <p:txBody>
          <a:bodyPr>
            <a:normAutofit/>
          </a:bodyPr>
          <a:lstStyle/>
          <a:p>
            <a:pPr algn="l"/>
            <a:r>
              <a:rPr kumimoji="1" lang="ja-JP" altLang="en-US" sz="3000" b="1" dirty="0">
                <a:solidFill>
                  <a:schemeClr val="tx1">
                    <a:lumMod val="65000"/>
                    <a:lumOff val="35000"/>
                  </a:schemeClr>
                </a:solidFill>
                <a:latin typeface="メイリオ" panose="020B0604030504040204" pitchFamily="50" charset="-128"/>
                <a:ea typeface="メイリオ" panose="020B0604030504040204" pitchFamily="50" charset="-128"/>
              </a:rPr>
              <a:t>参考文献</a:t>
            </a:r>
          </a:p>
        </p:txBody>
      </p:sp>
      <p:sp>
        <p:nvSpPr>
          <p:cNvPr id="4" name="正方形/長方形 3">
            <a:extLst>
              <a:ext uri="{FF2B5EF4-FFF2-40B4-BE49-F238E27FC236}">
                <a16:creationId xmlns:a16="http://schemas.microsoft.com/office/drawing/2014/main" id="{578782C7-6070-7C3A-DAB7-3101F4C6ED5C}"/>
              </a:ext>
            </a:extLst>
          </p:cNvPr>
          <p:cNvSpPr/>
          <p:nvPr/>
        </p:nvSpPr>
        <p:spPr>
          <a:xfrm>
            <a:off x="695629" y="1055944"/>
            <a:ext cx="10800742" cy="5528957"/>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kumimoji="1" lang="ja-JP" altLang="en-US" dirty="0"/>
          </a:p>
        </p:txBody>
      </p:sp>
      <p:sp>
        <p:nvSpPr>
          <p:cNvPr id="3" name="字幕 2">
            <a:extLst>
              <a:ext uri="{FF2B5EF4-FFF2-40B4-BE49-F238E27FC236}">
                <a16:creationId xmlns:a16="http://schemas.microsoft.com/office/drawing/2014/main" id="{EF422FEA-2F34-70ED-56A9-01A65A2AD142}"/>
              </a:ext>
            </a:extLst>
          </p:cNvPr>
          <p:cNvSpPr>
            <a:spLocks noGrp="1"/>
          </p:cNvSpPr>
          <p:nvPr>
            <p:ph type="subTitle" idx="1"/>
          </p:nvPr>
        </p:nvSpPr>
        <p:spPr>
          <a:xfrm>
            <a:off x="599936" y="1120674"/>
            <a:ext cx="10992128" cy="5446283"/>
          </a:xfrm>
        </p:spPr>
        <p:txBody>
          <a:bodyPr>
            <a:normAutofit/>
          </a:bodyPr>
          <a:lstStyle/>
          <a:p>
            <a:pPr algn="l"/>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a:t>
            </a:r>
            <a:r>
              <a:rPr kumimoji="1" lang="en-US" altLang="ja-JP" sz="2000" dirty="0" err="1">
                <a:solidFill>
                  <a:schemeClr val="accent4">
                    <a:lumMod val="75000"/>
                  </a:schemeClr>
                </a:solidFill>
                <a:latin typeface="メイリオ" panose="020B0604030504040204" pitchFamily="50" charset="-128"/>
                <a:ea typeface="メイリオ" panose="020B0604030504040204" pitchFamily="50" charset="-128"/>
              </a:rPr>
              <a:t>Qiita</a:t>
            </a:r>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a:t>
            </a:r>
            <a:r>
              <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hlinkClick r:id="rId2"/>
              </a:rPr>
              <a:t>https://qiita.com/</a:t>
            </a:r>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a:t>
            </a:r>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GitHub</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 </a:t>
            </a:r>
            <a:r>
              <a:rPr lang="en-US" altLang="ja-JP" sz="2000" dirty="0">
                <a:solidFill>
                  <a:schemeClr val="accent4">
                    <a:lumMod val="75000"/>
                  </a:schemeClr>
                </a:solidFill>
                <a:latin typeface="メイリオ" panose="020B0604030504040204" pitchFamily="50" charset="-128"/>
                <a:ea typeface="メイリオ" panose="020B0604030504040204" pitchFamily="50" charset="-128"/>
              </a:rPr>
              <a:t>Gist</a:t>
            </a:r>
            <a:r>
              <a:rPr lang="ja-JP" altLang="en-US" sz="2000" dirty="0">
                <a:solidFill>
                  <a:schemeClr val="accent4">
                    <a:lumMod val="75000"/>
                  </a:schemeClr>
                </a:solidFill>
                <a:latin typeface="メイリオ" panose="020B0604030504040204" pitchFamily="50" charset="-128"/>
                <a:ea typeface="メイリオ" panose="020B0604030504040204" pitchFamily="50" charset="-128"/>
              </a:rPr>
              <a:t>」</a:t>
            </a:r>
            <a:r>
              <a:rPr lang="en-US" altLang="ja-JP" sz="2000" dirty="0">
                <a:solidFill>
                  <a:schemeClr val="accent4">
                    <a:lumMod val="75000"/>
                  </a:schemeClr>
                </a:solidFill>
                <a:latin typeface="メイリオ" panose="020B0604030504040204" pitchFamily="50" charset="-128"/>
                <a:ea typeface="メイリオ" panose="020B0604030504040204" pitchFamily="50" charset="-128"/>
                <a:hlinkClick r:id="rId3"/>
              </a:rPr>
              <a:t>https://gist.github.com/</a:t>
            </a:r>
            <a:endParaRPr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a:t>
            </a:r>
            <a:r>
              <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rPr>
              <a:t>R</a:t>
            </a:r>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のオブジェクト」</a:t>
            </a:r>
            <a:r>
              <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hlinkClick r:id="rId4"/>
              </a:rPr>
              <a:t>https://www.slideshare.net/slideshow/r-14844056/14844056</a:t>
            </a:r>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「生物統計学」</a:t>
            </a:r>
            <a:r>
              <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hlinkClick r:id="rId5"/>
              </a:rPr>
              <a:t>https://stats.biopapyrus.jp/</a:t>
            </a:r>
            <a:endParaRPr kumimoji="1" lang="en-US" altLang="ja-JP" sz="2000" dirty="0">
              <a:solidFill>
                <a:schemeClr val="accent4">
                  <a:lumMod val="75000"/>
                </a:schemeClr>
              </a:solidFill>
              <a:latin typeface="メイリオ" panose="020B0604030504040204" pitchFamily="50" charset="-128"/>
              <a:ea typeface="メイリオ" panose="020B0604030504040204" pitchFamily="50" charset="-128"/>
            </a:endParaRPr>
          </a:p>
          <a:p>
            <a:pPr algn="l"/>
            <a:r>
              <a:rPr kumimoji="1" lang="ja-JP" altLang="en-US" sz="2000" dirty="0">
                <a:solidFill>
                  <a:schemeClr val="accent4">
                    <a:lumMod val="75000"/>
                  </a:schemeClr>
                </a:solidFill>
                <a:latin typeface="メイリオ" panose="020B0604030504040204" pitchFamily="50" charset="-128"/>
                <a:ea typeface="メイリオ" panose="020B0604030504040204" pitchFamily="50" charset="-128"/>
              </a:rPr>
              <a:t>「」</a:t>
            </a:r>
          </a:p>
        </p:txBody>
      </p:sp>
      <p:sp>
        <p:nvSpPr>
          <p:cNvPr id="6" name="テキスト ボックス 5">
            <a:extLst>
              <a:ext uri="{FF2B5EF4-FFF2-40B4-BE49-F238E27FC236}">
                <a16:creationId xmlns:a16="http://schemas.microsoft.com/office/drawing/2014/main" id="{56A009C1-7937-731F-2798-87A92781A584}"/>
              </a:ext>
            </a:extLst>
          </p:cNvPr>
          <p:cNvSpPr txBox="1"/>
          <p:nvPr/>
        </p:nvSpPr>
        <p:spPr>
          <a:xfrm>
            <a:off x="2792818" y="4498147"/>
            <a:ext cx="6096000" cy="1477328"/>
          </a:xfrm>
          <a:prstGeom prst="rect">
            <a:avLst/>
          </a:prstGeom>
          <a:noFill/>
        </p:spPr>
        <p:txBody>
          <a:bodyPr wrap="square">
            <a:spAutoFit/>
          </a:bodyPr>
          <a:lstStyle/>
          <a:p>
            <a:r>
              <a:rPr lang="en-US" altLang="ja-JP" dirty="0">
                <a:hlinkClick r:id="rId6"/>
              </a:rPr>
              <a:t>https://nakazakimasahito.wordpress.com/2020/06/01/r-stringsasfactors-false%E3%81%AB%E3%81%A4%E3%81%84%E3%81%A6%E3%80%80/</a:t>
            </a:r>
            <a:endParaRPr lang="en-US" altLang="ja-JP" dirty="0"/>
          </a:p>
          <a:p>
            <a:endParaRPr lang="ja-JP" altLang="en-US" dirty="0"/>
          </a:p>
        </p:txBody>
      </p:sp>
    </p:spTree>
    <p:extLst>
      <p:ext uri="{BB962C8B-B14F-4D97-AF65-F5344CB8AC3E}">
        <p14:creationId xmlns:p14="http://schemas.microsoft.com/office/powerpoint/2010/main" val="1234966581"/>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2195</TotalTime>
  <Words>2451</Words>
  <Application>Microsoft Office PowerPoint</Application>
  <PresentationFormat>ワイド画面</PresentationFormat>
  <Paragraphs>467</Paragraphs>
  <Slides>25</Slides>
  <Notes>6</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25</vt:i4>
      </vt:variant>
    </vt:vector>
  </HeadingPairs>
  <TitlesOfParts>
    <vt:vector size="31" baseType="lpstr">
      <vt:lpstr>メイリオ</vt:lpstr>
      <vt:lpstr>游ゴシック</vt:lpstr>
      <vt:lpstr>游ゴシック Light</vt:lpstr>
      <vt:lpstr>Arial</vt:lpstr>
      <vt:lpstr>Cambria Math</vt:lpstr>
      <vt:lpstr>Office テーマ</vt:lpstr>
      <vt:lpstr>「RStudioではじめる Rプログラミング入門」Ⅲ演習</vt:lpstr>
      <vt:lpstr>7章　プログラム　フローチャート</vt:lpstr>
      <vt:lpstr>7章　プログラム</vt:lpstr>
      <vt:lpstr>7章　プログラム</vt:lpstr>
      <vt:lpstr>7章　プログラム</vt:lpstr>
      <vt:lpstr>7章　プログラム</vt:lpstr>
      <vt:lpstr>7章　プログラム　最終コード</vt:lpstr>
      <vt:lpstr>８章　S３　フローチャート</vt:lpstr>
      <vt:lpstr>８章　S3</vt:lpstr>
      <vt:lpstr>８章　S3</vt:lpstr>
      <vt:lpstr>８章　S3</vt:lpstr>
      <vt:lpstr>８章　S３　最終コード</vt:lpstr>
      <vt:lpstr>9章　ループ　フローチャート</vt:lpstr>
      <vt:lpstr>９章　ループ</vt:lpstr>
      <vt:lpstr>９章　ループ</vt:lpstr>
      <vt:lpstr>９章　ループ</vt:lpstr>
      <vt:lpstr>９章　ループ</vt:lpstr>
      <vt:lpstr>９章　ループ</vt:lpstr>
      <vt:lpstr>９章　ループ　最終コード</vt:lpstr>
      <vt:lpstr>１０章　スピード　フローチャート</vt:lpstr>
      <vt:lpstr>１０章　スピード</vt:lpstr>
      <vt:lpstr>１０章　スピード　最終コード</vt:lpstr>
      <vt:lpstr>疑問点</vt:lpstr>
      <vt:lpstr>感想</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「RStudioではじめる Rプログラミング入門」Ⅲ演習</dc:title>
  <dc:creator>mei nagai</dc:creator>
  <cp:lastModifiedBy>mei nagai</cp:lastModifiedBy>
  <cp:revision>26</cp:revision>
  <dcterms:created xsi:type="dcterms:W3CDTF">2026-08-03T02:31:57Z</dcterms:created>
  <dcterms:modified xsi:type="dcterms:W3CDTF">2026-08-15T08:22:43Z</dcterms:modified>
</cp:coreProperties>
</file>