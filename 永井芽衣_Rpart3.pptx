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3" r:id="rId7"/>
    <p:sldId id="265" r:id="rId8"/>
    <p:sldId id="266" r:id="rId9"/>
    <p:sldId id="268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61" r:id="rId18"/>
    <p:sldId id="264" r:id="rId19"/>
    <p:sldId id="262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507C53-DDBA-4C39-810F-79174E2C0A1E}">
          <p14:sldIdLst>
            <p14:sldId id="256"/>
          </p14:sldIdLst>
        </p14:section>
        <p14:section name="７章　プログラム" id="{1C115149-0D30-4BF1-9951-0DACCA2449E7}">
          <p14:sldIdLst>
            <p14:sldId id="257"/>
            <p14:sldId id="260"/>
            <p14:sldId id="258"/>
            <p14:sldId id="259"/>
            <p14:sldId id="263"/>
            <p14:sldId id="265"/>
          </p14:sldIdLst>
        </p14:section>
        <p14:section name="８章　S3" id="{F58F4005-9CC6-4E48-B815-3BF56D9DF4E6}">
          <p14:sldIdLst>
            <p14:sldId id="266"/>
            <p14:sldId id="268"/>
            <p14:sldId id="267"/>
          </p14:sldIdLst>
        </p14:section>
        <p14:section name="９章　ループ" id="{6DA1671D-0978-45D5-BADC-53BD7A010EA2}">
          <p14:sldIdLst>
            <p14:sldId id="269"/>
            <p14:sldId id="270"/>
            <p14:sldId id="271"/>
          </p14:sldIdLst>
        </p14:section>
        <p14:section name="１０章　スピード" id="{EEBD476B-CC6C-4DDA-A2C9-186ED5188789}">
          <p14:sldIdLst>
            <p14:sldId id="272"/>
            <p14:sldId id="273"/>
            <p14:sldId id="274"/>
          </p14:sldIdLst>
        </p14:section>
        <p14:section name="まとめ" id="{FBAA46CE-E25C-4925-91C3-D8C76579CAEF}">
          <p14:sldIdLst>
            <p14:sldId id="261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1" autoAdjust="0"/>
    <p:restoredTop sz="93849" autoAdjust="0"/>
  </p:normalViewPr>
  <p:slideViewPr>
    <p:cSldViewPr snapToGrid="0">
      <p:cViewPr>
        <p:scale>
          <a:sx n="86" d="100"/>
          <a:sy n="86" d="100"/>
        </p:scale>
        <p:origin x="60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4" d="100"/>
        <a:sy n="164" d="100"/>
      </p:scale>
      <p:origin x="0" y="-59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RStudio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ではじめる</a:t>
            </a:r>
            <a:b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プログラミング入門」</a:t>
            </a:r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Ⅲ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演習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24510171 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永井芽衣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4D8CB1E0-CDD1-3E70-035D-4138389B2C1E}"/>
              </a:ext>
            </a:extLst>
          </p:cNvPr>
          <p:cNvGrpSpPr/>
          <p:nvPr/>
        </p:nvGrpSpPr>
        <p:grpSpPr>
          <a:xfrm>
            <a:off x="1055762" y="1174069"/>
            <a:ext cx="10694884" cy="4986701"/>
            <a:chOff x="1055762" y="1174069"/>
            <a:chExt cx="10694884" cy="4986701"/>
          </a:xfrm>
        </p:grpSpPr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BAC1B9FE-62F3-9C84-F8AC-C71DD85038C6}"/>
                </a:ext>
              </a:extLst>
            </p:cNvPr>
            <p:cNvSpPr/>
            <p:nvPr/>
          </p:nvSpPr>
          <p:spPr>
            <a:xfrm>
              <a:off x="5279543" y="1387047"/>
              <a:ext cx="5994305" cy="6615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4BF8BC5-C7B9-88B9-A4BA-560F05356197}"/>
                </a:ext>
              </a:extLst>
            </p:cNvPr>
            <p:cNvSpPr/>
            <p:nvPr/>
          </p:nvSpPr>
          <p:spPr>
            <a:xfrm>
              <a:off x="3656758" y="1350777"/>
              <a:ext cx="1981526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g</a:t>
              </a:r>
              <a:r>
                <a:rPr kumimoji="1"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et_symbols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1838668-DDD9-7462-47D5-6EE2976326DD}"/>
                </a:ext>
              </a:extLst>
            </p:cNvPr>
            <p:cNvSpPr/>
            <p:nvPr/>
          </p:nvSpPr>
          <p:spPr>
            <a:xfrm>
              <a:off x="1055762" y="1174069"/>
              <a:ext cx="1821857" cy="1063076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p</a:t>
              </a:r>
              <a:r>
                <a:rPr kumimoji="1"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lay()</a:t>
              </a: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・スロットを回す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・結果を表示する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・賞金を表示する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B64738DB-588E-F48A-09EB-7897AF28AB47}"/>
                </a:ext>
              </a:extLst>
            </p:cNvPr>
            <p:cNvSpPr/>
            <p:nvPr/>
          </p:nvSpPr>
          <p:spPr>
            <a:xfrm>
              <a:off x="4025621" y="2163217"/>
              <a:ext cx="4876799" cy="399755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55" name="四角形: 1 つの角を切り取る 54">
              <a:extLst>
                <a:ext uri="{FF2B5EF4-FFF2-40B4-BE49-F238E27FC236}">
                  <a16:creationId xmlns:a16="http://schemas.microsoft.com/office/drawing/2014/main" id="{F5FC2D68-11EE-D33F-D33E-6B56E56666C0}"/>
                </a:ext>
              </a:extLst>
            </p:cNvPr>
            <p:cNvSpPr/>
            <p:nvPr/>
          </p:nvSpPr>
          <p:spPr>
            <a:xfrm>
              <a:off x="7501128" y="2463440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7" name="四角形: 1 つの角を切り取る 56">
              <a:extLst>
                <a:ext uri="{FF2B5EF4-FFF2-40B4-BE49-F238E27FC236}">
                  <a16:creationId xmlns:a16="http://schemas.microsoft.com/office/drawing/2014/main" id="{0B45F663-4BA6-90F3-C32E-B0814FE4CD98}"/>
                </a:ext>
              </a:extLst>
            </p:cNvPr>
            <p:cNvSpPr/>
            <p:nvPr/>
          </p:nvSpPr>
          <p:spPr>
            <a:xfrm>
              <a:off x="7501127" y="26534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3" name="四角形: 1 つの角を切り取る 62">
              <a:extLst>
                <a:ext uri="{FF2B5EF4-FFF2-40B4-BE49-F238E27FC236}">
                  <a16:creationId xmlns:a16="http://schemas.microsoft.com/office/drawing/2014/main" id="{2E9625C1-7190-E045-D66E-6E968EECABC6}"/>
                </a:ext>
              </a:extLst>
            </p:cNvPr>
            <p:cNvSpPr/>
            <p:nvPr/>
          </p:nvSpPr>
          <p:spPr>
            <a:xfrm>
              <a:off x="7501126" y="2832671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四角形: 1 つの角を切り取る 63">
              <a:extLst>
                <a:ext uri="{FF2B5EF4-FFF2-40B4-BE49-F238E27FC236}">
                  <a16:creationId xmlns:a16="http://schemas.microsoft.com/office/drawing/2014/main" id="{DF3F242E-3192-03FA-7DB6-3E561B7E58CD}"/>
                </a:ext>
              </a:extLst>
            </p:cNvPr>
            <p:cNvSpPr/>
            <p:nvPr/>
          </p:nvSpPr>
          <p:spPr>
            <a:xfrm>
              <a:off x="7501126" y="302838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四角形: 1 つの角を切り取る 64">
              <a:extLst>
                <a:ext uri="{FF2B5EF4-FFF2-40B4-BE49-F238E27FC236}">
                  <a16:creationId xmlns:a16="http://schemas.microsoft.com/office/drawing/2014/main" id="{43D8C5BE-0ED6-21E5-31A4-C8447C2517EF}"/>
                </a:ext>
              </a:extLst>
            </p:cNvPr>
            <p:cNvSpPr/>
            <p:nvPr/>
          </p:nvSpPr>
          <p:spPr>
            <a:xfrm>
              <a:off x="7501125" y="322981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6" name="四角形: 1 つの角を切り取る 65">
              <a:extLst>
                <a:ext uri="{FF2B5EF4-FFF2-40B4-BE49-F238E27FC236}">
                  <a16:creationId xmlns:a16="http://schemas.microsoft.com/office/drawing/2014/main" id="{F2D423B9-2549-3574-4E74-860E89C84826}"/>
                </a:ext>
              </a:extLst>
            </p:cNvPr>
            <p:cNvSpPr/>
            <p:nvPr/>
          </p:nvSpPr>
          <p:spPr>
            <a:xfrm>
              <a:off x="7501125" y="360810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7" name="四角形: 1 つの角を切り取る 66">
              <a:extLst>
                <a:ext uri="{FF2B5EF4-FFF2-40B4-BE49-F238E27FC236}">
                  <a16:creationId xmlns:a16="http://schemas.microsoft.com/office/drawing/2014/main" id="{09E35380-23A9-7C61-ADA4-4A1087C5618E}"/>
                </a:ext>
              </a:extLst>
            </p:cNvPr>
            <p:cNvSpPr/>
            <p:nvPr/>
          </p:nvSpPr>
          <p:spPr>
            <a:xfrm>
              <a:off x="7501125" y="341713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9CB413F7-B0D0-2F0F-7D24-918989EEF7B1}"/>
                </a:ext>
              </a:extLst>
            </p:cNvPr>
            <p:cNvSpPr/>
            <p:nvPr/>
          </p:nvSpPr>
          <p:spPr>
            <a:xfrm>
              <a:off x="8309510" y="2448632"/>
              <a:ext cx="239224" cy="2472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4A3F7CA8-3869-EB46-BD86-A470D1D7DA40}"/>
                </a:ext>
              </a:extLst>
            </p:cNvPr>
            <p:cNvSpPr/>
            <p:nvPr/>
          </p:nvSpPr>
          <p:spPr>
            <a:xfrm>
              <a:off x="8309518" y="262361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4762FE60-638A-CB8B-C6FA-79CE029FFE93}"/>
                </a:ext>
              </a:extLst>
            </p:cNvPr>
            <p:cNvSpPr/>
            <p:nvPr/>
          </p:nvSpPr>
          <p:spPr>
            <a:xfrm>
              <a:off x="8309516" y="282693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7DA322F1-FE33-0D92-C2D9-621C10C48945}"/>
                </a:ext>
              </a:extLst>
            </p:cNvPr>
            <p:cNvSpPr/>
            <p:nvPr/>
          </p:nvSpPr>
          <p:spPr>
            <a:xfrm>
              <a:off x="8309514" y="3019449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B9766C58-12EF-E255-4C8D-ECFBED3B7E61}"/>
                </a:ext>
              </a:extLst>
            </p:cNvPr>
            <p:cNvSpPr/>
            <p:nvPr/>
          </p:nvSpPr>
          <p:spPr>
            <a:xfrm>
              <a:off x="8309512" y="3211967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79F5A771-CF34-B14F-B04C-8911DFC8530D}"/>
                </a:ext>
              </a:extLst>
            </p:cNvPr>
            <p:cNvSpPr/>
            <p:nvPr/>
          </p:nvSpPr>
          <p:spPr>
            <a:xfrm>
              <a:off x="8309510" y="3404485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54F6940D-B212-2C65-7151-E223153E5A45}"/>
                </a:ext>
              </a:extLst>
            </p:cNvPr>
            <p:cNvSpPr/>
            <p:nvPr/>
          </p:nvSpPr>
          <p:spPr>
            <a:xfrm>
              <a:off x="8309508" y="3597003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80F6F971-264B-9FC3-4436-B634BA5ED607}"/>
                </a:ext>
              </a:extLst>
            </p:cNvPr>
            <p:cNvSpPr txBox="1"/>
            <p:nvPr/>
          </p:nvSpPr>
          <p:spPr>
            <a:xfrm>
              <a:off x="8231294" y="24462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100</a:t>
              </a:r>
              <a:endParaRPr kumimoji="1" lang="ja-JP" altLang="en-US" sz="1000" dirty="0"/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1037D076-2928-DEB5-29FB-7EBACC85FB2F}"/>
                </a:ext>
              </a:extLst>
            </p:cNvPr>
            <p:cNvSpPr txBox="1"/>
            <p:nvPr/>
          </p:nvSpPr>
          <p:spPr>
            <a:xfrm>
              <a:off x="8204710" y="26429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a16:creationId xmlns:a16="http://schemas.microsoft.com/office/drawing/2014/main" id="{599F8AB0-3752-A8C5-9BD9-841BCAC9D134}"/>
                </a:ext>
              </a:extLst>
            </p:cNvPr>
            <p:cNvSpPr txBox="1"/>
            <p:nvPr/>
          </p:nvSpPr>
          <p:spPr>
            <a:xfrm>
              <a:off x="8209433" y="2827633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939ED5EB-4C01-6D32-6281-FB72C8F01D5B}"/>
                </a:ext>
              </a:extLst>
            </p:cNvPr>
            <p:cNvSpPr txBox="1"/>
            <p:nvPr/>
          </p:nvSpPr>
          <p:spPr>
            <a:xfrm>
              <a:off x="8204710" y="3033417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75982506-DEBA-EB5A-00A8-06E4CC4815EB}"/>
                </a:ext>
              </a:extLst>
            </p:cNvPr>
            <p:cNvSpPr txBox="1"/>
            <p:nvPr/>
          </p:nvSpPr>
          <p:spPr>
            <a:xfrm>
              <a:off x="8275605" y="3232140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6630C5C8-13C9-09BF-BFF8-E2D4F65AB017}"/>
                </a:ext>
              </a:extLst>
            </p:cNvPr>
            <p:cNvSpPr txBox="1"/>
            <p:nvPr/>
          </p:nvSpPr>
          <p:spPr>
            <a:xfrm>
              <a:off x="8275605" y="3417359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66DE0720-BB57-956D-4589-07802FB28C7C}"/>
                </a:ext>
              </a:extLst>
            </p:cNvPr>
            <p:cNvSpPr txBox="1"/>
            <p:nvPr/>
          </p:nvSpPr>
          <p:spPr>
            <a:xfrm>
              <a:off x="8309508" y="362427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BE3BA34-0125-FEB5-AC55-36932E0F86FC}"/>
                </a:ext>
              </a:extLst>
            </p:cNvPr>
            <p:cNvGrpSpPr/>
            <p:nvPr/>
          </p:nvGrpSpPr>
          <p:grpSpPr>
            <a:xfrm>
              <a:off x="7547375" y="4127765"/>
              <a:ext cx="267102" cy="256711"/>
              <a:chOff x="5562604" y="4114313"/>
              <a:chExt cx="267102" cy="256711"/>
            </a:xfrm>
          </p:grpSpPr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081A01CB-6889-3292-7902-F2946833787C}"/>
                  </a:ext>
                </a:extLst>
              </p:cNvPr>
              <p:cNvSpPr/>
              <p:nvPr/>
            </p:nvSpPr>
            <p:spPr>
              <a:xfrm>
                <a:off x="5597917" y="4114313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6E170F40-6CE8-16A2-D1EC-F3322FCD4876}"/>
                  </a:ext>
                </a:extLst>
              </p:cNvPr>
              <p:cNvSpPr txBox="1"/>
              <p:nvPr/>
            </p:nvSpPr>
            <p:spPr>
              <a:xfrm>
                <a:off x="5562604" y="412480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84" name="四角形: 1 つの角を切り取る 83">
              <a:extLst>
                <a:ext uri="{FF2B5EF4-FFF2-40B4-BE49-F238E27FC236}">
                  <a16:creationId xmlns:a16="http://schemas.microsoft.com/office/drawing/2014/main" id="{F149B5B5-E910-6D16-312A-8CA01E871792}"/>
                </a:ext>
              </a:extLst>
            </p:cNvPr>
            <p:cNvSpPr/>
            <p:nvPr/>
          </p:nvSpPr>
          <p:spPr>
            <a:xfrm>
              <a:off x="7541273" y="473898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87" name="四角形: 1 つの角を切り取る 86">
              <a:extLst>
                <a:ext uri="{FF2B5EF4-FFF2-40B4-BE49-F238E27FC236}">
                  <a16:creationId xmlns:a16="http://schemas.microsoft.com/office/drawing/2014/main" id="{628F28D1-7838-6394-21F3-DB481803537E}"/>
                </a:ext>
              </a:extLst>
            </p:cNvPr>
            <p:cNvSpPr/>
            <p:nvPr/>
          </p:nvSpPr>
          <p:spPr>
            <a:xfrm>
              <a:off x="7535726" y="49151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88" name="四角形: 1 つの角を切り取る 87">
              <a:extLst>
                <a:ext uri="{FF2B5EF4-FFF2-40B4-BE49-F238E27FC236}">
                  <a16:creationId xmlns:a16="http://schemas.microsoft.com/office/drawing/2014/main" id="{8A2BFF8D-E743-5E82-85C4-DC0658468AD3}"/>
                </a:ext>
              </a:extLst>
            </p:cNvPr>
            <p:cNvSpPr/>
            <p:nvPr/>
          </p:nvSpPr>
          <p:spPr>
            <a:xfrm>
              <a:off x="7541619" y="511088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89" name="楕円 88">
              <a:extLst>
                <a:ext uri="{FF2B5EF4-FFF2-40B4-BE49-F238E27FC236}">
                  <a16:creationId xmlns:a16="http://schemas.microsoft.com/office/drawing/2014/main" id="{8D2F2332-BEC2-BDF7-A3D6-DFDEC6194538}"/>
                </a:ext>
              </a:extLst>
            </p:cNvPr>
            <p:cNvSpPr/>
            <p:nvPr/>
          </p:nvSpPr>
          <p:spPr>
            <a:xfrm>
              <a:off x="8442359" y="512183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楕円 89">
              <a:extLst>
                <a:ext uri="{FF2B5EF4-FFF2-40B4-BE49-F238E27FC236}">
                  <a16:creationId xmlns:a16="http://schemas.microsoft.com/office/drawing/2014/main" id="{0FB22C20-C2DE-BE1E-39FF-61C113ED15F1}"/>
                </a:ext>
              </a:extLst>
            </p:cNvPr>
            <p:cNvSpPr/>
            <p:nvPr/>
          </p:nvSpPr>
          <p:spPr>
            <a:xfrm>
              <a:off x="8442359" y="4911035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楕円 90">
              <a:extLst>
                <a:ext uri="{FF2B5EF4-FFF2-40B4-BE49-F238E27FC236}">
                  <a16:creationId xmlns:a16="http://schemas.microsoft.com/office/drawing/2014/main" id="{D634C175-138D-A16F-D2F1-C7B6358A043B}"/>
                </a:ext>
              </a:extLst>
            </p:cNvPr>
            <p:cNvSpPr/>
            <p:nvPr/>
          </p:nvSpPr>
          <p:spPr>
            <a:xfrm>
              <a:off x="8452470" y="469388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a16:creationId xmlns:a16="http://schemas.microsoft.com/office/drawing/2014/main" id="{31ECA72C-BC49-1ECA-5D5F-03180288AA1D}"/>
                </a:ext>
              </a:extLst>
            </p:cNvPr>
            <p:cNvSpPr txBox="1"/>
            <p:nvPr/>
          </p:nvSpPr>
          <p:spPr>
            <a:xfrm>
              <a:off x="8426137" y="471032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a16:creationId xmlns:a16="http://schemas.microsoft.com/office/drawing/2014/main" id="{365D215E-0434-15AD-DB21-F1AFA993DA7E}"/>
                </a:ext>
              </a:extLst>
            </p:cNvPr>
            <p:cNvSpPr txBox="1"/>
            <p:nvPr/>
          </p:nvSpPr>
          <p:spPr>
            <a:xfrm>
              <a:off x="8412400" y="493244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a16:creationId xmlns:a16="http://schemas.microsoft.com/office/drawing/2014/main" id="{96D90A90-E9BD-D6D9-20BB-C9A38C31B9FC}"/>
                </a:ext>
              </a:extLst>
            </p:cNvPr>
            <p:cNvSpPr txBox="1"/>
            <p:nvPr/>
          </p:nvSpPr>
          <p:spPr>
            <a:xfrm>
              <a:off x="8419899" y="514873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0" name="四角形: 1 つの角を切り取る 49">
              <a:extLst>
                <a:ext uri="{FF2B5EF4-FFF2-40B4-BE49-F238E27FC236}">
                  <a16:creationId xmlns:a16="http://schemas.microsoft.com/office/drawing/2014/main" id="{59593378-EBD1-080B-5352-24C014EE29C3}"/>
                </a:ext>
              </a:extLst>
            </p:cNvPr>
            <p:cNvSpPr/>
            <p:nvPr/>
          </p:nvSpPr>
          <p:spPr>
            <a:xfrm>
              <a:off x="4359858" y="2433383"/>
              <a:ext cx="2348367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同じ３種類のシンボル</a:t>
              </a:r>
            </a:p>
          </p:txBody>
        </p:sp>
        <p:sp>
          <p:nvSpPr>
            <p:cNvPr id="51" name="四角形: 1 つの角を切り取る 50">
              <a:extLst>
                <a:ext uri="{FF2B5EF4-FFF2-40B4-BE49-F238E27FC236}">
                  <a16:creationId xmlns:a16="http://schemas.microsoft.com/office/drawing/2014/main" id="{7B1BD2B9-00A3-1DA4-3439-7A0996551407}"/>
                </a:ext>
              </a:extLst>
            </p:cNvPr>
            <p:cNvSpPr/>
            <p:nvPr/>
          </p:nvSpPr>
          <p:spPr>
            <a:xfrm>
              <a:off x="4371294" y="4084091"/>
              <a:ext cx="2345630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すべてのシンボルがバー</a:t>
              </a:r>
            </a:p>
          </p:txBody>
        </p:sp>
        <p:sp>
          <p:nvSpPr>
            <p:cNvPr id="52" name="四角形: 1 つの角を切り取る 51">
              <a:extLst>
                <a:ext uri="{FF2B5EF4-FFF2-40B4-BE49-F238E27FC236}">
                  <a16:creationId xmlns:a16="http://schemas.microsoft.com/office/drawing/2014/main" id="{42F2E5AE-C500-607E-0AA3-1727A342C80F}"/>
                </a:ext>
              </a:extLst>
            </p:cNvPr>
            <p:cNvSpPr/>
            <p:nvPr/>
          </p:nvSpPr>
          <p:spPr>
            <a:xfrm>
              <a:off x="4359856" y="4804143"/>
              <a:ext cx="2348369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チェリーの数を数える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EA0B11C0-ADBF-CFE4-26A7-11FB32DD3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874" y="2816451"/>
              <a:ext cx="8310" cy="120690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6F52A7E9-09AB-48FF-290E-CB7A862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34" y="4405826"/>
              <a:ext cx="2618" cy="375083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66F8721C-69FE-1F28-5CE3-EC7BC1239C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0397" y="2571265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矢印コネクタ 103">
              <a:extLst>
                <a:ext uri="{FF2B5EF4-FFF2-40B4-BE49-F238E27FC236}">
                  <a16:creationId xmlns:a16="http://schemas.microsoft.com/office/drawing/2014/main" id="{041CF31C-6322-64B4-41FA-EFD045D54E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455" y="4238462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BF99CF8B-41ED-77F2-2B6F-734E2C77EA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3463" y="4986336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>
              <a:extLst>
                <a:ext uri="{FF2B5EF4-FFF2-40B4-BE49-F238E27FC236}">
                  <a16:creationId xmlns:a16="http://schemas.microsoft.com/office/drawing/2014/main" id="{E6D5B7F7-BD21-092E-7742-88B85C42F7FD}"/>
                </a:ext>
              </a:extLst>
            </p:cNvPr>
            <p:cNvSpPr txBox="1"/>
            <p:nvPr/>
          </p:nvSpPr>
          <p:spPr>
            <a:xfrm>
              <a:off x="6677799" y="2259326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29A0DF6F-A6BC-DFF3-D078-E8A8BBADF463}"/>
                </a:ext>
              </a:extLst>
            </p:cNvPr>
            <p:cNvSpPr txBox="1"/>
            <p:nvPr/>
          </p:nvSpPr>
          <p:spPr>
            <a:xfrm>
              <a:off x="6675823" y="3920909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76A9BC8B-2D81-E023-F505-F29343FD7744}"/>
                </a:ext>
              </a:extLst>
            </p:cNvPr>
            <p:cNvSpPr txBox="1"/>
            <p:nvPr/>
          </p:nvSpPr>
          <p:spPr>
            <a:xfrm>
              <a:off x="6670893" y="4682075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8E0598C-CFE7-FBB0-6BEC-CD5DBAF9FB47}"/>
                </a:ext>
              </a:extLst>
            </p:cNvPr>
            <p:cNvSpPr txBox="1"/>
            <p:nvPr/>
          </p:nvSpPr>
          <p:spPr>
            <a:xfrm>
              <a:off x="4591359" y="3208900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a16:creationId xmlns:a16="http://schemas.microsoft.com/office/drawing/2014/main" id="{7A539017-5764-E807-4912-E1DA64646604}"/>
                </a:ext>
              </a:extLst>
            </p:cNvPr>
            <p:cNvSpPr txBox="1"/>
            <p:nvPr/>
          </p:nvSpPr>
          <p:spPr>
            <a:xfrm>
              <a:off x="4594319" y="4459429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22" name="直線矢印コネクタ 121">
              <a:extLst>
                <a:ext uri="{FF2B5EF4-FFF2-40B4-BE49-F238E27FC236}">
                  <a16:creationId xmlns:a16="http://schemas.microsoft.com/office/drawing/2014/main" id="{240C3EE4-AD19-09E5-D154-5DFEE63C07AF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59125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矢印コネクタ 125">
              <a:extLst>
                <a:ext uri="{FF2B5EF4-FFF2-40B4-BE49-F238E27FC236}">
                  <a16:creationId xmlns:a16="http://schemas.microsoft.com/office/drawing/2014/main" id="{F5585D4F-DA0C-6F49-F18D-360EC3087463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760204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矢印コネクタ 126">
              <a:extLst>
                <a:ext uri="{FF2B5EF4-FFF2-40B4-BE49-F238E27FC236}">
                  <a16:creationId xmlns:a16="http://schemas.microsoft.com/office/drawing/2014/main" id="{3DC7B329-5296-AE55-1297-529B023D5320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956005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2744118C-6BF2-6471-390B-9BFB8C1ADBC1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153269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矢印コネクタ 128">
              <a:extLst>
                <a:ext uri="{FF2B5EF4-FFF2-40B4-BE49-F238E27FC236}">
                  <a16:creationId xmlns:a16="http://schemas.microsoft.com/office/drawing/2014/main" id="{5B845EA2-797A-F184-61AB-999F5FA8EDAC}"/>
                </a:ext>
              </a:extLst>
            </p:cNvPr>
            <p:cNvCxnSpPr>
              <a:cxnSpLocks/>
            </p:cNvCxnSpPr>
            <p:nvPr/>
          </p:nvCxnSpPr>
          <p:spPr>
            <a:xfrm>
              <a:off x="8098905" y="3363533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a16:creationId xmlns:a16="http://schemas.microsoft.com/office/drawing/2014/main" id="{75B19D8F-A853-F782-A657-91A68CD25E92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54107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9193714-6379-E3F1-F5FE-53FD8E8BE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723391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40037088-D13E-4A1F-4A9D-B30D6B0B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483550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矢印コネクタ 135">
              <a:extLst>
                <a:ext uri="{FF2B5EF4-FFF2-40B4-BE49-F238E27FC236}">
                  <a16:creationId xmlns:a16="http://schemas.microsoft.com/office/drawing/2014/main" id="{72F13DBA-A549-85F0-1AB8-5E7546DBA032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051407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矢印コネクタ 136">
              <a:extLst>
                <a:ext uri="{FF2B5EF4-FFF2-40B4-BE49-F238E27FC236}">
                  <a16:creationId xmlns:a16="http://schemas.microsoft.com/office/drawing/2014/main" id="{EE30C1FD-0BD9-D125-1097-964BF1C731C8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267306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EF5099-DD47-B065-F9A6-CD35412B43F5}"/>
                </a:ext>
              </a:extLst>
            </p:cNvPr>
            <p:cNvSpPr/>
            <p:nvPr/>
          </p:nvSpPr>
          <p:spPr>
            <a:xfrm>
              <a:off x="3656758" y="1927224"/>
              <a:ext cx="1066094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core()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A3078BB2-F832-7AAE-9503-1DDA631D87E2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51" y="1518417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09A2A5F-22FD-BA74-5B8A-C59E07DBB625}"/>
                </a:ext>
              </a:extLst>
            </p:cNvPr>
            <p:cNvCxnSpPr>
              <a:cxnSpLocks/>
            </p:cNvCxnSpPr>
            <p:nvPr/>
          </p:nvCxnSpPr>
          <p:spPr>
            <a:xfrm>
              <a:off x="2767890" y="2007989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a16:creationId xmlns:a16="http://schemas.microsoft.com/office/drawing/2014/main" id="{7F0DAD43-2625-CD76-55F7-70784D853F01}"/>
                </a:ext>
              </a:extLst>
            </p:cNvPr>
            <p:cNvCxnSpPr>
              <a:cxnSpLocks/>
            </p:cNvCxnSpPr>
            <p:nvPr/>
          </p:nvCxnSpPr>
          <p:spPr>
            <a:xfrm>
              <a:off x="4359856" y="5507223"/>
              <a:ext cx="4358603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四角形: 1 つの角を切り取る 157">
              <a:extLst>
                <a:ext uri="{FF2B5EF4-FFF2-40B4-BE49-F238E27FC236}">
                  <a16:creationId xmlns:a16="http://schemas.microsoft.com/office/drawing/2014/main" id="{80C7270A-4881-A2D8-A48F-2E19177E1C33}"/>
                </a:ext>
              </a:extLst>
            </p:cNvPr>
            <p:cNvSpPr/>
            <p:nvPr/>
          </p:nvSpPr>
          <p:spPr>
            <a:xfrm>
              <a:off x="4371294" y="5676687"/>
              <a:ext cx="2981950" cy="26100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四角形: 1 つの角を切り取る 160">
              <a:extLst>
                <a:ext uri="{FF2B5EF4-FFF2-40B4-BE49-F238E27FC236}">
                  <a16:creationId xmlns:a16="http://schemas.microsoft.com/office/drawing/2014/main" id="{EE7D6A8B-9DE6-966B-0FE8-8ACF634F2936}"/>
                </a:ext>
              </a:extLst>
            </p:cNvPr>
            <p:cNvSpPr/>
            <p:nvPr/>
          </p:nvSpPr>
          <p:spPr>
            <a:xfrm>
              <a:off x="5709450" y="1467035"/>
              <a:ext cx="5140544" cy="297946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DD,7,BBB,BB,B,C,0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の中から３つの要素を選ぶ（重複あり）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46850BCC-0C09-20C6-2E61-80E661485450}"/>
                </a:ext>
              </a:extLst>
            </p:cNvPr>
            <p:cNvSpPr txBox="1"/>
            <p:nvPr/>
          </p:nvSpPr>
          <p:spPr>
            <a:xfrm>
              <a:off x="8309508" y="1776297"/>
              <a:ext cx="3441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それぞれが選ばれる確率を指定</a:t>
              </a:r>
            </a:p>
          </p:txBody>
        </p:sp>
      </p:grpSp>
      <p:sp>
        <p:nvSpPr>
          <p:cNvPr id="165" name="楕円 164">
            <a:extLst>
              <a:ext uri="{FF2B5EF4-FFF2-40B4-BE49-F238E27FC236}">
                <a16:creationId xmlns:a16="http://schemas.microsoft.com/office/drawing/2014/main" id="{97F35ACA-E5FF-CD39-9D95-2F9D1BBA72F6}"/>
              </a:ext>
            </a:extLst>
          </p:cNvPr>
          <p:cNvSpPr/>
          <p:nvPr/>
        </p:nvSpPr>
        <p:spPr>
          <a:xfrm>
            <a:off x="3705470" y="140236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166" name="楕円 165">
            <a:extLst>
              <a:ext uri="{FF2B5EF4-FFF2-40B4-BE49-F238E27FC236}">
                <a16:creationId xmlns:a16="http://schemas.microsoft.com/office/drawing/2014/main" id="{4989CE9E-6EFB-A294-F43B-2D7F7E6D96F8}"/>
              </a:ext>
            </a:extLst>
          </p:cNvPr>
          <p:cNvSpPr/>
          <p:nvPr/>
        </p:nvSpPr>
        <p:spPr>
          <a:xfrm>
            <a:off x="866144" y="123472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  <p:sp>
        <p:nvSpPr>
          <p:cNvPr id="168" name="楕円 167">
            <a:extLst>
              <a:ext uri="{FF2B5EF4-FFF2-40B4-BE49-F238E27FC236}">
                <a16:creationId xmlns:a16="http://schemas.microsoft.com/office/drawing/2014/main" id="{C8BB56B9-AB2C-8796-A14F-309AA0F29180}"/>
              </a:ext>
            </a:extLst>
          </p:cNvPr>
          <p:cNvSpPr/>
          <p:nvPr/>
        </p:nvSpPr>
        <p:spPr>
          <a:xfrm>
            <a:off x="3596946" y="1993531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169" name="楕円 168">
            <a:extLst>
              <a:ext uri="{FF2B5EF4-FFF2-40B4-BE49-F238E27FC236}">
                <a16:creationId xmlns:a16="http://schemas.microsoft.com/office/drawing/2014/main" id="{7669092E-424A-15C1-4C92-0FFD1F17AADF}"/>
              </a:ext>
            </a:extLst>
          </p:cNvPr>
          <p:cNvSpPr/>
          <p:nvPr/>
        </p:nvSpPr>
        <p:spPr>
          <a:xfrm>
            <a:off x="4061331" y="242490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0" name="楕円 169">
            <a:extLst>
              <a:ext uri="{FF2B5EF4-FFF2-40B4-BE49-F238E27FC236}">
                <a16:creationId xmlns:a16="http://schemas.microsoft.com/office/drawing/2014/main" id="{989D2B90-7BD4-83EE-8219-61846835E032}"/>
              </a:ext>
            </a:extLst>
          </p:cNvPr>
          <p:cNvSpPr/>
          <p:nvPr/>
        </p:nvSpPr>
        <p:spPr>
          <a:xfrm>
            <a:off x="4067683" y="413412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71" name="楕円 170">
            <a:extLst>
              <a:ext uri="{FF2B5EF4-FFF2-40B4-BE49-F238E27FC236}">
                <a16:creationId xmlns:a16="http://schemas.microsoft.com/office/drawing/2014/main" id="{4D3BE0DC-40DA-440B-2929-E0E7DCC0FCDB}"/>
              </a:ext>
            </a:extLst>
          </p:cNvPr>
          <p:cNvSpPr/>
          <p:nvPr/>
        </p:nvSpPr>
        <p:spPr>
          <a:xfrm>
            <a:off x="7153337" y="30030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2" name="楕円 171">
            <a:extLst>
              <a:ext uri="{FF2B5EF4-FFF2-40B4-BE49-F238E27FC236}">
                <a16:creationId xmlns:a16="http://schemas.microsoft.com/office/drawing/2014/main" id="{16BA31D8-F0AD-BEA0-8EC3-3D65A90E8287}"/>
              </a:ext>
            </a:extLst>
          </p:cNvPr>
          <p:cNvSpPr/>
          <p:nvPr/>
        </p:nvSpPr>
        <p:spPr>
          <a:xfrm>
            <a:off x="4083969" y="481929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173" name="楕円 172">
            <a:extLst>
              <a:ext uri="{FF2B5EF4-FFF2-40B4-BE49-F238E27FC236}">
                <a16:creationId xmlns:a16="http://schemas.microsoft.com/office/drawing/2014/main" id="{D94A88C7-A66D-98A1-D356-41C1F02A1A33}"/>
              </a:ext>
            </a:extLst>
          </p:cNvPr>
          <p:cNvSpPr/>
          <p:nvPr/>
        </p:nvSpPr>
        <p:spPr>
          <a:xfrm>
            <a:off x="7200216" y="516138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4" name="楕円 173">
            <a:extLst>
              <a:ext uri="{FF2B5EF4-FFF2-40B4-BE49-F238E27FC236}">
                <a16:creationId xmlns:a16="http://schemas.microsoft.com/office/drawing/2014/main" id="{91D2AA4C-06B0-BAB0-4AD1-61EF1388297D}"/>
              </a:ext>
            </a:extLst>
          </p:cNvPr>
          <p:cNvSpPr/>
          <p:nvPr/>
        </p:nvSpPr>
        <p:spPr>
          <a:xfrm>
            <a:off x="4057848" y="5676687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60050" y="1014608"/>
            <a:ext cx="9440262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40" y="1059656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＃＃スロットを回す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実行内容１：文字列のベクトル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(DD,7,BBB,BB,B,C,0)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を、変数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sample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から３つの値を抽出する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＃＃ゲームを実行する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play</a:t>
            </a: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でスロットを回す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でスロットの結果を表示する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実行内容３：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score(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後に定義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で点数を計算・表示する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4991FC-5CF5-51A5-D820-EF02CFE3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26" y="2367670"/>
            <a:ext cx="6311305" cy="112541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13E5101-FF0C-F996-E1F8-8B0950C5B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26" y="5434534"/>
            <a:ext cx="2067213" cy="94310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37C7821-C3D3-2351-EAE1-C2D443BF5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26" y="2360132"/>
            <a:ext cx="1676634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F719EA-26FB-EFB4-546B-B3AEF40BE8E1}"/>
              </a:ext>
            </a:extLst>
          </p:cNvPr>
          <p:cNvSpPr/>
          <p:nvPr/>
        </p:nvSpPr>
        <p:spPr>
          <a:xfrm>
            <a:off x="5580181" y="3801407"/>
            <a:ext cx="4352793" cy="1320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ample(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size,replace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TRUE,prob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=NULL)</a:t>
            </a: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x: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サンプリング元のデータ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サンプリング回数。指定しないと、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length(x)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回サンプリングする。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replace: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同一の要素を繰り返しサンプリングするのを許容するかどうか。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prob: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サンプリングする際の重みづけを確立のベクトルで指定。合計が１でなくても可。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362CA4-F5A4-B2D5-6526-CE571E035549}"/>
              </a:ext>
            </a:extLst>
          </p:cNvPr>
          <p:cNvCxnSpPr>
            <a:cxnSpLocks/>
          </p:cNvCxnSpPr>
          <p:nvPr/>
        </p:nvCxnSpPr>
        <p:spPr>
          <a:xfrm>
            <a:off x="7505205" y="2897579"/>
            <a:ext cx="463138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楕円 290">
            <a:extLst>
              <a:ext uri="{FF2B5EF4-FFF2-40B4-BE49-F238E27FC236}">
                <a16:creationId xmlns:a16="http://schemas.microsoft.com/office/drawing/2014/main" id="{E4FDA11A-1D1A-802A-CF0D-2C428E7208BA}"/>
              </a:ext>
            </a:extLst>
          </p:cNvPr>
          <p:cNvSpPr/>
          <p:nvPr/>
        </p:nvSpPr>
        <p:spPr>
          <a:xfrm>
            <a:off x="3351763" y="10596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292" name="楕円 291">
            <a:extLst>
              <a:ext uri="{FF2B5EF4-FFF2-40B4-BE49-F238E27FC236}">
                <a16:creationId xmlns:a16="http://schemas.microsoft.com/office/drawing/2014/main" id="{7B34FE9E-4B70-6223-7491-6CDD0D7C7996}"/>
              </a:ext>
            </a:extLst>
          </p:cNvPr>
          <p:cNvSpPr/>
          <p:nvPr/>
        </p:nvSpPr>
        <p:spPr>
          <a:xfrm>
            <a:off x="3596007" y="380140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12191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5598882" y="583252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598881" y="5333505"/>
            <a:ext cx="4352793" cy="4059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関数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＃＃点数を計算する（下書き）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実行内容：条件文で点数計算方法を場合分けする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48069AB-69A2-19D5-CEF3-05EF75ED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46" y="5098993"/>
            <a:ext cx="3991532" cy="146705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55046BF-6659-3E35-9CB2-048FE3BB5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117" y="3830731"/>
            <a:ext cx="3019846" cy="134321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AB8497-24E1-1242-00CD-AA34D5F7D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46" y="1836878"/>
            <a:ext cx="2753109" cy="20386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DA33241-75A9-C7A7-5FC3-7DABF8112A82}"/>
              </a:ext>
            </a:extLst>
          </p:cNvPr>
          <p:cNvSpPr/>
          <p:nvPr/>
        </p:nvSpPr>
        <p:spPr>
          <a:xfrm>
            <a:off x="5630117" y="1760651"/>
            <a:ext cx="3215922" cy="18948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文について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なし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 A()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If(x=5) B()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文もチェックする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あり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If(x=3){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文はスキップする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}else if(x=5){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B()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 flipV="1">
            <a:off x="4925769" y="4885237"/>
            <a:ext cx="593121" cy="21375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4EC35FEC-3C75-B0EF-9DC2-6F4B8ED68DFA}"/>
              </a:ext>
            </a:extLst>
          </p:cNvPr>
          <p:cNvSpPr/>
          <p:nvPr/>
        </p:nvSpPr>
        <p:spPr>
          <a:xfrm>
            <a:off x="4224008" y="114363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705F4AE-F440-E18C-0059-4ED176537C16}"/>
              </a:ext>
            </a:extLst>
          </p:cNvPr>
          <p:cNvSpPr/>
          <p:nvPr/>
        </p:nvSpPr>
        <p:spPr>
          <a:xfrm>
            <a:off x="3363111" y="42152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5501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9720288" y="2794458"/>
            <a:ext cx="1176150" cy="7796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c(“A”=3,”B”=10)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A  B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3  10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%in% 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左辺が右辺を含むか判断する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&lt;- c(A,B,C,D)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List2 &lt;-c(C,E,B)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List1 %in% List2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 FALSE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場合分けの条件２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がバーを含む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すべてがバーであってほしいので、実行時は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all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＃＃点数の計算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＃点数を代入する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型：整数値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条件１のとき、１要素目の得点を代入</a:t>
            </a:r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001984" y="229817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43D9BC6F-D9A1-1207-8593-653B03AE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165" y="1263081"/>
            <a:ext cx="3200847" cy="137179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D575F3D-CCE5-CF73-C3DA-679016934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1" y="2098119"/>
            <a:ext cx="2981741" cy="40010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63407BA-FA48-FBB5-D05D-069BFB18C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239" y="2794458"/>
            <a:ext cx="2172003" cy="103837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256DFFB-E235-2610-3205-F45EEFE75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51" y="4310789"/>
            <a:ext cx="6192114" cy="390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9CFE1A9-41FC-F4FC-C2A4-EE7DF09753E7}"/>
              </a:ext>
            </a:extLst>
          </p:cNvPr>
          <p:cNvSpPr/>
          <p:nvPr/>
        </p:nvSpPr>
        <p:spPr>
          <a:xfrm>
            <a:off x="9359384" y="4017941"/>
            <a:ext cx="2401239" cy="11664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unname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     = ( names() &lt;- NULL)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ベクトル・行列の名前を消して返す。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（行列のとき）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列名のみ消す：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colnames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rownames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05BFEA-621C-484A-6420-DD234BEB3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239" y="4065573"/>
            <a:ext cx="1819529" cy="314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500F86D-80BD-F4B8-52B1-EE37F5E315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239" y="5222015"/>
            <a:ext cx="2305372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DB8024D-3C11-C52B-F41B-28D2769D5D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44391" b="-1"/>
          <a:stretch/>
        </p:blipFill>
        <p:spPr>
          <a:xfrm>
            <a:off x="949897" y="6146069"/>
            <a:ext cx="6249272" cy="18541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81FA8E4C-B42F-95B1-EB56-2D23186D42B1}"/>
              </a:ext>
            </a:extLst>
          </p:cNvPr>
          <p:cNvSpPr/>
          <p:nvPr/>
        </p:nvSpPr>
        <p:spPr>
          <a:xfrm>
            <a:off x="3351763" y="118405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DE7ED8C7-11EF-4FAA-D829-54110B060CB3}"/>
              </a:ext>
            </a:extLst>
          </p:cNvPr>
          <p:cNvSpPr/>
          <p:nvPr/>
        </p:nvSpPr>
        <p:spPr>
          <a:xfrm>
            <a:off x="2821969" y="332644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ADBD0AC-8D38-11DB-9BF3-C78EF8CEFB3A}"/>
              </a:ext>
            </a:extLst>
          </p:cNvPr>
          <p:cNvSpPr/>
          <p:nvPr/>
        </p:nvSpPr>
        <p:spPr>
          <a:xfrm>
            <a:off x="3144581" y="510336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2D8D670-3D58-2589-6A4F-9E2ADD754D02}"/>
              </a:ext>
            </a:extLst>
          </p:cNvPr>
          <p:cNvCxnSpPr>
            <a:cxnSpLocks/>
          </p:cNvCxnSpPr>
          <p:nvPr/>
        </p:nvCxnSpPr>
        <p:spPr>
          <a:xfrm flipV="1">
            <a:off x="6858000" y="3724507"/>
            <a:ext cx="490654" cy="49862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CC293DC-9604-7AF9-7AB0-D429D3C1526F}"/>
              </a:ext>
            </a:extLst>
          </p:cNvPr>
          <p:cNvCxnSpPr>
            <a:cxnSpLocks/>
          </p:cNvCxnSpPr>
          <p:nvPr/>
        </p:nvCxnSpPr>
        <p:spPr>
          <a:xfrm flipV="1">
            <a:off x="6858000" y="5783278"/>
            <a:ext cx="489350" cy="20492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51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281077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チェリー・ダイヤモンドの数を数える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C,DD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である要素を数える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チェリーの数に合わせて賞金計算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ルックアップテーブルを利用して場合分け・代入をする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c(0,2,5)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の１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&lt;- 2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 のとき → 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proze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&lt;- 5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＃ダイヤの数に合わせて賞金計算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実行内容：ダイヤモンド１つあたり賞金２倍にする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→賞金に２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^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daiamonds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をかける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773384" y="2097371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>
            <a:extLst>
              <a:ext uri="{FF2B5EF4-FFF2-40B4-BE49-F238E27FC236}">
                <a16:creationId xmlns:a16="http://schemas.microsoft.com/office/drawing/2014/main" id="{2B27AECC-8E7C-47CD-2977-B689E504B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55" y="1613784"/>
            <a:ext cx="2248214" cy="90500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A97FC9F-9682-C1B4-9FC8-1265618F87C9}"/>
              </a:ext>
            </a:extLst>
          </p:cNvPr>
          <p:cNvSpPr/>
          <p:nvPr/>
        </p:nvSpPr>
        <p:spPr>
          <a:xfrm>
            <a:off x="7006285" y="1613784"/>
            <a:ext cx="2391170" cy="5013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sum()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中身の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を１と０に変換して合計する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EA16A4A2-10E1-0777-6237-1FB6EDDE4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34" y="2130799"/>
            <a:ext cx="2514951" cy="19052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4CE016A1-AB5A-013D-B013-0A36AE93E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" y="1913864"/>
            <a:ext cx="2429214" cy="1524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7C8B6A2-C3A7-61E4-12B3-16C0914A9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34" y="4455701"/>
            <a:ext cx="2286319" cy="161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085FE81-175D-265A-BF00-484F1BA8AAC4}"/>
              </a:ext>
            </a:extLst>
          </p:cNvPr>
          <p:cNvSpPr/>
          <p:nvPr/>
        </p:nvSpPr>
        <p:spPr>
          <a:xfrm>
            <a:off x="7727923" y="2853023"/>
            <a:ext cx="3293415" cy="11519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ツリーの使い分け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ツリー個々の分岐が異なる値を割り当てるとき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個々のツリーに対して異なる実行をするとき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99328AF-B8D6-82EA-B526-1E2BA0C6A3A2}"/>
              </a:ext>
            </a:extLst>
          </p:cNvPr>
          <p:cNvSpPr/>
          <p:nvPr/>
        </p:nvSpPr>
        <p:spPr>
          <a:xfrm>
            <a:off x="7727924" y="4166924"/>
            <a:ext cx="3293415" cy="10772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ルックアップテーブルの使い方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割り当てる値をベクトルに格納する。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条件が文字列を使う場合、ベクトルに名前を与え、名前に基づく添字操作を利用する。条件が整数なら、整数による添え字操作を利用する。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8D818FA3-5D53-C66F-775B-5F387D726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93" y="6288698"/>
            <a:ext cx="1276528" cy="20957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488A0E4-7736-597D-E525-88A7D7260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5761" y="4580368"/>
            <a:ext cx="2772162" cy="17147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9B97C1CF-37FD-1B6B-A2BE-78686A17432C}"/>
              </a:ext>
            </a:extLst>
          </p:cNvPr>
          <p:cNvCxnSpPr>
            <a:cxnSpLocks/>
          </p:cNvCxnSpPr>
          <p:nvPr/>
        </p:nvCxnSpPr>
        <p:spPr>
          <a:xfrm>
            <a:off x="3773383" y="4589346"/>
            <a:ext cx="1027217" cy="274754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228B8E2-63C8-0C04-807D-12FF03CC7B70}"/>
              </a:ext>
            </a:extLst>
          </p:cNvPr>
          <p:cNvCxnSpPr>
            <a:cxnSpLocks/>
          </p:cNvCxnSpPr>
          <p:nvPr/>
        </p:nvCxnSpPr>
        <p:spPr>
          <a:xfrm flipV="1">
            <a:off x="3684482" y="6146800"/>
            <a:ext cx="1116118" cy="246688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BFB3501-E5E6-622F-2025-1E8B027A9173}"/>
              </a:ext>
            </a:extLst>
          </p:cNvPr>
          <p:cNvSpPr/>
          <p:nvPr/>
        </p:nvSpPr>
        <p:spPr>
          <a:xfrm>
            <a:off x="1545257" y="6543565"/>
            <a:ext cx="2119725" cy="190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</a:rPr>
              <a:t>最後の計算結果が戻り値となる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B08AA567-2D08-2D6D-609E-8626A875A9DC}"/>
              </a:ext>
            </a:extLst>
          </p:cNvPr>
          <p:cNvSpPr/>
          <p:nvPr/>
        </p:nvSpPr>
        <p:spPr>
          <a:xfrm>
            <a:off x="5653262" y="119594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C98A928A-0A72-F61A-D728-CD239F85EC95}"/>
              </a:ext>
            </a:extLst>
          </p:cNvPr>
          <p:cNvSpPr/>
          <p:nvPr/>
        </p:nvSpPr>
        <p:spPr>
          <a:xfrm>
            <a:off x="5973878" y="1210034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42E325D-BFB1-9EDC-E3AD-5794A46F700C}"/>
              </a:ext>
            </a:extLst>
          </p:cNvPr>
          <p:cNvSpPr/>
          <p:nvPr/>
        </p:nvSpPr>
        <p:spPr>
          <a:xfrm>
            <a:off x="5256179" y="287287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977B9171-A7E3-1BF1-0AD7-5B7A799625A7}"/>
              </a:ext>
            </a:extLst>
          </p:cNvPr>
          <p:cNvSpPr/>
          <p:nvPr/>
        </p:nvSpPr>
        <p:spPr>
          <a:xfrm>
            <a:off x="4633937" y="54822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565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F24A9A6-5DDE-E357-2FFA-F33E60C5B7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94"/>
          <a:stretch/>
        </p:blipFill>
        <p:spPr>
          <a:xfrm>
            <a:off x="969179" y="986417"/>
            <a:ext cx="6601746" cy="5843392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218FBA66-A5A7-9CAA-B246-CE0F79645A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7459"/>
          <a:stretch/>
        </p:blipFill>
        <p:spPr>
          <a:xfrm>
            <a:off x="9249096" y="986417"/>
            <a:ext cx="1499661" cy="5660657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C5E4660-7186-CB5E-419A-17884A25EC39}"/>
              </a:ext>
            </a:extLst>
          </p:cNvPr>
          <p:cNvCxnSpPr>
            <a:cxnSpLocks/>
          </p:cNvCxnSpPr>
          <p:nvPr/>
        </p:nvCxnSpPr>
        <p:spPr>
          <a:xfrm>
            <a:off x="8017727" y="3777488"/>
            <a:ext cx="950436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95DA3D-9113-A7B9-1EE6-AABD19DE6625}"/>
              </a:ext>
            </a:extLst>
          </p:cNvPr>
          <p:cNvSpPr txBox="1"/>
          <p:nvPr/>
        </p:nvSpPr>
        <p:spPr>
          <a:xfrm>
            <a:off x="7923514" y="3385471"/>
            <a:ext cx="118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実行結果</a:t>
            </a:r>
          </a:p>
        </p:txBody>
      </p:sp>
    </p:spTree>
    <p:extLst>
      <p:ext uri="{BB962C8B-B14F-4D97-AF65-F5344CB8AC3E}">
        <p14:creationId xmlns:p14="http://schemas.microsoft.com/office/powerpoint/2010/main" val="3106440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７章の問題点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symbol</a:t>
            </a:r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の出力が文字列のままになっている</a:t>
            </a:r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play()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の中で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を呼び出しているため賞金しか保存されない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A97A842-D302-F886-A16D-C10AA16B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88" y="1991463"/>
            <a:ext cx="1228896" cy="4667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42DD4E0-15BD-13B2-F9AB-331C495C3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88" y="3252075"/>
            <a:ext cx="1771897" cy="60968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9089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2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05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＃＃スロットマシンの払戻率を計算する</a:t>
            </a:r>
          </a:p>
        </p:txBody>
      </p:sp>
    </p:spTree>
    <p:extLst>
      <p:ext uri="{BB962C8B-B14F-4D97-AF65-F5344CB8AC3E}">
        <p14:creationId xmlns:p14="http://schemas.microsoft.com/office/powerpoint/2010/main" val="1967633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2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endParaRPr lang="en-US" altLang="ja-JP" sz="2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</a:endParaRPr>
          </a:p>
          <a:p>
            <a:endParaRPr lang="en-US" altLang="ja-JP" sz="1050" dirty="0">
              <a:solidFill>
                <a:schemeClr val="tx1"/>
              </a:solidFill>
            </a:endParaRPr>
          </a:p>
          <a:p>
            <a:r>
              <a:rPr lang="en-US" altLang="ja-JP" sz="2000" dirty="0">
                <a:solidFill>
                  <a:schemeClr val="tx1"/>
                </a:solidFill>
              </a:rPr>
              <a:t>E(x) =</a:t>
            </a:r>
            <a:r>
              <a:rPr lang="en-US" altLang="ja-JP" sz="10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#expand.grid</a:t>
            </a: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FD6AF95-37D7-5BF7-F732-2732C17EE5DF}"/>
                  </a:ext>
                </a:extLst>
              </p:cNvPr>
              <p:cNvSpPr txBox="1"/>
              <p:nvPr/>
            </p:nvSpPr>
            <p:spPr>
              <a:xfrm>
                <a:off x="9451565" y="1690477"/>
                <a:ext cx="1527213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kumimoji="1" lang="ja-JP" altLang="en-US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ja-JP" alt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ja-JP" alt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ja-JP" alt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ja-JP" altLang="en-US" i="1">
                              <a:latin typeface="Cambria Math" panose="02040503050406030204" pitchFamily="18" charset="0"/>
                            </a:rPr>
                            <m:t>・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e>
                      </m:nary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FD6AF95-37D7-5BF7-F732-2732C17EE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1565" y="1690477"/>
                <a:ext cx="1527213" cy="7562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207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0323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395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スピード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393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4685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疑問点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配列の順番が０からではない理由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R,Python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が肩を宣言する必要がない共通点に関して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243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Cherries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の点数を場合分けする際、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添字操作を利用して、７行の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文を１行に短縮できたことに感動した。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8594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参考文献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34966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1112</Words>
  <Application>Microsoft Office PowerPoint</Application>
  <PresentationFormat>ワイド画面</PresentationFormat>
  <Paragraphs>216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「RStudioではじめる Rプログラミング入門」Ⅲ演習</vt:lpstr>
      <vt:lpstr>7章　プログラム　フローチャート</vt:lpstr>
      <vt:lpstr>7章　プログラム</vt:lpstr>
      <vt:lpstr>7章　プログラム</vt:lpstr>
      <vt:lpstr>7章　プログラム</vt:lpstr>
      <vt:lpstr>7章　プログラム</vt:lpstr>
      <vt:lpstr>7章　プログラム　最終コード</vt:lpstr>
      <vt:lpstr>８章　S３　フローチャート</vt:lpstr>
      <vt:lpstr>８章　S3</vt:lpstr>
      <vt:lpstr>８章　S３　最終コード</vt:lpstr>
      <vt:lpstr>9章　ループ　フローチャート</vt:lpstr>
      <vt:lpstr>９章　ループ</vt:lpstr>
      <vt:lpstr>９章　ループ　最終コード</vt:lpstr>
      <vt:lpstr>１０章　スピード　フローチャート</vt:lpstr>
      <vt:lpstr>１０章　スピード</vt:lpstr>
      <vt:lpstr>１０章　スピード　最終コード</vt:lpstr>
      <vt:lpstr>疑問点</vt:lpstr>
      <vt:lpstr>感想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9</cp:revision>
  <dcterms:created xsi:type="dcterms:W3CDTF">2026-08-03T02:31:57Z</dcterms:created>
  <dcterms:modified xsi:type="dcterms:W3CDTF">2026-08-10T09:49:27Z</dcterms:modified>
</cp:coreProperties>
</file>