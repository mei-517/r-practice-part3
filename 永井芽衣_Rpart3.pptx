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95164B-C763-DBA9-DE69-78DE524DD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2EB9C5-381D-FA83-EB7C-1ADD7FE55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3B2D98-F07C-3CE9-3B42-866CE48E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59B47D-F1AF-7353-AA72-A9C94A14A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DE972C-24C9-5FCD-D8AC-890AA19E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788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A02C59-7727-9C38-05CC-4977FD79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EED459-33FA-CEB2-B4F6-90A71E513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80AE2A-639A-AE85-323A-32D5D4B1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C8A0C1-A0FF-039D-805D-8AADC6116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35065F-486C-7108-FB41-C1E028EC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29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339C5C-9616-05D5-7416-29818F71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59BBDE-0951-59A3-16CB-A704EB2D0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6E68FA-490B-D598-0384-B6A022FF4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8D0ED9-1133-6BFD-18EC-6902543AD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552386-2AA1-E343-88B7-CA30605C1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063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30750-43FC-AA30-A279-099CA6055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94D061-C28C-3335-0003-B94FE633C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2E61442-EBDB-1E8D-5649-ACBF6EF1D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9DB4A4-3004-F76D-6C99-0BAF7D422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A4462-5925-8253-4398-C882D296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4B1DD9-3EB8-4053-F415-E807741F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26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4AE025-5C0D-EB3D-0089-18802715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2827F8-8221-D75A-88D1-0332E7059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C79D26-4D1B-34A0-2477-03C169AB8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9EA6E93-556B-1344-75C5-359F3BB7B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B7FA50B-F860-1761-074A-38EEC1B22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30CFF49-C9BE-B228-A222-74631F5E3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1DEBBC9-3C54-0AEC-088A-9D9FE8C6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405117-3220-1B8E-F5B6-88419E5A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979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FAE3AD-7CED-E038-FF8C-4DA5D5F3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34324C5-2B67-891A-4D84-3BFB578B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31A5FF0-F4A3-2C35-8823-792C7C528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473FEFE-942A-119C-027A-8425A9DA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004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D5DCE37-95ED-C935-46A5-CA1C5F70D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0D41F61-66C6-0F38-88FF-6160A6E1F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710793-E8FF-2EAC-87C6-52A1B001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86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C45BA7-7251-BF9D-9D77-01367C50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15D0C7-EAB4-987B-17F2-DDA8FE7D3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DF15169-BC4F-2874-5ACE-178792E65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B45DF4-A38A-07B7-6EAF-ED4DEE66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B91870-1FAD-22F3-D2A4-10334DE2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B94905-4C1A-7B98-F3E9-A412BE81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047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07B339-3903-387B-5641-F3D9072A3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BEA1C99-CDAB-955C-9F30-60C204A74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0D9308-FD8E-16E2-8E95-F232751BE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C4513A-6308-5CDB-2E0A-2FA1A0A4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A281F9-FF4D-2D2D-9AFD-89DA5D1E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E9F669-4C6F-5741-A504-59D05B059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62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7F2EC5-F415-A6DA-0FF5-8EADF8FF5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97DE9D-66CD-76AC-C6E0-B66F63AFD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F17D25-6CE0-F093-9158-9E7C213A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9F87C4-B469-B8D6-7E04-A940223D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0619F5-086C-3BEA-6990-65A43F39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621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3A71AD2-7D6E-4483-6D15-8D5C23571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76392F2-A7A3-9466-1F38-252D51DE2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305EE6-0B27-A567-D845-8BA65DDD1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AD9575-7679-A504-2269-D3018329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60B7D1-B92C-DCDB-4EBF-F0205982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857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0E4EBD9-5755-099B-788A-DC11C0F7D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DD850E-CA05-EDFA-627E-4ED895B6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4825E-9385-6329-A9CC-59D16A8AA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DD009-2AE7-4B3F-8458-2328013CE102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5D3A38-BBC5-6937-824E-DBEF8798F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9BF167-0B98-6E3C-8037-DAE10F604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9B12B-6A69-4839-B4D5-36194E6D15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5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2D15D-6ED6-F1E2-415D-C5D0D0CAA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474940"/>
            <a:ext cx="10668000" cy="2387600"/>
          </a:xfrm>
        </p:spPr>
        <p:txBody>
          <a:bodyPr>
            <a:normAutofit/>
          </a:bodyPr>
          <a:lstStyle/>
          <a:p>
            <a:r>
              <a:rPr kumimoji="1"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kumimoji="1" lang="en-US" altLang="ja-JP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RStudio</a:t>
            </a:r>
            <a:r>
              <a:rPr kumimoji="1"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ではじめる</a:t>
            </a:r>
            <a:br>
              <a:rPr kumimoji="1" lang="en-US" altLang="ja-JP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en-US" altLang="ja-JP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</a:t>
            </a:r>
            <a:r>
              <a:rPr kumimoji="1"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プログラミング入門」</a:t>
            </a:r>
            <a:r>
              <a:rPr lang="en-US" altLang="ja-JP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Ⅲ</a:t>
            </a:r>
            <a:r>
              <a:rPr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演習</a:t>
            </a:r>
            <a:endParaRPr kumimoji="1" lang="ja-JP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F422FEA-2F34-70ED-56A9-01A65A2AD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4706"/>
            <a:ext cx="9144000" cy="1655762"/>
          </a:xfrm>
        </p:spPr>
        <p:txBody>
          <a:bodyPr/>
          <a:lstStyle/>
          <a:p>
            <a:r>
              <a:rPr lang="en-US" altLang="ja-JP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24510171 </a:t>
            </a:r>
            <a:r>
              <a:rPr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永井芽衣</a:t>
            </a:r>
            <a:endParaRPr kumimoji="1" lang="ja-JP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5280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2D15D-6ED6-F1E2-415D-C5D0D0CAA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181" y="314435"/>
            <a:ext cx="5891408" cy="700173"/>
          </a:xfrm>
        </p:spPr>
        <p:txBody>
          <a:bodyPr>
            <a:normAutofit fontScale="90000"/>
          </a:bodyPr>
          <a:lstStyle/>
          <a:p>
            <a:pPr algn="l"/>
            <a:r>
              <a:rPr kumimoji="1" lang="en-US" altLang="ja-JP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7</a:t>
            </a:r>
            <a:r>
              <a:rPr kumimoji="1" lang="ja-JP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章　プログラム　フローチャート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8782C7-6070-7C3A-DAB7-3101F4C6ED5C}"/>
              </a:ext>
            </a:extLst>
          </p:cNvPr>
          <p:cNvSpPr/>
          <p:nvPr/>
        </p:nvSpPr>
        <p:spPr>
          <a:xfrm>
            <a:off x="884439" y="1109610"/>
            <a:ext cx="9440262" cy="55289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F422FEA-2F34-70ED-56A9-01A65A2AD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439" y="1097282"/>
            <a:ext cx="9391483" cy="5446283"/>
          </a:xfrm>
        </p:spPr>
        <p:txBody>
          <a:bodyPr>
            <a:normAutofit/>
          </a:bodyPr>
          <a:lstStyle/>
          <a:p>
            <a:pPr algn="l"/>
            <a:endParaRPr kumimoji="1" lang="ja-JP" altLang="en-US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173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2D15D-6ED6-F1E2-415D-C5D0D0CAA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181" y="314435"/>
            <a:ext cx="5891408" cy="700173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7</a:t>
            </a:r>
            <a:r>
              <a:rPr kumimoji="1" lang="ja-JP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章　プログラム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8782C7-6070-7C3A-DAB7-3101F4C6ED5C}"/>
              </a:ext>
            </a:extLst>
          </p:cNvPr>
          <p:cNvSpPr/>
          <p:nvPr/>
        </p:nvSpPr>
        <p:spPr>
          <a:xfrm>
            <a:off x="860050" y="1014608"/>
            <a:ext cx="9440262" cy="55289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F422FEA-2F34-70ED-56A9-01A65A2AD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440" y="1059656"/>
            <a:ext cx="9391483" cy="5446283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2000" dirty="0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＃＃スロットを回す</a:t>
            </a:r>
            <a:endParaRPr kumimoji="1" lang="en-US" altLang="ja-JP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関数名：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symbols</a:t>
            </a:r>
          </a:p>
          <a:p>
            <a:pPr algn="l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実行内容１：文字列のベクトル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(DD,7,BBB,BB,B,C,0)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を、変数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wheel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に代入する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実行内容２：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sample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wheel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から３つの値を抽出する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kumimoji="1" lang="ja-JP" altLang="en-US" sz="2000" dirty="0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＃＃ゲームを実行する</a:t>
            </a:r>
            <a:endParaRPr kumimoji="1" lang="en-US" altLang="ja-JP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関数名：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play</a:t>
            </a:r>
          </a:p>
          <a:p>
            <a:pPr algn="l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実行内容１：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symbols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でスロットを回す</a:t>
            </a:r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実行内容２：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print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でスロットの結果を表示する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実行内容３：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score(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後に定義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で点数を計算・表示する</a:t>
            </a:r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ja-JP" altLang="en-US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34991FC-5CF5-51A5-D820-EF02CFE3F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26" y="2367670"/>
            <a:ext cx="6311305" cy="112541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13E5101-FF0C-F996-E1F8-8B0950C5B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26" y="5434534"/>
            <a:ext cx="2067213" cy="943107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F37C7821-C3D3-2351-EAE1-C2D443BF5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526" y="2360132"/>
            <a:ext cx="1676634" cy="924054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7F719EA-26FB-EFB4-546B-B3AEF40BE8E1}"/>
              </a:ext>
            </a:extLst>
          </p:cNvPr>
          <p:cNvSpPr/>
          <p:nvPr/>
        </p:nvSpPr>
        <p:spPr>
          <a:xfrm>
            <a:off x="5580181" y="3801408"/>
            <a:ext cx="4352793" cy="11254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 dirty="0">
                <a:solidFill>
                  <a:schemeClr val="tx1"/>
                </a:solidFill>
              </a:rPr>
              <a:t>s</a:t>
            </a:r>
            <a:r>
              <a:rPr kumimoji="1" lang="en-US" altLang="ja-JP" sz="1000" dirty="0">
                <a:solidFill>
                  <a:schemeClr val="tx1"/>
                </a:solidFill>
              </a:rPr>
              <a:t>ample(</a:t>
            </a:r>
            <a:r>
              <a:rPr kumimoji="1" lang="en-US" altLang="ja-JP" sz="1000" dirty="0" err="1">
                <a:solidFill>
                  <a:schemeClr val="tx1"/>
                </a:solidFill>
              </a:rPr>
              <a:t>x</a:t>
            </a:r>
            <a:r>
              <a:rPr lang="en-US" altLang="ja-JP" sz="1000" dirty="0" err="1">
                <a:solidFill>
                  <a:schemeClr val="tx1"/>
                </a:solidFill>
              </a:rPr>
              <a:t>,</a:t>
            </a:r>
            <a:r>
              <a:rPr kumimoji="1" lang="en-US" altLang="ja-JP" sz="1000" dirty="0" err="1">
                <a:solidFill>
                  <a:schemeClr val="tx1"/>
                </a:solidFill>
              </a:rPr>
              <a:t>size,replace</a:t>
            </a:r>
            <a:r>
              <a:rPr kumimoji="1" lang="en-US" altLang="ja-JP" sz="1000" dirty="0">
                <a:solidFill>
                  <a:schemeClr val="tx1"/>
                </a:solidFill>
              </a:rPr>
              <a:t>=</a:t>
            </a:r>
            <a:r>
              <a:rPr kumimoji="1" lang="en-US" altLang="ja-JP" sz="1000" dirty="0" err="1">
                <a:solidFill>
                  <a:schemeClr val="tx1"/>
                </a:solidFill>
              </a:rPr>
              <a:t>TRUE,prob</a:t>
            </a:r>
            <a:r>
              <a:rPr kumimoji="1" lang="en-US" altLang="ja-JP" sz="1000" dirty="0">
                <a:solidFill>
                  <a:schemeClr val="tx1"/>
                </a:solidFill>
              </a:rPr>
              <a:t>=NULL)</a:t>
            </a:r>
          </a:p>
          <a:p>
            <a:endParaRPr kumimoji="1" lang="en-US" altLang="ja-JP" sz="1000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 x:</a:t>
            </a:r>
            <a:r>
              <a:rPr lang="ja-JP" altLang="en-US" sz="1000" dirty="0">
                <a:solidFill>
                  <a:schemeClr val="tx1"/>
                </a:solidFill>
              </a:rPr>
              <a:t>サンプリング元のデータ</a:t>
            </a:r>
            <a:endParaRPr lang="en-US" altLang="ja-JP" sz="1000" dirty="0">
              <a:solidFill>
                <a:schemeClr val="tx1"/>
              </a:solidFill>
            </a:endParaRPr>
          </a:p>
          <a:p>
            <a:r>
              <a:rPr lang="ja-JP" altLang="en-US" sz="1000" dirty="0">
                <a:solidFill>
                  <a:schemeClr val="tx1"/>
                </a:solidFill>
              </a:rPr>
              <a:t> </a:t>
            </a:r>
            <a:r>
              <a:rPr lang="en-US" altLang="ja-JP" sz="1000" dirty="0">
                <a:solidFill>
                  <a:schemeClr val="tx1"/>
                </a:solidFill>
              </a:rPr>
              <a:t>size:</a:t>
            </a:r>
            <a:r>
              <a:rPr lang="ja-JP" altLang="en-US" sz="1000" dirty="0">
                <a:solidFill>
                  <a:schemeClr val="tx1"/>
                </a:solidFill>
              </a:rPr>
              <a:t>サンプリング回数。指定しないと、</a:t>
            </a:r>
            <a:r>
              <a:rPr lang="en-US" altLang="ja-JP" sz="1000" dirty="0">
                <a:solidFill>
                  <a:schemeClr val="tx1"/>
                </a:solidFill>
              </a:rPr>
              <a:t>length(x)</a:t>
            </a:r>
            <a:r>
              <a:rPr lang="ja-JP" altLang="en-US" sz="1000" dirty="0">
                <a:solidFill>
                  <a:schemeClr val="tx1"/>
                </a:solidFill>
              </a:rPr>
              <a:t>回サンプリングする。</a:t>
            </a:r>
            <a:endParaRPr lang="en-US" altLang="ja-JP" sz="1000" dirty="0">
              <a:solidFill>
                <a:schemeClr val="tx1"/>
              </a:solidFill>
            </a:endParaRPr>
          </a:p>
          <a:p>
            <a:r>
              <a:rPr kumimoji="1" lang="en-US" altLang="ja-JP" sz="1000" dirty="0">
                <a:solidFill>
                  <a:schemeClr val="tx1"/>
                </a:solidFill>
              </a:rPr>
              <a:t> </a:t>
            </a:r>
            <a:r>
              <a:rPr lang="en-US" altLang="ja-JP" sz="1000" dirty="0">
                <a:solidFill>
                  <a:schemeClr val="tx1"/>
                </a:solidFill>
              </a:rPr>
              <a:t>replace:</a:t>
            </a:r>
            <a:r>
              <a:rPr lang="ja-JP" altLang="en-US" sz="1000" dirty="0">
                <a:solidFill>
                  <a:schemeClr val="tx1"/>
                </a:solidFill>
              </a:rPr>
              <a:t>同一の要素を繰り返しサンプリングするのを許容するかどうか。</a:t>
            </a:r>
            <a:endParaRPr lang="en-US" altLang="ja-JP" sz="1000" dirty="0">
              <a:solidFill>
                <a:schemeClr val="tx1"/>
              </a:solidFill>
            </a:endParaRPr>
          </a:p>
          <a:p>
            <a:r>
              <a:rPr kumimoji="1" lang="en-US" altLang="ja-JP" sz="1000" dirty="0">
                <a:solidFill>
                  <a:schemeClr val="tx1"/>
                </a:solidFill>
              </a:rPr>
              <a:t> prob:</a:t>
            </a:r>
            <a:r>
              <a:rPr kumimoji="1" lang="ja-JP" altLang="en-US" sz="1000" dirty="0">
                <a:solidFill>
                  <a:schemeClr val="tx1"/>
                </a:solidFill>
              </a:rPr>
              <a:t>サンプリングする際の重みづけを確立のベクトルで指定。合計が１でなくても可。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93362CA4-F5A4-B2D5-6526-CE571E035549}"/>
              </a:ext>
            </a:extLst>
          </p:cNvPr>
          <p:cNvCxnSpPr>
            <a:cxnSpLocks/>
          </p:cNvCxnSpPr>
          <p:nvPr/>
        </p:nvCxnSpPr>
        <p:spPr>
          <a:xfrm>
            <a:off x="7505205" y="2897579"/>
            <a:ext cx="463138" cy="0"/>
          </a:xfrm>
          <a:prstGeom prst="straightConnector1">
            <a:avLst/>
          </a:prstGeom>
          <a:ln w="571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145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2D15D-6ED6-F1E2-415D-C5D0D0CAA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181" y="314435"/>
            <a:ext cx="5891408" cy="700173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7</a:t>
            </a:r>
            <a:r>
              <a:rPr kumimoji="1" lang="ja-JP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章　プログラム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8782C7-6070-7C3A-DAB7-3101F4C6ED5C}"/>
              </a:ext>
            </a:extLst>
          </p:cNvPr>
          <p:cNvSpPr/>
          <p:nvPr/>
        </p:nvSpPr>
        <p:spPr>
          <a:xfrm>
            <a:off x="658169" y="1098587"/>
            <a:ext cx="10540261" cy="55289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F0C4CB1-F083-E867-F352-7E25984AC542}"/>
              </a:ext>
            </a:extLst>
          </p:cNvPr>
          <p:cNvSpPr/>
          <p:nvPr/>
        </p:nvSpPr>
        <p:spPr>
          <a:xfrm>
            <a:off x="5598882" y="5832520"/>
            <a:ext cx="4352793" cy="6513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000" dirty="0">
                <a:solidFill>
                  <a:schemeClr val="tx1"/>
                </a:solidFill>
              </a:rPr>
              <a:t>&amp;&amp;</a:t>
            </a:r>
            <a:r>
              <a:rPr kumimoji="1" lang="ja-JP" altLang="en-US" sz="1000" dirty="0">
                <a:solidFill>
                  <a:schemeClr val="tx1"/>
                </a:solidFill>
              </a:rPr>
              <a:t>と</a:t>
            </a:r>
            <a:r>
              <a:rPr lang="en-US" altLang="ja-JP" sz="1000" dirty="0">
                <a:solidFill>
                  <a:schemeClr val="tx1"/>
                </a:solidFill>
              </a:rPr>
              <a:t>||</a:t>
            </a:r>
            <a:r>
              <a:rPr lang="ja-JP" altLang="en-US" sz="1000" dirty="0">
                <a:solidFill>
                  <a:schemeClr val="tx1"/>
                </a:solidFill>
              </a:rPr>
              <a:t>　</a:t>
            </a:r>
            <a:r>
              <a:rPr lang="en-US" altLang="ja-JP" sz="1000" dirty="0">
                <a:solidFill>
                  <a:schemeClr val="tx1"/>
                </a:solidFill>
              </a:rPr>
              <a:t>(</a:t>
            </a:r>
            <a:r>
              <a:rPr lang="ja-JP" altLang="en-US" sz="1000" dirty="0">
                <a:solidFill>
                  <a:schemeClr val="tx1"/>
                </a:solidFill>
              </a:rPr>
              <a:t>↔</a:t>
            </a:r>
            <a:r>
              <a:rPr lang="en-US" altLang="ja-JP" sz="1000" dirty="0">
                <a:solidFill>
                  <a:schemeClr val="tx1"/>
                </a:solidFill>
              </a:rPr>
              <a:t>&amp;</a:t>
            </a:r>
            <a:r>
              <a:rPr lang="ja-JP" altLang="en-US" sz="1000" dirty="0">
                <a:solidFill>
                  <a:schemeClr val="tx1"/>
                </a:solidFill>
              </a:rPr>
              <a:t>と</a:t>
            </a:r>
            <a:r>
              <a:rPr lang="en-US" altLang="ja-JP" sz="1000" dirty="0">
                <a:solidFill>
                  <a:schemeClr val="tx1"/>
                </a:solidFill>
              </a:rPr>
              <a:t>|)</a:t>
            </a:r>
          </a:p>
          <a:p>
            <a:r>
              <a:rPr lang="ja-JP" altLang="en-US" sz="1000" dirty="0">
                <a:solidFill>
                  <a:schemeClr val="tx1"/>
                </a:solidFill>
              </a:rPr>
              <a:t>左辺が</a:t>
            </a:r>
            <a:r>
              <a:rPr lang="en-US" altLang="ja-JP" sz="1000" dirty="0">
                <a:solidFill>
                  <a:schemeClr val="tx1"/>
                </a:solidFill>
              </a:rPr>
              <a:t>FALSE</a:t>
            </a:r>
            <a:r>
              <a:rPr lang="ja-JP" altLang="en-US" sz="1000" dirty="0">
                <a:solidFill>
                  <a:schemeClr val="tx1"/>
                </a:solidFill>
              </a:rPr>
              <a:t>の場合、右辺はスキップしてくれるので効率的</a:t>
            </a:r>
            <a:endParaRPr lang="en-US" altLang="ja-JP" sz="1000" dirty="0">
              <a:solidFill>
                <a:schemeClr val="tx1"/>
              </a:solidFill>
            </a:endParaRPr>
          </a:p>
          <a:p>
            <a:r>
              <a:rPr lang="ja-JP" altLang="en-US" sz="1000" dirty="0">
                <a:solidFill>
                  <a:schemeClr val="tx1"/>
                </a:solidFill>
              </a:rPr>
              <a:t>演算子の両辺に１つの論理テストがあるときのみ使用可</a:t>
            </a:r>
            <a:r>
              <a:rPr lang="en-US" altLang="ja-JP" sz="1000" dirty="0">
                <a:solidFill>
                  <a:schemeClr val="tx1"/>
                </a:solidFill>
              </a:rPr>
              <a:t>(</a:t>
            </a:r>
            <a:r>
              <a:rPr lang="ja-JP" altLang="en-US" sz="1000" dirty="0">
                <a:solidFill>
                  <a:schemeClr val="tx1"/>
                </a:solidFill>
              </a:rPr>
              <a:t>ベクトル非対応</a:t>
            </a:r>
            <a:r>
              <a:rPr lang="en-US" altLang="ja-JP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5CE81D2-C5EE-4E63-DA6F-4D50A6E33162}"/>
              </a:ext>
            </a:extLst>
          </p:cNvPr>
          <p:cNvSpPr/>
          <p:nvPr/>
        </p:nvSpPr>
        <p:spPr>
          <a:xfrm>
            <a:off x="5598881" y="5333505"/>
            <a:ext cx="4352793" cy="40599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 dirty="0">
                <a:solidFill>
                  <a:schemeClr val="tx1"/>
                </a:solidFill>
              </a:rPr>
              <a:t>u</a:t>
            </a:r>
            <a:r>
              <a:rPr kumimoji="1" lang="en-US" altLang="ja-JP" sz="1000" dirty="0">
                <a:solidFill>
                  <a:schemeClr val="tx1"/>
                </a:solidFill>
              </a:rPr>
              <a:t>nique</a:t>
            </a:r>
            <a:r>
              <a:rPr kumimoji="1" lang="ja-JP" altLang="en-US" sz="1000" dirty="0">
                <a:solidFill>
                  <a:schemeClr val="tx1"/>
                </a:solidFill>
              </a:rPr>
              <a:t>関数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Vector</a:t>
            </a:r>
            <a:r>
              <a:rPr lang="ja-JP" altLang="en-US" sz="1000" dirty="0">
                <a:solidFill>
                  <a:schemeClr val="tx1"/>
                </a:solidFill>
              </a:rPr>
              <a:t>に含まれる異なる項をまとめたベクトル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F422FEA-2F34-70ED-56A9-01A65A2AD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560" y="1143635"/>
            <a:ext cx="9391483" cy="5446283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2000" dirty="0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＃＃点数を計算する（下書き）</a:t>
            </a:r>
            <a:endParaRPr kumimoji="1" lang="en-US" altLang="ja-JP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実行内容：条件文で点数計算方法を場合分けする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kumimoji="1" lang="ja-JP" altLang="en-US" sz="2000" dirty="0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＃＃</a:t>
            </a:r>
            <a:r>
              <a:rPr lang="ja-JP" altLang="en-US" sz="2000" dirty="0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場合分けの条件１</a:t>
            </a:r>
            <a:endParaRPr kumimoji="1" lang="en-US" altLang="ja-JP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変数名：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same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型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:</a:t>
            </a:r>
            <a:r>
              <a:rPr lang="en-US" altLang="ja-JP" sz="12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boolean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</a:p>
          <a:p>
            <a:pPr algn="l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条件内容：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symbols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の中身がすべて同じである</a:t>
            </a:r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ja-JP" altLang="en-US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48069AB-69A2-19D5-CEF3-05EF75ED7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46" y="5098993"/>
            <a:ext cx="3991532" cy="146705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55046BF-6659-3E35-9CB2-048FE3BB5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117" y="3830731"/>
            <a:ext cx="3019846" cy="134321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2AB8497-24E1-1242-00CD-AA34D5F7D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46" y="1836878"/>
            <a:ext cx="2753109" cy="2038635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DA33241-75A9-C7A7-5FC3-7DABF8112A82}"/>
              </a:ext>
            </a:extLst>
          </p:cNvPr>
          <p:cNvSpPr/>
          <p:nvPr/>
        </p:nvSpPr>
        <p:spPr>
          <a:xfrm>
            <a:off x="5630117" y="1760651"/>
            <a:ext cx="3215922" cy="18948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 dirty="0">
                <a:solidFill>
                  <a:schemeClr val="tx1"/>
                </a:solidFill>
              </a:rPr>
              <a:t>else</a:t>
            </a:r>
            <a:r>
              <a:rPr lang="ja-JP" altLang="en-US" sz="1000" dirty="0">
                <a:solidFill>
                  <a:schemeClr val="tx1"/>
                </a:solidFill>
              </a:rPr>
              <a:t>文について</a:t>
            </a:r>
            <a:endParaRPr lang="en-US" altLang="ja-JP" sz="1000" dirty="0">
              <a:solidFill>
                <a:schemeClr val="tx1"/>
              </a:solidFill>
            </a:endParaRPr>
          </a:p>
          <a:p>
            <a:endParaRPr lang="en-US" altLang="ja-JP" sz="1000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else</a:t>
            </a:r>
            <a:r>
              <a:rPr lang="ja-JP" altLang="en-US" sz="1000" dirty="0">
                <a:solidFill>
                  <a:schemeClr val="tx1"/>
                </a:solidFill>
              </a:rPr>
              <a:t>なし</a:t>
            </a:r>
            <a:r>
              <a:rPr lang="en-US" altLang="ja-JP" sz="1000" dirty="0">
                <a:solidFill>
                  <a:schemeClr val="tx1"/>
                </a:solidFill>
              </a:rPr>
              <a:t>		</a:t>
            </a:r>
          </a:p>
          <a:p>
            <a:r>
              <a:rPr kumimoji="1" lang="en-US" altLang="ja-JP" sz="1000" dirty="0">
                <a:solidFill>
                  <a:schemeClr val="tx1"/>
                </a:solidFill>
              </a:rPr>
              <a:t>If(x=3) A()	</a:t>
            </a:r>
            <a:r>
              <a:rPr kumimoji="1" lang="ja-JP" altLang="en-US" sz="1000" dirty="0">
                <a:solidFill>
                  <a:schemeClr val="tx1"/>
                </a:solidFill>
              </a:rPr>
              <a:t>　　　</a:t>
            </a:r>
            <a:r>
              <a:rPr lang="en-US" altLang="ja-JP" sz="1000" dirty="0">
                <a:solidFill>
                  <a:schemeClr val="tx1"/>
                </a:solidFill>
              </a:rPr>
              <a:t>x=3</a:t>
            </a:r>
            <a:r>
              <a:rPr lang="ja-JP" altLang="en-US" sz="1000" dirty="0">
                <a:solidFill>
                  <a:schemeClr val="tx1"/>
                </a:solidFill>
              </a:rPr>
              <a:t>のとき、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If(x=5) B()	</a:t>
            </a:r>
            <a:r>
              <a:rPr lang="ja-JP" altLang="en-US" sz="1000" dirty="0">
                <a:solidFill>
                  <a:schemeClr val="tx1"/>
                </a:solidFill>
              </a:rPr>
              <a:t>　　　</a:t>
            </a:r>
            <a:r>
              <a:rPr kumimoji="1" lang="en-US" altLang="ja-JP" sz="1000" dirty="0">
                <a:solidFill>
                  <a:schemeClr val="tx1"/>
                </a:solidFill>
              </a:rPr>
              <a:t>2</a:t>
            </a:r>
            <a:r>
              <a:rPr kumimoji="1" lang="ja-JP" altLang="en-US" sz="1000" dirty="0">
                <a:solidFill>
                  <a:schemeClr val="tx1"/>
                </a:solidFill>
              </a:rPr>
              <a:t>行目の</a:t>
            </a:r>
            <a:r>
              <a:rPr kumimoji="1" lang="en-US" altLang="ja-JP" sz="1000" dirty="0">
                <a:solidFill>
                  <a:schemeClr val="tx1"/>
                </a:solidFill>
              </a:rPr>
              <a:t>if</a:t>
            </a:r>
            <a:r>
              <a:rPr kumimoji="1" lang="ja-JP" altLang="en-US" sz="1000" dirty="0">
                <a:solidFill>
                  <a:schemeClr val="tx1"/>
                </a:solidFill>
              </a:rPr>
              <a:t>文もチェックする</a:t>
            </a:r>
            <a:endParaRPr lang="en-US" altLang="ja-JP" sz="1000" dirty="0">
              <a:solidFill>
                <a:schemeClr val="tx1"/>
              </a:solidFill>
            </a:endParaRPr>
          </a:p>
          <a:p>
            <a:endParaRPr kumimoji="1" lang="en-US" altLang="ja-JP" sz="1000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else</a:t>
            </a:r>
            <a:r>
              <a:rPr lang="ja-JP" altLang="en-US" sz="1000" dirty="0">
                <a:solidFill>
                  <a:schemeClr val="tx1"/>
                </a:solidFill>
              </a:rPr>
              <a:t>あり</a:t>
            </a:r>
            <a:r>
              <a:rPr lang="en-US" altLang="ja-JP" sz="1000" dirty="0">
                <a:solidFill>
                  <a:schemeClr val="tx1"/>
                </a:solidFill>
              </a:rPr>
              <a:t>		</a:t>
            </a:r>
          </a:p>
          <a:p>
            <a:r>
              <a:rPr kumimoji="1" lang="en-US" altLang="ja-JP" sz="1000" dirty="0">
                <a:solidFill>
                  <a:schemeClr val="tx1"/>
                </a:solidFill>
              </a:rPr>
              <a:t>If(x=3){	</a:t>
            </a:r>
            <a:r>
              <a:rPr kumimoji="1" lang="ja-JP" altLang="en-US" sz="1000" dirty="0">
                <a:solidFill>
                  <a:schemeClr val="tx1"/>
                </a:solidFill>
              </a:rPr>
              <a:t>　　　</a:t>
            </a:r>
            <a:r>
              <a:rPr lang="en-US" altLang="ja-JP" sz="1000" dirty="0">
                <a:solidFill>
                  <a:schemeClr val="tx1"/>
                </a:solidFill>
              </a:rPr>
              <a:t>x=3</a:t>
            </a:r>
            <a:r>
              <a:rPr lang="ja-JP" altLang="en-US" sz="1000" dirty="0">
                <a:solidFill>
                  <a:schemeClr val="tx1"/>
                </a:solidFill>
              </a:rPr>
              <a:t>のとき、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r>
              <a:rPr lang="ja-JP" altLang="en-US" sz="1000" dirty="0">
                <a:solidFill>
                  <a:schemeClr val="tx1"/>
                </a:solidFill>
              </a:rPr>
              <a:t>　</a:t>
            </a:r>
            <a:r>
              <a:rPr lang="en-US" altLang="ja-JP" sz="1000" dirty="0">
                <a:solidFill>
                  <a:schemeClr val="tx1"/>
                </a:solidFill>
              </a:rPr>
              <a:t>A()	</a:t>
            </a:r>
            <a:r>
              <a:rPr lang="ja-JP" altLang="en-US" sz="1000" dirty="0">
                <a:solidFill>
                  <a:schemeClr val="tx1"/>
                </a:solidFill>
              </a:rPr>
              <a:t>　　　</a:t>
            </a:r>
            <a:r>
              <a:rPr lang="en-US" altLang="ja-JP" sz="1000" dirty="0">
                <a:solidFill>
                  <a:schemeClr val="tx1"/>
                </a:solidFill>
              </a:rPr>
              <a:t> 3</a:t>
            </a:r>
            <a:r>
              <a:rPr lang="ja-JP" altLang="en-US" sz="1000" dirty="0">
                <a:solidFill>
                  <a:schemeClr val="tx1"/>
                </a:solidFill>
              </a:rPr>
              <a:t>行目の</a:t>
            </a:r>
            <a:r>
              <a:rPr lang="en-US" altLang="ja-JP" sz="1000" dirty="0">
                <a:solidFill>
                  <a:schemeClr val="tx1"/>
                </a:solidFill>
              </a:rPr>
              <a:t>if</a:t>
            </a:r>
            <a:r>
              <a:rPr lang="ja-JP" altLang="en-US" sz="1000" dirty="0">
                <a:solidFill>
                  <a:schemeClr val="tx1"/>
                </a:solidFill>
              </a:rPr>
              <a:t>文はスキップする</a:t>
            </a:r>
            <a:endParaRPr lang="en-US" altLang="ja-JP" sz="1000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}else if(x=5){</a:t>
            </a:r>
          </a:p>
          <a:p>
            <a:r>
              <a:rPr lang="ja-JP" altLang="en-US" sz="1000" dirty="0">
                <a:solidFill>
                  <a:schemeClr val="tx1"/>
                </a:solidFill>
              </a:rPr>
              <a:t>　</a:t>
            </a:r>
            <a:r>
              <a:rPr lang="en-US" altLang="ja-JP" sz="1000" dirty="0">
                <a:solidFill>
                  <a:schemeClr val="tx1"/>
                </a:solidFill>
              </a:rPr>
              <a:t>B()</a:t>
            </a:r>
          </a:p>
          <a:p>
            <a:r>
              <a:rPr kumimoji="1" lang="en-US" altLang="ja-JP" sz="1000" dirty="0">
                <a:solidFill>
                  <a:schemeClr val="tx1"/>
                </a:solidFill>
              </a:rPr>
              <a:t>}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4FF8975-518B-E7D8-023D-CCCCAEBC6F95}"/>
              </a:ext>
            </a:extLst>
          </p:cNvPr>
          <p:cNvCxnSpPr>
            <a:cxnSpLocks/>
          </p:cNvCxnSpPr>
          <p:nvPr/>
        </p:nvCxnSpPr>
        <p:spPr>
          <a:xfrm flipV="1">
            <a:off x="4925769" y="4885237"/>
            <a:ext cx="593121" cy="213756"/>
          </a:xfrm>
          <a:prstGeom prst="straightConnector1">
            <a:avLst/>
          </a:prstGeom>
          <a:ln w="571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50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2D15D-6ED6-F1E2-415D-C5D0D0CAA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181" y="314435"/>
            <a:ext cx="5891408" cy="700173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7</a:t>
            </a:r>
            <a:r>
              <a:rPr kumimoji="1" lang="ja-JP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章　プログラム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8782C7-6070-7C3A-DAB7-3101F4C6ED5C}"/>
              </a:ext>
            </a:extLst>
          </p:cNvPr>
          <p:cNvSpPr/>
          <p:nvPr/>
        </p:nvSpPr>
        <p:spPr>
          <a:xfrm>
            <a:off x="658169" y="1098587"/>
            <a:ext cx="10540261" cy="55289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F0C4CB1-F083-E867-F352-7E25984AC542}"/>
              </a:ext>
            </a:extLst>
          </p:cNvPr>
          <p:cNvSpPr/>
          <p:nvPr/>
        </p:nvSpPr>
        <p:spPr>
          <a:xfrm>
            <a:off x="5843615" y="5086682"/>
            <a:ext cx="4352793" cy="6513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000" dirty="0">
                <a:solidFill>
                  <a:schemeClr val="tx1"/>
                </a:solidFill>
              </a:rPr>
              <a:t>添字操作</a:t>
            </a:r>
            <a:endParaRPr lang="en-US" altLang="ja-JP" sz="1000" dirty="0">
              <a:solidFill>
                <a:schemeClr val="tx1"/>
              </a:solidFill>
            </a:endParaRPr>
          </a:p>
          <a:p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5CE81D2-C5EE-4E63-DA6F-4D50A6E33162}"/>
              </a:ext>
            </a:extLst>
          </p:cNvPr>
          <p:cNvSpPr/>
          <p:nvPr/>
        </p:nvSpPr>
        <p:spPr>
          <a:xfrm>
            <a:off x="8561647" y="1263081"/>
            <a:ext cx="2391170" cy="1183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000" dirty="0">
                <a:solidFill>
                  <a:schemeClr val="tx1"/>
                </a:solidFill>
              </a:rPr>
              <a:t>%in% </a:t>
            </a:r>
            <a:r>
              <a:rPr kumimoji="1" lang="ja-JP" altLang="en-US" sz="1000" dirty="0">
                <a:solidFill>
                  <a:schemeClr val="tx1"/>
                </a:solidFill>
              </a:rPr>
              <a:t>左辺が右辺を含むか判断する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endParaRPr kumimoji="1" lang="en-US" altLang="ja-JP" sz="1000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List1 &lt;- c(A,B,C,D)</a:t>
            </a:r>
          </a:p>
          <a:p>
            <a:r>
              <a:rPr kumimoji="1" lang="en-US" altLang="ja-JP" sz="1000" dirty="0">
                <a:solidFill>
                  <a:schemeClr val="tx1"/>
                </a:solidFill>
              </a:rPr>
              <a:t>List2 &lt;-c(C,E,B)</a:t>
            </a:r>
          </a:p>
          <a:p>
            <a:endParaRPr lang="en-US" altLang="ja-JP" sz="1000" dirty="0">
              <a:solidFill>
                <a:schemeClr val="tx1"/>
              </a:solidFill>
            </a:endParaRPr>
          </a:p>
          <a:p>
            <a:r>
              <a:rPr kumimoji="1" lang="en-US" altLang="ja-JP" sz="1000" dirty="0">
                <a:solidFill>
                  <a:schemeClr val="tx1"/>
                </a:solidFill>
              </a:rPr>
              <a:t>List1 %in% List2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#FALSE</a:t>
            </a:r>
            <a:r>
              <a:rPr lang="ja-JP" altLang="en-US" sz="1000" dirty="0">
                <a:solidFill>
                  <a:schemeClr val="tx1"/>
                </a:solidFill>
              </a:rPr>
              <a:t> </a:t>
            </a:r>
            <a:r>
              <a:rPr lang="en-US" altLang="ja-JP" sz="1000" dirty="0">
                <a:solidFill>
                  <a:schemeClr val="tx1"/>
                </a:solidFill>
              </a:rPr>
              <a:t>TRUE</a:t>
            </a:r>
            <a:r>
              <a:rPr lang="ja-JP" altLang="en-US" sz="1000" dirty="0">
                <a:solidFill>
                  <a:schemeClr val="tx1"/>
                </a:solidFill>
              </a:rPr>
              <a:t> </a:t>
            </a:r>
            <a:r>
              <a:rPr lang="en-US" altLang="ja-JP" sz="1000" dirty="0">
                <a:solidFill>
                  <a:schemeClr val="tx1"/>
                </a:solidFill>
              </a:rPr>
              <a:t>TRUE FALSE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F422FEA-2F34-70ED-56A9-01A65A2AD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560" y="1143635"/>
            <a:ext cx="9391483" cy="5446283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2000" dirty="0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＃</a:t>
            </a:r>
            <a:r>
              <a:rPr lang="en-US" altLang="ja-JP" sz="2000" dirty="0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#</a:t>
            </a:r>
            <a:r>
              <a:rPr lang="ja-JP" altLang="en-US" sz="2000" dirty="0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場合分けの条件２</a:t>
            </a:r>
            <a:endParaRPr kumimoji="1" lang="en-US" altLang="ja-JP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変数名：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bars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型：</a:t>
            </a:r>
            <a:r>
              <a:rPr lang="en-US" altLang="ja-JP" sz="12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boolean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条件内容：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symbols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がバーを含む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※symbols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すべてがバーであってほしいので、実行時は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all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をつける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kumimoji="1" lang="ja-JP" altLang="en-US" sz="2000" dirty="0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＃＃</a:t>
            </a:r>
            <a:r>
              <a:rPr lang="ja-JP" altLang="en-US" sz="2000" dirty="0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場合分けの条件１</a:t>
            </a:r>
            <a:endParaRPr kumimoji="1" lang="en-US" altLang="ja-JP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変数名：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same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型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:</a:t>
            </a:r>
            <a:r>
              <a:rPr lang="en-US" altLang="ja-JP" sz="12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boolean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</a:p>
          <a:p>
            <a:pPr algn="l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条件内容：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symbols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の中身がすべて同じである</a:t>
            </a:r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ja-JP" altLang="en-US" sz="2000" dirty="0">
              <a:solidFill>
                <a:schemeClr val="accent4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4FF8975-518B-E7D8-023D-CCCCAEBC6F95}"/>
              </a:ext>
            </a:extLst>
          </p:cNvPr>
          <p:cNvCxnSpPr>
            <a:cxnSpLocks/>
          </p:cNvCxnSpPr>
          <p:nvPr/>
        </p:nvCxnSpPr>
        <p:spPr>
          <a:xfrm>
            <a:off x="4001984" y="2298172"/>
            <a:ext cx="581891" cy="0"/>
          </a:xfrm>
          <a:prstGeom prst="straightConnector1">
            <a:avLst/>
          </a:prstGeom>
          <a:ln w="571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>
            <a:extLst>
              <a:ext uri="{FF2B5EF4-FFF2-40B4-BE49-F238E27FC236}">
                <a16:creationId xmlns:a16="http://schemas.microsoft.com/office/drawing/2014/main" id="{43D9BC6F-D9A1-1207-8593-653B03AEC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165" y="1263081"/>
            <a:ext cx="3200847" cy="137179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D575F3D-CCE5-CF73-C3DA-679016934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51" y="2098119"/>
            <a:ext cx="2981741" cy="40010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E63407BA-FA48-FBB5-D05D-069BFB18C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466" y="3247511"/>
            <a:ext cx="2172003" cy="103837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4256DFFB-E235-2610-3205-F45EEFE75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651" y="4310789"/>
            <a:ext cx="6192114" cy="390580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9CFE1A9-41FC-F4FC-C2A4-EE7DF09753E7}"/>
              </a:ext>
            </a:extLst>
          </p:cNvPr>
          <p:cNvSpPr/>
          <p:nvPr/>
        </p:nvSpPr>
        <p:spPr>
          <a:xfrm>
            <a:off x="5843615" y="5843171"/>
            <a:ext cx="4352793" cy="6513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 dirty="0" err="1">
                <a:solidFill>
                  <a:schemeClr val="tx1"/>
                </a:solidFill>
              </a:rPr>
              <a:t>unname</a:t>
            </a:r>
            <a:endParaRPr lang="en-US" altLang="ja-JP" sz="1000" dirty="0">
              <a:solidFill>
                <a:schemeClr val="tx1"/>
              </a:solidFill>
            </a:endParaRPr>
          </a:p>
          <a:p>
            <a:endParaRPr lang="en-US" altLang="ja-JP" sz="1000" dirty="0">
              <a:solidFill>
                <a:schemeClr val="tx1"/>
              </a:solidFill>
            </a:endParaRP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5B05BFEA-621C-484A-6420-DD234BEB34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7139" y="4422472"/>
            <a:ext cx="1819529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51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496</Words>
  <Application>Microsoft Office PowerPoint</Application>
  <PresentationFormat>ワイド画面</PresentationFormat>
  <Paragraphs>75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メイリオ</vt:lpstr>
      <vt:lpstr>游ゴシック</vt:lpstr>
      <vt:lpstr>游ゴシック Light</vt:lpstr>
      <vt:lpstr>Arial</vt:lpstr>
      <vt:lpstr>Office テーマ</vt:lpstr>
      <vt:lpstr>「RStudioではじめる Rプログラミング入門」Ⅲ演習</vt:lpstr>
      <vt:lpstr>7章　プログラム　フローチャート</vt:lpstr>
      <vt:lpstr>7章　プログラム</vt:lpstr>
      <vt:lpstr>7章　プログラム</vt:lpstr>
      <vt:lpstr>7章　プログラム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「RStudioではじめる Rプログラミング入門」Ⅲ演習</dc:title>
  <dc:creator>mei nagai</dc:creator>
  <cp:lastModifiedBy>mei nagai</cp:lastModifiedBy>
  <cp:revision>3</cp:revision>
  <dcterms:created xsi:type="dcterms:W3CDTF">2026-08-03T02:31:57Z</dcterms:created>
  <dcterms:modified xsi:type="dcterms:W3CDTF">2026-08-08T01:31:40Z</dcterms:modified>
</cp:coreProperties>
</file>