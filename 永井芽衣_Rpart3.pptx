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60" r:id="rId4"/>
    <p:sldId id="258" r:id="rId5"/>
    <p:sldId id="259" r:id="rId6"/>
    <p:sldId id="263" r:id="rId7"/>
    <p:sldId id="265" r:id="rId8"/>
    <p:sldId id="266" r:id="rId9"/>
    <p:sldId id="268" r:id="rId10"/>
    <p:sldId id="267" r:id="rId11"/>
    <p:sldId id="269" r:id="rId12"/>
    <p:sldId id="278" r:id="rId13"/>
    <p:sldId id="270" r:id="rId14"/>
    <p:sldId id="275" r:id="rId15"/>
    <p:sldId id="277" r:id="rId16"/>
    <p:sldId id="276" r:id="rId17"/>
    <p:sldId id="271" r:id="rId18"/>
    <p:sldId id="272" r:id="rId19"/>
    <p:sldId id="273" r:id="rId20"/>
    <p:sldId id="274" r:id="rId21"/>
    <p:sldId id="261" r:id="rId22"/>
    <p:sldId id="264" r:id="rId23"/>
    <p:sldId id="262" r:id="rId2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507C53-DDBA-4C39-810F-79174E2C0A1E}">
          <p14:sldIdLst>
            <p14:sldId id="256"/>
          </p14:sldIdLst>
        </p14:section>
        <p14:section name="７章　プログラム" id="{1C115149-0D30-4BF1-9951-0DACCA2449E7}">
          <p14:sldIdLst>
            <p14:sldId id="257"/>
            <p14:sldId id="260"/>
            <p14:sldId id="258"/>
            <p14:sldId id="259"/>
            <p14:sldId id="263"/>
            <p14:sldId id="265"/>
          </p14:sldIdLst>
        </p14:section>
        <p14:section name="８章　S3" id="{F58F4005-9CC6-4E48-B815-3BF56D9DF4E6}">
          <p14:sldIdLst>
            <p14:sldId id="266"/>
            <p14:sldId id="268"/>
            <p14:sldId id="267"/>
          </p14:sldIdLst>
        </p14:section>
        <p14:section name="９章　ループ" id="{6DA1671D-0978-45D5-BADC-53BD7A010EA2}">
          <p14:sldIdLst>
            <p14:sldId id="269"/>
            <p14:sldId id="278"/>
            <p14:sldId id="270"/>
            <p14:sldId id="275"/>
            <p14:sldId id="277"/>
            <p14:sldId id="276"/>
            <p14:sldId id="271"/>
          </p14:sldIdLst>
        </p14:section>
        <p14:section name="１０章　スピード" id="{EEBD476B-CC6C-4DDA-A2C9-186ED5188789}">
          <p14:sldIdLst>
            <p14:sldId id="272"/>
            <p14:sldId id="273"/>
            <p14:sldId id="274"/>
          </p14:sldIdLst>
        </p14:section>
        <p14:section name="まとめ" id="{FBAA46CE-E25C-4925-91C3-D8C76579CAEF}">
          <p14:sldIdLst>
            <p14:sldId id="261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33" autoAdjust="0"/>
    <p:restoredTop sz="93849" autoAdjust="0"/>
  </p:normalViewPr>
  <p:slideViewPr>
    <p:cSldViewPr snapToGrid="0">
      <p:cViewPr>
        <p:scale>
          <a:sx n="56" d="100"/>
          <a:sy n="56" d="100"/>
        </p:scale>
        <p:origin x="-31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4" d="100"/>
        <a:sy n="164" d="100"/>
      </p:scale>
      <p:origin x="0" y="-59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12308-7085-464E-BFE5-814F883FC684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FFF96F-E18D-48CF-A9C6-76063F48C1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51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9601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nakazakimasahito.wordpress.com/2020/06/01/r-stringsasfactors-false%E3%81%AB%E3%81%A4%E3%81%84%E3%81%A6%E3%80%80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RStudio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ではじめる</a:t>
            </a:r>
            <a:b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プログラミング入門」</a:t>
            </a:r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Ⅲ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演習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24510171 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永井芽衣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4D8CB1E0-CDD1-3E70-035D-4138389B2C1E}"/>
              </a:ext>
            </a:extLst>
          </p:cNvPr>
          <p:cNvGrpSpPr/>
          <p:nvPr/>
        </p:nvGrpSpPr>
        <p:grpSpPr>
          <a:xfrm>
            <a:off x="1055762" y="1174069"/>
            <a:ext cx="10694884" cy="4986701"/>
            <a:chOff x="1055762" y="1174069"/>
            <a:chExt cx="10694884" cy="4986701"/>
          </a:xfrm>
        </p:grpSpPr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BAC1B9FE-62F3-9C84-F8AC-C71DD85038C6}"/>
                </a:ext>
              </a:extLst>
            </p:cNvPr>
            <p:cNvSpPr/>
            <p:nvPr/>
          </p:nvSpPr>
          <p:spPr>
            <a:xfrm>
              <a:off x="5279543" y="1387047"/>
              <a:ext cx="5994305" cy="6615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4BF8BC5-C7B9-88B9-A4BA-560F05356197}"/>
                </a:ext>
              </a:extLst>
            </p:cNvPr>
            <p:cNvSpPr/>
            <p:nvPr/>
          </p:nvSpPr>
          <p:spPr>
            <a:xfrm>
              <a:off x="3656758" y="1350777"/>
              <a:ext cx="1981526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g</a:t>
              </a:r>
              <a:r>
                <a:rPr kumimoji="1"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et_symbols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1838668-DDD9-7462-47D5-6EE2976326DD}"/>
                </a:ext>
              </a:extLst>
            </p:cNvPr>
            <p:cNvSpPr/>
            <p:nvPr/>
          </p:nvSpPr>
          <p:spPr>
            <a:xfrm>
              <a:off x="1055762" y="1174069"/>
              <a:ext cx="1821857" cy="1063076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p</a:t>
              </a:r>
              <a:r>
                <a:rPr kumimoji="1"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lay()</a:t>
              </a: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・スロットを回す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・結果を表示する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・賞金を表示する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B64738DB-588E-F48A-09EB-7897AF28AB47}"/>
                </a:ext>
              </a:extLst>
            </p:cNvPr>
            <p:cNvSpPr/>
            <p:nvPr/>
          </p:nvSpPr>
          <p:spPr>
            <a:xfrm>
              <a:off x="4025621" y="2163217"/>
              <a:ext cx="4876799" cy="399755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55" name="四角形: 1 つの角を切り取る 54">
              <a:extLst>
                <a:ext uri="{FF2B5EF4-FFF2-40B4-BE49-F238E27FC236}">
                  <a16:creationId xmlns:a16="http://schemas.microsoft.com/office/drawing/2014/main" id="{F5FC2D68-11EE-D33F-D33E-6B56E56666C0}"/>
                </a:ext>
              </a:extLst>
            </p:cNvPr>
            <p:cNvSpPr/>
            <p:nvPr/>
          </p:nvSpPr>
          <p:spPr>
            <a:xfrm>
              <a:off x="7501128" y="2463440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7" name="四角形: 1 つの角を切り取る 56">
              <a:extLst>
                <a:ext uri="{FF2B5EF4-FFF2-40B4-BE49-F238E27FC236}">
                  <a16:creationId xmlns:a16="http://schemas.microsoft.com/office/drawing/2014/main" id="{0B45F663-4BA6-90F3-C32E-B0814FE4CD98}"/>
                </a:ext>
              </a:extLst>
            </p:cNvPr>
            <p:cNvSpPr/>
            <p:nvPr/>
          </p:nvSpPr>
          <p:spPr>
            <a:xfrm>
              <a:off x="7501127" y="26534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3" name="四角形: 1 つの角を切り取る 62">
              <a:extLst>
                <a:ext uri="{FF2B5EF4-FFF2-40B4-BE49-F238E27FC236}">
                  <a16:creationId xmlns:a16="http://schemas.microsoft.com/office/drawing/2014/main" id="{2E9625C1-7190-E045-D66E-6E968EECABC6}"/>
                </a:ext>
              </a:extLst>
            </p:cNvPr>
            <p:cNvSpPr/>
            <p:nvPr/>
          </p:nvSpPr>
          <p:spPr>
            <a:xfrm>
              <a:off x="7501126" y="2832671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四角形: 1 つの角を切り取る 63">
              <a:extLst>
                <a:ext uri="{FF2B5EF4-FFF2-40B4-BE49-F238E27FC236}">
                  <a16:creationId xmlns:a16="http://schemas.microsoft.com/office/drawing/2014/main" id="{DF3F242E-3192-03FA-7DB6-3E561B7E58CD}"/>
                </a:ext>
              </a:extLst>
            </p:cNvPr>
            <p:cNvSpPr/>
            <p:nvPr/>
          </p:nvSpPr>
          <p:spPr>
            <a:xfrm>
              <a:off x="7501126" y="302838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四角形: 1 つの角を切り取る 64">
              <a:extLst>
                <a:ext uri="{FF2B5EF4-FFF2-40B4-BE49-F238E27FC236}">
                  <a16:creationId xmlns:a16="http://schemas.microsoft.com/office/drawing/2014/main" id="{43D8C5BE-0ED6-21E5-31A4-C8447C2517EF}"/>
                </a:ext>
              </a:extLst>
            </p:cNvPr>
            <p:cNvSpPr/>
            <p:nvPr/>
          </p:nvSpPr>
          <p:spPr>
            <a:xfrm>
              <a:off x="7501125" y="322981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6" name="四角形: 1 つの角を切り取る 65">
              <a:extLst>
                <a:ext uri="{FF2B5EF4-FFF2-40B4-BE49-F238E27FC236}">
                  <a16:creationId xmlns:a16="http://schemas.microsoft.com/office/drawing/2014/main" id="{F2D423B9-2549-3574-4E74-860E89C84826}"/>
                </a:ext>
              </a:extLst>
            </p:cNvPr>
            <p:cNvSpPr/>
            <p:nvPr/>
          </p:nvSpPr>
          <p:spPr>
            <a:xfrm>
              <a:off x="7501125" y="360810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7" name="四角形: 1 つの角を切り取る 66">
              <a:extLst>
                <a:ext uri="{FF2B5EF4-FFF2-40B4-BE49-F238E27FC236}">
                  <a16:creationId xmlns:a16="http://schemas.microsoft.com/office/drawing/2014/main" id="{09E35380-23A9-7C61-ADA4-4A1087C5618E}"/>
                </a:ext>
              </a:extLst>
            </p:cNvPr>
            <p:cNvSpPr/>
            <p:nvPr/>
          </p:nvSpPr>
          <p:spPr>
            <a:xfrm>
              <a:off x="7501125" y="341713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9CB413F7-B0D0-2F0F-7D24-918989EEF7B1}"/>
                </a:ext>
              </a:extLst>
            </p:cNvPr>
            <p:cNvSpPr/>
            <p:nvPr/>
          </p:nvSpPr>
          <p:spPr>
            <a:xfrm>
              <a:off x="8309510" y="2448632"/>
              <a:ext cx="239224" cy="2472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4A3F7CA8-3869-EB46-BD86-A470D1D7DA40}"/>
                </a:ext>
              </a:extLst>
            </p:cNvPr>
            <p:cNvSpPr/>
            <p:nvPr/>
          </p:nvSpPr>
          <p:spPr>
            <a:xfrm>
              <a:off x="8309518" y="262361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4762FE60-638A-CB8B-C6FA-79CE029FFE93}"/>
                </a:ext>
              </a:extLst>
            </p:cNvPr>
            <p:cNvSpPr/>
            <p:nvPr/>
          </p:nvSpPr>
          <p:spPr>
            <a:xfrm>
              <a:off x="8309516" y="282693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7DA322F1-FE33-0D92-C2D9-621C10C48945}"/>
                </a:ext>
              </a:extLst>
            </p:cNvPr>
            <p:cNvSpPr/>
            <p:nvPr/>
          </p:nvSpPr>
          <p:spPr>
            <a:xfrm>
              <a:off x="8309514" y="3019449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B9766C58-12EF-E255-4C8D-ECFBED3B7E61}"/>
                </a:ext>
              </a:extLst>
            </p:cNvPr>
            <p:cNvSpPr/>
            <p:nvPr/>
          </p:nvSpPr>
          <p:spPr>
            <a:xfrm>
              <a:off x="8309512" y="3211967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79F5A771-CF34-B14F-B04C-8911DFC8530D}"/>
                </a:ext>
              </a:extLst>
            </p:cNvPr>
            <p:cNvSpPr/>
            <p:nvPr/>
          </p:nvSpPr>
          <p:spPr>
            <a:xfrm>
              <a:off x="8309510" y="3404485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54F6940D-B212-2C65-7151-E223153E5A45}"/>
                </a:ext>
              </a:extLst>
            </p:cNvPr>
            <p:cNvSpPr/>
            <p:nvPr/>
          </p:nvSpPr>
          <p:spPr>
            <a:xfrm>
              <a:off x="8309508" y="3597003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80F6F971-264B-9FC3-4436-B634BA5ED607}"/>
                </a:ext>
              </a:extLst>
            </p:cNvPr>
            <p:cNvSpPr txBox="1"/>
            <p:nvPr/>
          </p:nvSpPr>
          <p:spPr>
            <a:xfrm>
              <a:off x="8231294" y="24462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100</a:t>
              </a:r>
              <a:endParaRPr kumimoji="1" lang="ja-JP" altLang="en-US" sz="1000" dirty="0"/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1037D076-2928-DEB5-29FB-7EBACC85FB2F}"/>
                </a:ext>
              </a:extLst>
            </p:cNvPr>
            <p:cNvSpPr txBox="1"/>
            <p:nvPr/>
          </p:nvSpPr>
          <p:spPr>
            <a:xfrm>
              <a:off x="8204710" y="26429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a16:creationId xmlns:a16="http://schemas.microsoft.com/office/drawing/2014/main" id="{599F8AB0-3752-A8C5-9BD9-841BCAC9D134}"/>
                </a:ext>
              </a:extLst>
            </p:cNvPr>
            <p:cNvSpPr txBox="1"/>
            <p:nvPr/>
          </p:nvSpPr>
          <p:spPr>
            <a:xfrm>
              <a:off x="8209433" y="2827633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939ED5EB-4C01-6D32-6281-FB72C8F01D5B}"/>
                </a:ext>
              </a:extLst>
            </p:cNvPr>
            <p:cNvSpPr txBox="1"/>
            <p:nvPr/>
          </p:nvSpPr>
          <p:spPr>
            <a:xfrm>
              <a:off x="8204710" y="3033417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75982506-DEBA-EB5A-00A8-06E4CC4815EB}"/>
                </a:ext>
              </a:extLst>
            </p:cNvPr>
            <p:cNvSpPr txBox="1"/>
            <p:nvPr/>
          </p:nvSpPr>
          <p:spPr>
            <a:xfrm>
              <a:off x="8275605" y="3232140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6630C5C8-13C9-09BF-BFF8-E2D4F65AB017}"/>
                </a:ext>
              </a:extLst>
            </p:cNvPr>
            <p:cNvSpPr txBox="1"/>
            <p:nvPr/>
          </p:nvSpPr>
          <p:spPr>
            <a:xfrm>
              <a:off x="8275605" y="3417359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66DE0720-BB57-956D-4589-07802FB28C7C}"/>
                </a:ext>
              </a:extLst>
            </p:cNvPr>
            <p:cNvSpPr txBox="1"/>
            <p:nvPr/>
          </p:nvSpPr>
          <p:spPr>
            <a:xfrm>
              <a:off x="8309508" y="362427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BE3BA34-0125-FEB5-AC55-36932E0F86FC}"/>
                </a:ext>
              </a:extLst>
            </p:cNvPr>
            <p:cNvGrpSpPr/>
            <p:nvPr/>
          </p:nvGrpSpPr>
          <p:grpSpPr>
            <a:xfrm>
              <a:off x="7547375" y="4127765"/>
              <a:ext cx="267102" cy="256711"/>
              <a:chOff x="5562604" y="4114313"/>
              <a:chExt cx="267102" cy="256711"/>
            </a:xfrm>
          </p:grpSpPr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081A01CB-6889-3292-7902-F2946833787C}"/>
                  </a:ext>
                </a:extLst>
              </p:cNvPr>
              <p:cNvSpPr/>
              <p:nvPr/>
            </p:nvSpPr>
            <p:spPr>
              <a:xfrm>
                <a:off x="5597917" y="4114313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6E170F40-6CE8-16A2-D1EC-F3322FCD4876}"/>
                  </a:ext>
                </a:extLst>
              </p:cNvPr>
              <p:cNvSpPr txBox="1"/>
              <p:nvPr/>
            </p:nvSpPr>
            <p:spPr>
              <a:xfrm>
                <a:off x="5562604" y="412480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84" name="四角形: 1 つの角を切り取る 83">
              <a:extLst>
                <a:ext uri="{FF2B5EF4-FFF2-40B4-BE49-F238E27FC236}">
                  <a16:creationId xmlns:a16="http://schemas.microsoft.com/office/drawing/2014/main" id="{F149B5B5-E910-6D16-312A-8CA01E871792}"/>
                </a:ext>
              </a:extLst>
            </p:cNvPr>
            <p:cNvSpPr/>
            <p:nvPr/>
          </p:nvSpPr>
          <p:spPr>
            <a:xfrm>
              <a:off x="7541273" y="473898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87" name="四角形: 1 つの角を切り取る 86">
              <a:extLst>
                <a:ext uri="{FF2B5EF4-FFF2-40B4-BE49-F238E27FC236}">
                  <a16:creationId xmlns:a16="http://schemas.microsoft.com/office/drawing/2014/main" id="{628F28D1-7838-6394-21F3-DB481803537E}"/>
                </a:ext>
              </a:extLst>
            </p:cNvPr>
            <p:cNvSpPr/>
            <p:nvPr/>
          </p:nvSpPr>
          <p:spPr>
            <a:xfrm>
              <a:off x="7535726" y="49151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88" name="四角形: 1 つの角を切り取る 87">
              <a:extLst>
                <a:ext uri="{FF2B5EF4-FFF2-40B4-BE49-F238E27FC236}">
                  <a16:creationId xmlns:a16="http://schemas.microsoft.com/office/drawing/2014/main" id="{8A2BFF8D-E743-5E82-85C4-DC0658468AD3}"/>
                </a:ext>
              </a:extLst>
            </p:cNvPr>
            <p:cNvSpPr/>
            <p:nvPr/>
          </p:nvSpPr>
          <p:spPr>
            <a:xfrm>
              <a:off x="7541619" y="511088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89" name="楕円 88">
              <a:extLst>
                <a:ext uri="{FF2B5EF4-FFF2-40B4-BE49-F238E27FC236}">
                  <a16:creationId xmlns:a16="http://schemas.microsoft.com/office/drawing/2014/main" id="{8D2F2332-BEC2-BDF7-A3D6-DFDEC6194538}"/>
                </a:ext>
              </a:extLst>
            </p:cNvPr>
            <p:cNvSpPr/>
            <p:nvPr/>
          </p:nvSpPr>
          <p:spPr>
            <a:xfrm>
              <a:off x="8442359" y="512183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楕円 89">
              <a:extLst>
                <a:ext uri="{FF2B5EF4-FFF2-40B4-BE49-F238E27FC236}">
                  <a16:creationId xmlns:a16="http://schemas.microsoft.com/office/drawing/2014/main" id="{0FB22C20-C2DE-BE1E-39FF-61C113ED15F1}"/>
                </a:ext>
              </a:extLst>
            </p:cNvPr>
            <p:cNvSpPr/>
            <p:nvPr/>
          </p:nvSpPr>
          <p:spPr>
            <a:xfrm>
              <a:off x="8442359" y="4911035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楕円 90">
              <a:extLst>
                <a:ext uri="{FF2B5EF4-FFF2-40B4-BE49-F238E27FC236}">
                  <a16:creationId xmlns:a16="http://schemas.microsoft.com/office/drawing/2014/main" id="{D634C175-138D-A16F-D2F1-C7B6358A043B}"/>
                </a:ext>
              </a:extLst>
            </p:cNvPr>
            <p:cNvSpPr/>
            <p:nvPr/>
          </p:nvSpPr>
          <p:spPr>
            <a:xfrm>
              <a:off x="8452470" y="469388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a16:creationId xmlns:a16="http://schemas.microsoft.com/office/drawing/2014/main" id="{31ECA72C-BC49-1ECA-5D5F-03180288AA1D}"/>
                </a:ext>
              </a:extLst>
            </p:cNvPr>
            <p:cNvSpPr txBox="1"/>
            <p:nvPr/>
          </p:nvSpPr>
          <p:spPr>
            <a:xfrm>
              <a:off x="8426137" y="471032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a16:creationId xmlns:a16="http://schemas.microsoft.com/office/drawing/2014/main" id="{365D215E-0434-15AD-DB21-F1AFA993DA7E}"/>
                </a:ext>
              </a:extLst>
            </p:cNvPr>
            <p:cNvSpPr txBox="1"/>
            <p:nvPr/>
          </p:nvSpPr>
          <p:spPr>
            <a:xfrm>
              <a:off x="8412400" y="493244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a16:creationId xmlns:a16="http://schemas.microsoft.com/office/drawing/2014/main" id="{96D90A90-E9BD-D6D9-20BB-C9A38C31B9FC}"/>
                </a:ext>
              </a:extLst>
            </p:cNvPr>
            <p:cNvSpPr txBox="1"/>
            <p:nvPr/>
          </p:nvSpPr>
          <p:spPr>
            <a:xfrm>
              <a:off x="8419899" y="514873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0" name="四角形: 1 つの角を切り取る 49">
              <a:extLst>
                <a:ext uri="{FF2B5EF4-FFF2-40B4-BE49-F238E27FC236}">
                  <a16:creationId xmlns:a16="http://schemas.microsoft.com/office/drawing/2014/main" id="{59593378-EBD1-080B-5352-24C014EE29C3}"/>
                </a:ext>
              </a:extLst>
            </p:cNvPr>
            <p:cNvSpPr/>
            <p:nvPr/>
          </p:nvSpPr>
          <p:spPr>
            <a:xfrm>
              <a:off x="4359858" y="2433383"/>
              <a:ext cx="2348367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同じ３種類のシンボル</a:t>
              </a:r>
            </a:p>
          </p:txBody>
        </p:sp>
        <p:sp>
          <p:nvSpPr>
            <p:cNvPr id="51" name="四角形: 1 つの角を切り取る 50">
              <a:extLst>
                <a:ext uri="{FF2B5EF4-FFF2-40B4-BE49-F238E27FC236}">
                  <a16:creationId xmlns:a16="http://schemas.microsoft.com/office/drawing/2014/main" id="{7B1BD2B9-00A3-1DA4-3439-7A0996551407}"/>
                </a:ext>
              </a:extLst>
            </p:cNvPr>
            <p:cNvSpPr/>
            <p:nvPr/>
          </p:nvSpPr>
          <p:spPr>
            <a:xfrm>
              <a:off x="4371294" y="4084091"/>
              <a:ext cx="2345630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すべてのシンボルがバー</a:t>
              </a:r>
            </a:p>
          </p:txBody>
        </p:sp>
        <p:sp>
          <p:nvSpPr>
            <p:cNvPr id="52" name="四角形: 1 つの角を切り取る 51">
              <a:extLst>
                <a:ext uri="{FF2B5EF4-FFF2-40B4-BE49-F238E27FC236}">
                  <a16:creationId xmlns:a16="http://schemas.microsoft.com/office/drawing/2014/main" id="{42F2E5AE-C500-607E-0AA3-1727A342C80F}"/>
                </a:ext>
              </a:extLst>
            </p:cNvPr>
            <p:cNvSpPr/>
            <p:nvPr/>
          </p:nvSpPr>
          <p:spPr>
            <a:xfrm>
              <a:off x="4359856" y="4804143"/>
              <a:ext cx="2348369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チェリーの数を数える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EA0B11C0-ADBF-CFE4-26A7-11FB32DD3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874" y="2816451"/>
              <a:ext cx="8310" cy="120690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6F52A7E9-09AB-48FF-290E-CB7A862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34" y="4405826"/>
              <a:ext cx="2618" cy="375083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66F8721C-69FE-1F28-5CE3-EC7BC1239C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0397" y="2571265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矢印コネクタ 103">
              <a:extLst>
                <a:ext uri="{FF2B5EF4-FFF2-40B4-BE49-F238E27FC236}">
                  <a16:creationId xmlns:a16="http://schemas.microsoft.com/office/drawing/2014/main" id="{041CF31C-6322-64B4-41FA-EFD045D54E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455" y="4238462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BF99CF8B-41ED-77F2-2B6F-734E2C77EA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3463" y="4986336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>
              <a:extLst>
                <a:ext uri="{FF2B5EF4-FFF2-40B4-BE49-F238E27FC236}">
                  <a16:creationId xmlns:a16="http://schemas.microsoft.com/office/drawing/2014/main" id="{E6D5B7F7-BD21-092E-7742-88B85C42F7FD}"/>
                </a:ext>
              </a:extLst>
            </p:cNvPr>
            <p:cNvSpPr txBox="1"/>
            <p:nvPr/>
          </p:nvSpPr>
          <p:spPr>
            <a:xfrm>
              <a:off x="6677799" y="2259326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29A0DF6F-A6BC-DFF3-D078-E8A8BBADF463}"/>
                </a:ext>
              </a:extLst>
            </p:cNvPr>
            <p:cNvSpPr txBox="1"/>
            <p:nvPr/>
          </p:nvSpPr>
          <p:spPr>
            <a:xfrm>
              <a:off x="6675823" y="3920909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76A9BC8B-2D81-E023-F505-F29343FD7744}"/>
                </a:ext>
              </a:extLst>
            </p:cNvPr>
            <p:cNvSpPr txBox="1"/>
            <p:nvPr/>
          </p:nvSpPr>
          <p:spPr>
            <a:xfrm>
              <a:off x="6670893" y="4682075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8E0598C-CFE7-FBB0-6BEC-CD5DBAF9FB47}"/>
                </a:ext>
              </a:extLst>
            </p:cNvPr>
            <p:cNvSpPr txBox="1"/>
            <p:nvPr/>
          </p:nvSpPr>
          <p:spPr>
            <a:xfrm>
              <a:off x="4591359" y="3208900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a16:creationId xmlns:a16="http://schemas.microsoft.com/office/drawing/2014/main" id="{7A539017-5764-E807-4912-E1DA64646604}"/>
                </a:ext>
              </a:extLst>
            </p:cNvPr>
            <p:cNvSpPr txBox="1"/>
            <p:nvPr/>
          </p:nvSpPr>
          <p:spPr>
            <a:xfrm>
              <a:off x="4594319" y="4459429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22" name="直線矢印コネクタ 121">
              <a:extLst>
                <a:ext uri="{FF2B5EF4-FFF2-40B4-BE49-F238E27FC236}">
                  <a16:creationId xmlns:a16="http://schemas.microsoft.com/office/drawing/2014/main" id="{240C3EE4-AD19-09E5-D154-5DFEE63C07AF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59125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矢印コネクタ 125">
              <a:extLst>
                <a:ext uri="{FF2B5EF4-FFF2-40B4-BE49-F238E27FC236}">
                  <a16:creationId xmlns:a16="http://schemas.microsoft.com/office/drawing/2014/main" id="{F5585D4F-DA0C-6F49-F18D-360EC3087463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760204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矢印コネクタ 126">
              <a:extLst>
                <a:ext uri="{FF2B5EF4-FFF2-40B4-BE49-F238E27FC236}">
                  <a16:creationId xmlns:a16="http://schemas.microsoft.com/office/drawing/2014/main" id="{3DC7B329-5296-AE55-1297-529B023D5320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956005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2744118C-6BF2-6471-390B-9BFB8C1ADBC1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153269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矢印コネクタ 128">
              <a:extLst>
                <a:ext uri="{FF2B5EF4-FFF2-40B4-BE49-F238E27FC236}">
                  <a16:creationId xmlns:a16="http://schemas.microsoft.com/office/drawing/2014/main" id="{5B845EA2-797A-F184-61AB-999F5FA8EDAC}"/>
                </a:ext>
              </a:extLst>
            </p:cNvPr>
            <p:cNvCxnSpPr>
              <a:cxnSpLocks/>
            </p:cNvCxnSpPr>
            <p:nvPr/>
          </p:nvCxnSpPr>
          <p:spPr>
            <a:xfrm>
              <a:off x="8098905" y="3363533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a16:creationId xmlns:a16="http://schemas.microsoft.com/office/drawing/2014/main" id="{75B19D8F-A853-F782-A657-91A68CD25E92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54107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9193714-6379-E3F1-F5FE-53FD8E8BE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723391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40037088-D13E-4A1F-4A9D-B30D6B0B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483550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矢印コネクタ 135">
              <a:extLst>
                <a:ext uri="{FF2B5EF4-FFF2-40B4-BE49-F238E27FC236}">
                  <a16:creationId xmlns:a16="http://schemas.microsoft.com/office/drawing/2014/main" id="{72F13DBA-A549-85F0-1AB8-5E7546DBA032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051407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矢印コネクタ 136">
              <a:extLst>
                <a:ext uri="{FF2B5EF4-FFF2-40B4-BE49-F238E27FC236}">
                  <a16:creationId xmlns:a16="http://schemas.microsoft.com/office/drawing/2014/main" id="{EE30C1FD-0BD9-D125-1097-964BF1C731C8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267306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EF5099-DD47-B065-F9A6-CD35412B43F5}"/>
                </a:ext>
              </a:extLst>
            </p:cNvPr>
            <p:cNvSpPr/>
            <p:nvPr/>
          </p:nvSpPr>
          <p:spPr>
            <a:xfrm>
              <a:off x="3656758" y="1927224"/>
              <a:ext cx="1066094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core()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A3078BB2-F832-7AAE-9503-1DDA631D87E2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51" y="1518417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09A2A5F-22FD-BA74-5B8A-C59E07DBB625}"/>
                </a:ext>
              </a:extLst>
            </p:cNvPr>
            <p:cNvCxnSpPr>
              <a:cxnSpLocks/>
            </p:cNvCxnSpPr>
            <p:nvPr/>
          </p:nvCxnSpPr>
          <p:spPr>
            <a:xfrm>
              <a:off x="2767890" y="2007989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a16:creationId xmlns:a16="http://schemas.microsoft.com/office/drawing/2014/main" id="{7F0DAD43-2625-CD76-55F7-70784D853F01}"/>
                </a:ext>
              </a:extLst>
            </p:cNvPr>
            <p:cNvCxnSpPr>
              <a:cxnSpLocks/>
            </p:cNvCxnSpPr>
            <p:nvPr/>
          </p:nvCxnSpPr>
          <p:spPr>
            <a:xfrm>
              <a:off x="4359856" y="5507223"/>
              <a:ext cx="4358603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四角形: 1 つの角を切り取る 157">
              <a:extLst>
                <a:ext uri="{FF2B5EF4-FFF2-40B4-BE49-F238E27FC236}">
                  <a16:creationId xmlns:a16="http://schemas.microsoft.com/office/drawing/2014/main" id="{80C7270A-4881-A2D8-A48F-2E19177E1C33}"/>
                </a:ext>
              </a:extLst>
            </p:cNvPr>
            <p:cNvSpPr/>
            <p:nvPr/>
          </p:nvSpPr>
          <p:spPr>
            <a:xfrm>
              <a:off x="4371294" y="5676687"/>
              <a:ext cx="2981950" cy="26100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四角形: 1 つの角を切り取る 160">
              <a:extLst>
                <a:ext uri="{FF2B5EF4-FFF2-40B4-BE49-F238E27FC236}">
                  <a16:creationId xmlns:a16="http://schemas.microsoft.com/office/drawing/2014/main" id="{EE7D6A8B-9DE6-966B-0FE8-8ACF634F2936}"/>
                </a:ext>
              </a:extLst>
            </p:cNvPr>
            <p:cNvSpPr/>
            <p:nvPr/>
          </p:nvSpPr>
          <p:spPr>
            <a:xfrm>
              <a:off x="5709450" y="1467035"/>
              <a:ext cx="5140544" cy="297946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DD,7,BBB,BB,B,C,0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の中から３つの要素を選ぶ（重複あり）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46850BCC-0C09-20C6-2E61-80E661485450}"/>
                </a:ext>
              </a:extLst>
            </p:cNvPr>
            <p:cNvSpPr txBox="1"/>
            <p:nvPr/>
          </p:nvSpPr>
          <p:spPr>
            <a:xfrm>
              <a:off x="8309508" y="1776297"/>
              <a:ext cx="3441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それぞれが選ばれる確率を指定</a:t>
              </a:r>
            </a:p>
          </p:txBody>
        </p:sp>
      </p:grpSp>
      <p:sp>
        <p:nvSpPr>
          <p:cNvPr id="165" name="楕円 164">
            <a:extLst>
              <a:ext uri="{FF2B5EF4-FFF2-40B4-BE49-F238E27FC236}">
                <a16:creationId xmlns:a16="http://schemas.microsoft.com/office/drawing/2014/main" id="{97F35ACA-E5FF-CD39-9D95-2F9D1BBA72F6}"/>
              </a:ext>
            </a:extLst>
          </p:cNvPr>
          <p:cNvSpPr/>
          <p:nvPr/>
        </p:nvSpPr>
        <p:spPr>
          <a:xfrm>
            <a:off x="3705470" y="140236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166" name="楕円 165">
            <a:extLst>
              <a:ext uri="{FF2B5EF4-FFF2-40B4-BE49-F238E27FC236}">
                <a16:creationId xmlns:a16="http://schemas.microsoft.com/office/drawing/2014/main" id="{4989CE9E-6EFB-A294-F43B-2D7F7E6D96F8}"/>
              </a:ext>
            </a:extLst>
          </p:cNvPr>
          <p:cNvSpPr/>
          <p:nvPr/>
        </p:nvSpPr>
        <p:spPr>
          <a:xfrm>
            <a:off x="866144" y="123472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  <p:sp>
        <p:nvSpPr>
          <p:cNvPr id="168" name="楕円 167">
            <a:extLst>
              <a:ext uri="{FF2B5EF4-FFF2-40B4-BE49-F238E27FC236}">
                <a16:creationId xmlns:a16="http://schemas.microsoft.com/office/drawing/2014/main" id="{C8BB56B9-AB2C-8796-A14F-309AA0F29180}"/>
              </a:ext>
            </a:extLst>
          </p:cNvPr>
          <p:cNvSpPr/>
          <p:nvPr/>
        </p:nvSpPr>
        <p:spPr>
          <a:xfrm>
            <a:off x="3596946" y="1993531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169" name="楕円 168">
            <a:extLst>
              <a:ext uri="{FF2B5EF4-FFF2-40B4-BE49-F238E27FC236}">
                <a16:creationId xmlns:a16="http://schemas.microsoft.com/office/drawing/2014/main" id="{7669092E-424A-15C1-4C92-0FFD1F17AADF}"/>
              </a:ext>
            </a:extLst>
          </p:cNvPr>
          <p:cNvSpPr/>
          <p:nvPr/>
        </p:nvSpPr>
        <p:spPr>
          <a:xfrm>
            <a:off x="4061331" y="242490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0" name="楕円 169">
            <a:extLst>
              <a:ext uri="{FF2B5EF4-FFF2-40B4-BE49-F238E27FC236}">
                <a16:creationId xmlns:a16="http://schemas.microsoft.com/office/drawing/2014/main" id="{989D2B90-7BD4-83EE-8219-61846835E032}"/>
              </a:ext>
            </a:extLst>
          </p:cNvPr>
          <p:cNvSpPr/>
          <p:nvPr/>
        </p:nvSpPr>
        <p:spPr>
          <a:xfrm>
            <a:off x="4067683" y="413412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71" name="楕円 170">
            <a:extLst>
              <a:ext uri="{FF2B5EF4-FFF2-40B4-BE49-F238E27FC236}">
                <a16:creationId xmlns:a16="http://schemas.microsoft.com/office/drawing/2014/main" id="{4D3BE0DC-40DA-440B-2929-E0E7DCC0FCDB}"/>
              </a:ext>
            </a:extLst>
          </p:cNvPr>
          <p:cNvSpPr/>
          <p:nvPr/>
        </p:nvSpPr>
        <p:spPr>
          <a:xfrm>
            <a:off x="7153337" y="30030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2" name="楕円 171">
            <a:extLst>
              <a:ext uri="{FF2B5EF4-FFF2-40B4-BE49-F238E27FC236}">
                <a16:creationId xmlns:a16="http://schemas.microsoft.com/office/drawing/2014/main" id="{16BA31D8-F0AD-BEA0-8EC3-3D65A90E8287}"/>
              </a:ext>
            </a:extLst>
          </p:cNvPr>
          <p:cNvSpPr/>
          <p:nvPr/>
        </p:nvSpPr>
        <p:spPr>
          <a:xfrm>
            <a:off x="4083969" y="481929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173" name="楕円 172">
            <a:extLst>
              <a:ext uri="{FF2B5EF4-FFF2-40B4-BE49-F238E27FC236}">
                <a16:creationId xmlns:a16="http://schemas.microsoft.com/office/drawing/2014/main" id="{D94A88C7-A66D-98A1-D356-41C1F02A1A33}"/>
              </a:ext>
            </a:extLst>
          </p:cNvPr>
          <p:cNvSpPr/>
          <p:nvPr/>
        </p:nvSpPr>
        <p:spPr>
          <a:xfrm>
            <a:off x="7200216" y="516138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4" name="楕円 173">
            <a:extLst>
              <a:ext uri="{FF2B5EF4-FFF2-40B4-BE49-F238E27FC236}">
                <a16:creationId xmlns:a16="http://schemas.microsoft.com/office/drawing/2014/main" id="{91D2AA4C-06B0-BAB0-4AD1-61EF1388297D}"/>
              </a:ext>
            </a:extLst>
          </p:cNvPr>
          <p:cNvSpPr/>
          <p:nvPr/>
        </p:nvSpPr>
        <p:spPr>
          <a:xfrm>
            <a:off x="4057848" y="5676687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60050" y="1014608"/>
            <a:ext cx="9440262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40" y="1059656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＃＃スロットを回す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実行内容１：文字列のベクトル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(DD,7,BBB,BB,B,C,0)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を、変数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sample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から３つの値を抽出する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＃＃ゲームを実行する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play</a:t>
            </a: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でスロットを回す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でスロットの結果を表示する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実行内容３：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score(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後に定義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で点数を計算・表示する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4991FC-5CF5-51A5-D820-EF02CFE3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26" y="2367670"/>
            <a:ext cx="6311305" cy="112541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13E5101-FF0C-F996-E1F8-8B0950C5B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26" y="5434534"/>
            <a:ext cx="2067213" cy="94310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37C7821-C3D3-2351-EAE1-C2D443BF5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26" y="2360132"/>
            <a:ext cx="1676634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F719EA-26FB-EFB4-546B-B3AEF40BE8E1}"/>
              </a:ext>
            </a:extLst>
          </p:cNvPr>
          <p:cNvSpPr/>
          <p:nvPr/>
        </p:nvSpPr>
        <p:spPr>
          <a:xfrm>
            <a:off x="5580181" y="3801407"/>
            <a:ext cx="4352793" cy="1320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ample(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size,replace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TRUE,prob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=NULL)</a:t>
            </a: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x: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サンプリング元のデータ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サンプリング回数。指定しないと、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length(x)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回サンプリングする。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replace: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同一の要素を繰り返しサンプリングするのを許容するかどうか。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prob: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サンプリングする際の重みづけを確立のベクトルで指定。合計が１でなくても可。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362CA4-F5A4-B2D5-6526-CE571E035549}"/>
              </a:ext>
            </a:extLst>
          </p:cNvPr>
          <p:cNvCxnSpPr>
            <a:cxnSpLocks/>
          </p:cNvCxnSpPr>
          <p:nvPr/>
        </p:nvCxnSpPr>
        <p:spPr>
          <a:xfrm>
            <a:off x="7505205" y="2897579"/>
            <a:ext cx="463138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楕円 290">
            <a:extLst>
              <a:ext uri="{FF2B5EF4-FFF2-40B4-BE49-F238E27FC236}">
                <a16:creationId xmlns:a16="http://schemas.microsoft.com/office/drawing/2014/main" id="{E4FDA11A-1D1A-802A-CF0D-2C428E7208BA}"/>
              </a:ext>
            </a:extLst>
          </p:cNvPr>
          <p:cNvSpPr/>
          <p:nvPr/>
        </p:nvSpPr>
        <p:spPr>
          <a:xfrm>
            <a:off x="3351763" y="10596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292" name="楕円 291">
            <a:extLst>
              <a:ext uri="{FF2B5EF4-FFF2-40B4-BE49-F238E27FC236}">
                <a16:creationId xmlns:a16="http://schemas.microsoft.com/office/drawing/2014/main" id="{7B34FE9E-4B70-6223-7491-6CDD0D7C7996}"/>
              </a:ext>
            </a:extLst>
          </p:cNvPr>
          <p:cNvSpPr/>
          <p:nvPr/>
        </p:nvSpPr>
        <p:spPr>
          <a:xfrm>
            <a:off x="3596007" y="380140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12191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5598882" y="583252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598881" y="5333505"/>
            <a:ext cx="4352793" cy="4059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関数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＃＃点数を計算する（下書き）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実行内容：条件文で点数計算方法を場合分けする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48069AB-69A2-19D5-CEF3-05EF75ED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46" y="5098993"/>
            <a:ext cx="3991532" cy="146705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55046BF-6659-3E35-9CB2-048FE3BB5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117" y="3830731"/>
            <a:ext cx="3019846" cy="134321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AB8497-24E1-1242-00CD-AA34D5F7D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46" y="1836878"/>
            <a:ext cx="2753109" cy="20386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DA33241-75A9-C7A7-5FC3-7DABF8112A82}"/>
              </a:ext>
            </a:extLst>
          </p:cNvPr>
          <p:cNvSpPr/>
          <p:nvPr/>
        </p:nvSpPr>
        <p:spPr>
          <a:xfrm>
            <a:off x="5630117" y="1760651"/>
            <a:ext cx="3215922" cy="18948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文について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なし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 A()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If(x=5) B()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文もチェックする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あり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If(x=3){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文はスキップする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}else if(x=5){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B()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 flipV="1">
            <a:off x="4925769" y="4885237"/>
            <a:ext cx="593121" cy="21375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4EC35FEC-3C75-B0EF-9DC2-6F4B8ED68DFA}"/>
              </a:ext>
            </a:extLst>
          </p:cNvPr>
          <p:cNvSpPr/>
          <p:nvPr/>
        </p:nvSpPr>
        <p:spPr>
          <a:xfrm>
            <a:off x="4224008" y="114363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705F4AE-F440-E18C-0059-4ED176537C16}"/>
              </a:ext>
            </a:extLst>
          </p:cNvPr>
          <p:cNvSpPr/>
          <p:nvPr/>
        </p:nvSpPr>
        <p:spPr>
          <a:xfrm>
            <a:off x="3363111" y="42152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5501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9720288" y="2794458"/>
            <a:ext cx="1176150" cy="7796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c(“A”=3,”B”=10)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A  B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3  10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%in% 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左辺が右辺を含むか判断する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&lt;- c(A,B,C,D)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List2 &lt;-c(C,E,B)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List1 %in% List2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 FALSE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場合分けの条件２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がバーを含む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すべてがバーであってほしいので、実行時は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all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＃＃点数の計算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＃点数を代入する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型：整数値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条件１のとき、１要素目の得点を代入</a:t>
            </a:r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001984" y="229817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43D9BC6F-D9A1-1207-8593-653B03AE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165" y="1263081"/>
            <a:ext cx="3200847" cy="137179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D575F3D-CCE5-CF73-C3DA-679016934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1" y="2098119"/>
            <a:ext cx="2981741" cy="40010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63407BA-FA48-FBB5-D05D-069BFB18C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239" y="2794458"/>
            <a:ext cx="2172003" cy="103837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256DFFB-E235-2610-3205-F45EEFE75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51" y="4310789"/>
            <a:ext cx="6192114" cy="390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9CFE1A9-41FC-F4FC-C2A4-EE7DF09753E7}"/>
              </a:ext>
            </a:extLst>
          </p:cNvPr>
          <p:cNvSpPr/>
          <p:nvPr/>
        </p:nvSpPr>
        <p:spPr>
          <a:xfrm>
            <a:off x="9359384" y="4017941"/>
            <a:ext cx="2401239" cy="11664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unname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     = ( names() &lt;- NULL)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ベクトル・行列の名前を消して返す。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（行列のとき）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列名のみ消す：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colnames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rownames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05BFEA-621C-484A-6420-DD234BEB3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239" y="4065573"/>
            <a:ext cx="1819529" cy="314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500F86D-80BD-F4B8-52B1-EE37F5E315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239" y="5222015"/>
            <a:ext cx="2305372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DB8024D-3C11-C52B-F41B-28D2769D5D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44391" b="-1"/>
          <a:stretch/>
        </p:blipFill>
        <p:spPr>
          <a:xfrm>
            <a:off x="949897" y="6146069"/>
            <a:ext cx="6249272" cy="18541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81FA8E4C-B42F-95B1-EB56-2D23186D42B1}"/>
              </a:ext>
            </a:extLst>
          </p:cNvPr>
          <p:cNvSpPr/>
          <p:nvPr/>
        </p:nvSpPr>
        <p:spPr>
          <a:xfrm>
            <a:off x="3351763" y="118405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DE7ED8C7-11EF-4FAA-D829-54110B060CB3}"/>
              </a:ext>
            </a:extLst>
          </p:cNvPr>
          <p:cNvSpPr/>
          <p:nvPr/>
        </p:nvSpPr>
        <p:spPr>
          <a:xfrm>
            <a:off x="2821969" y="332644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ADBD0AC-8D38-11DB-9BF3-C78EF8CEFB3A}"/>
              </a:ext>
            </a:extLst>
          </p:cNvPr>
          <p:cNvSpPr/>
          <p:nvPr/>
        </p:nvSpPr>
        <p:spPr>
          <a:xfrm>
            <a:off x="3144581" y="510336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2D8D670-3D58-2589-6A4F-9E2ADD754D02}"/>
              </a:ext>
            </a:extLst>
          </p:cNvPr>
          <p:cNvCxnSpPr>
            <a:cxnSpLocks/>
          </p:cNvCxnSpPr>
          <p:nvPr/>
        </p:nvCxnSpPr>
        <p:spPr>
          <a:xfrm flipV="1">
            <a:off x="6858000" y="3724507"/>
            <a:ext cx="490654" cy="49862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CC293DC-9604-7AF9-7AB0-D429D3C1526F}"/>
              </a:ext>
            </a:extLst>
          </p:cNvPr>
          <p:cNvCxnSpPr>
            <a:cxnSpLocks/>
          </p:cNvCxnSpPr>
          <p:nvPr/>
        </p:nvCxnSpPr>
        <p:spPr>
          <a:xfrm flipV="1">
            <a:off x="6858000" y="5783278"/>
            <a:ext cx="489350" cy="20492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51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281077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チェリー・ダイヤモンドの数を数える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C,DD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である要素を数える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チェリーの数に合わせて賞金計算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ルックアップテーブルを利用して場合分け・代入をする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c(0,2,5)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の１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&lt;- 2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 のとき → 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proze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&lt;- 5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＃ダイヤの数に合わせて賞金計算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実行内容：ダイヤモンド１つあたり賞金２倍にする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→賞金に２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^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daiamonds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をかける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773384" y="2097371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>
            <a:extLst>
              <a:ext uri="{FF2B5EF4-FFF2-40B4-BE49-F238E27FC236}">
                <a16:creationId xmlns:a16="http://schemas.microsoft.com/office/drawing/2014/main" id="{2B27AECC-8E7C-47CD-2977-B689E504B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55" y="1613784"/>
            <a:ext cx="2248214" cy="90500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A97FC9F-9682-C1B4-9FC8-1265618F87C9}"/>
              </a:ext>
            </a:extLst>
          </p:cNvPr>
          <p:cNvSpPr/>
          <p:nvPr/>
        </p:nvSpPr>
        <p:spPr>
          <a:xfrm>
            <a:off x="7006285" y="1613784"/>
            <a:ext cx="2391170" cy="5013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sum()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中身の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を１と０に変換して合計する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EA16A4A2-10E1-0777-6237-1FB6EDDE4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34" y="2130799"/>
            <a:ext cx="2514951" cy="19052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4CE016A1-AB5A-013D-B013-0A36AE93E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" y="1913864"/>
            <a:ext cx="2429214" cy="1524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7C8B6A2-C3A7-61E4-12B3-16C0914A9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34" y="4455701"/>
            <a:ext cx="2286319" cy="161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085FE81-175D-265A-BF00-484F1BA8AAC4}"/>
              </a:ext>
            </a:extLst>
          </p:cNvPr>
          <p:cNvSpPr/>
          <p:nvPr/>
        </p:nvSpPr>
        <p:spPr>
          <a:xfrm>
            <a:off x="7727923" y="2853023"/>
            <a:ext cx="3293415" cy="11519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ツリーの使い分け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ツリー個々の分岐が異なる値を割り当てるとき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個々のツリーに対して異なる実行をするとき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99328AF-B8D6-82EA-B526-1E2BA0C6A3A2}"/>
              </a:ext>
            </a:extLst>
          </p:cNvPr>
          <p:cNvSpPr/>
          <p:nvPr/>
        </p:nvSpPr>
        <p:spPr>
          <a:xfrm>
            <a:off x="7727924" y="4166924"/>
            <a:ext cx="3293415" cy="10772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ルックアップテーブルの使い方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割り当てる値をベクトルに格納する。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条件が文字列を使う場合、ベクトルに名前を与え、名前に基づく添字操作を利用する。条件が整数なら、整数による添え字操作を利用する。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8D818FA3-5D53-C66F-775B-5F387D726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93" y="6288698"/>
            <a:ext cx="1276528" cy="20957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488A0E4-7736-597D-E525-88A7D7260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5761" y="4580368"/>
            <a:ext cx="2772162" cy="17147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9B97C1CF-37FD-1B6B-A2BE-78686A17432C}"/>
              </a:ext>
            </a:extLst>
          </p:cNvPr>
          <p:cNvCxnSpPr>
            <a:cxnSpLocks/>
          </p:cNvCxnSpPr>
          <p:nvPr/>
        </p:nvCxnSpPr>
        <p:spPr>
          <a:xfrm>
            <a:off x="3773383" y="4589346"/>
            <a:ext cx="1027217" cy="274754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228B8E2-63C8-0C04-807D-12FF03CC7B70}"/>
              </a:ext>
            </a:extLst>
          </p:cNvPr>
          <p:cNvCxnSpPr>
            <a:cxnSpLocks/>
          </p:cNvCxnSpPr>
          <p:nvPr/>
        </p:nvCxnSpPr>
        <p:spPr>
          <a:xfrm flipV="1">
            <a:off x="3684482" y="6146800"/>
            <a:ext cx="1116118" cy="246688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BFB3501-E5E6-622F-2025-1E8B027A9173}"/>
              </a:ext>
            </a:extLst>
          </p:cNvPr>
          <p:cNvSpPr/>
          <p:nvPr/>
        </p:nvSpPr>
        <p:spPr>
          <a:xfrm>
            <a:off x="1545257" y="6543565"/>
            <a:ext cx="2119725" cy="190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</a:rPr>
              <a:t>最後の計算結果が戻り値となる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B08AA567-2D08-2D6D-609E-8626A875A9DC}"/>
              </a:ext>
            </a:extLst>
          </p:cNvPr>
          <p:cNvSpPr/>
          <p:nvPr/>
        </p:nvSpPr>
        <p:spPr>
          <a:xfrm>
            <a:off x="5653262" y="119594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C98A928A-0A72-F61A-D728-CD239F85EC95}"/>
              </a:ext>
            </a:extLst>
          </p:cNvPr>
          <p:cNvSpPr/>
          <p:nvPr/>
        </p:nvSpPr>
        <p:spPr>
          <a:xfrm>
            <a:off x="5973878" y="1210034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42E325D-BFB1-9EDC-E3AD-5794A46F700C}"/>
              </a:ext>
            </a:extLst>
          </p:cNvPr>
          <p:cNvSpPr/>
          <p:nvPr/>
        </p:nvSpPr>
        <p:spPr>
          <a:xfrm>
            <a:off x="5256179" y="287287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977B9171-A7E3-1BF1-0AD7-5B7A799625A7}"/>
              </a:ext>
            </a:extLst>
          </p:cNvPr>
          <p:cNvSpPr/>
          <p:nvPr/>
        </p:nvSpPr>
        <p:spPr>
          <a:xfrm>
            <a:off x="4633937" y="54822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565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F24A9A6-5DDE-E357-2FFA-F33E60C5B7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94"/>
          <a:stretch/>
        </p:blipFill>
        <p:spPr>
          <a:xfrm>
            <a:off x="969179" y="986417"/>
            <a:ext cx="6601746" cy="5843392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218FBA66-A5A7-9CAA-B246-CE0F79645A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7459"/>
          <a:stretch/>
        </p:blipFill>
        <p:spPr>
          <a:xfrm>
            <a:off x="9249096" y="986417"/>
            <a:ext cx="1499661" cy="5660657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C5E4660-7186-CB5E-419A-17884A25EC39}"/>
              </a:ext>
            </a:extLst>
          </p:cNvPr>
          <p:cNvCxnSpPr>
            <a:cxnSpLocks/>
          </p:cNvCxnSpPr>
          <p:nvPr/>
        </p:nvCxnSpPr>
        <p:spPr>
          <a:xfrm>
            <a:off x="8017727" y="3777488"/>
            <a:ext cx="950436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95DA3D-9113-A7B9-1EE6-AABD19DE6625}"/>
              </a:ext>
            </a:extLst>
          </p:cNvPr>
          <p:cNvSpPr txBox="1"/>
          <p:nvPr/>
        </p:nvSpPr>
        <p:spPr>
          <a:xfrm>
            <a:off x="7923514" y="3385471"/>
            <a:ext cx="118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実行結果</a:t>
            </a:r>
          </a:p>
        </p:txBody>
      </p:sp>
    </p:spTree>
    <p:extLst>
      <p:ext uri="{BB962C8B-B14F-4D97-AF65-F5344CB8AC3E}">
        <p14:creationId xmlns:p14="http://schemas.microsoft.com/office/powerpoint/2010/main" val="3106440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７章の問題点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symbol</a:t>
            </a:r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の出力が文字列のままになっている</a:t>
            </a:r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play()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の中で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を呼び出しているため賞金しか保存されない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A97A842-D302-F886-A16D-C10AA16B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88" y="1991463"/>
            <a:ext cx="1228896" cy="4667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42DD4E0-15BD-13B2-F9AB-331C495C3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88" y="3252075"/>
            <a:ext cx="1771897" cy="60968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9089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2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05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789276" y="1014608"/>
            <a:ext cx="519157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＃＃スロットマシンの払戻率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を計算する</a:t>
            </a:r>
            <a:endParaRPr kumimoji="1" lang="en-US" altLang="ja-JP" b="1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1F87E62-FE98-AD0F-8513-D49DDA134022}"/>
              </a:ext>
            </a:extLst>
          </p:cNvPr>
          <p:cNvGrpSpPr/>
          <p:nvPr/>
        </p:nvGrpSpPr>
        <p:grpSpPr>
          <a:xfrm>
            <a:off x="1396317" y="3608861"/>
            <a:ext cx="3917578" cy="2481371"/>
            <a:chOff x="1396317" y="3608861"/>
            <a:chExt cx="3917578" cy="24813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/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kumimoji="1"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期待値を求める手順</a:t>
                  </a:r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組み合わせをリストにする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P(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)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「個々の確率」を追加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 (prob)</a:t>
                  </a: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ea typeface="メイリオ" panose="020B0604030504040204" pitchFamily="50" charset="-128"/>
                    </a:rPr>
                    <a:t>　　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  <m:r>
                        <a:rPr lang="en-US" altLang="ja-JP" sz="1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      </m:t>
                      </m:r>
                      <m:r>
                        <a:rPr lang="ja-JP" altLang="en-US" sz="1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「</m:t>
                      </m:r>
                    </m:oMath>
                  </a14:m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個々の賞金」を追加 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(prize)</a:t>
                  </a:r>
                </a:p>
                <a:p>
                  <a:pPr marL="342900" indent="-342900">
                    <a:buAutoNum type="arabicPeriod" startAt="3"/>
                  </a:pP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E(x) 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「期待値」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</p:txBody>
            </p:sp>
          </mc:Choice>
          <mc:Fallback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blipFill>
                  <a:blip r:embed="rId2"/>
                  <a:stretch>
                    <a:fillRect l="-465"/>
                  </a:stretch>
                </a:blip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8BB8CD2-4C1D-A6B0-3CFE-5DFAC41ED353}"/>
                </a:ext>
              </a:extLst>
            </p:cNvPr>
            <p:cNvSpPr/>
            <p:nvPr/>
          </p:nvSpPr>
          <p:spPr>
            <a:xfrm>
              <a:off x="1562701" y="4068678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ja-JP" altLang="en-US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１</a:t>
              </a:r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9F574DB6-9FAE-E3D0-25B7-830B8F8E4152}"/>
                </a:ext>
              </a:extLst>
            </p:cNvPr>
            <p:cNvSpPr/>
            <p:nvPr/>
          </p:nvSpPr>
          <p:spPr>
            <a:xfrm>
              <a:off x="1562701" y="4560632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E91F29C-A4B0-8094-5318-C969088D25D7}"/>
                </a:ext>
              </a:extLst>
            </p:cNvPr>
            <p:cNvSpPr/>
            <p:nvPr/>
          </p:nvSpPr>
          <p:spPr>
            <a:xfrm>
              <a:off x="1562701" y="497375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C0980DBD-9550-9C9A-38FD-3C778DFE5707}"/>
                </a:ext>
              </a:extLst>
            </p:cNvPr>
            <p:cNvSpPr/>
            <p:nvPr/>
          </p:nvSpPr>
          <p:spPr>
            <a:xfrm>
              <a:off x="1562701" y="5386886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45ABC1E-FFA8-E070-A92B-61C3A98A097E}"/>
              </a:ext>
            </a:extLst>
          </p:cNvPr>
          <p:cNvGrpSpPr/>
          <p:nvPr/>
        </p:nvGrpSpPr>
        <p:grpSpPr>
          <a:xfrm>
            <a:off x="1463708" y="1652132"/>
            <a:ext cx="2441901" cy="1238703"/>
            <a:chOff x="5955294" y="2422406"/>
            <a:chExt cx="2441901" cy="1238703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C6851C2C-4387-1630-E98C-F3095ED2077A}"/>
                </a:ext>
              </a:extLst>
            </p:cNvPr>
            <p:cNvGrpSpPr/>
            <p:nvPr/>
          </p:nvGrpSpPr>
          <p:grpSpPr>
            <a:xfrm>
              <a:off x="5955294" y="2422406"/>
              <a:ext cx="2441901" cy="1226867"/>
              <a:chOff x="8536877" y="1219843"/>
              <a:chExt cx="2441901" cy="1226867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75CE81D2-C5EE-4E63-DA6F-4D50A6E33162}"/>
                  </a:ext>
                </a:extLst>
              </p:cNvPr>
              <p:cNvSpPr/>
              <p:nvPr/>
            </p:nvSpPr>
            <p:spPr>
              <a:xfrm>
                <a:off x="8536877" y="1219843"/>
                <a:ext cx="2391170" cy="11836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ja-JP" altLang="en-US" sz="20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期待値</a:t>
                </a:r>
                <a:endParaRPr lang="en-US" altLang="ja-JP" sz="20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endParaRPr lang="en-US" altLang="ja-JP" sz="1000" dirty="0">
                  <a:solidFill>
                    <a:schemeClr val="tx1"/>
                  </a:solidFill>
                </a:endParaRPr>
              </a:p>
              <a:p>
                <a:endParaRPr lang="en-US" altLang="ja-JP" sz="1050" dirty="0">
                  <a:solidFill>
                    <a:schemeClr val="tx1"/>
                  </a:solidFill>
                </a:endParaRPr>
              </a:p>
              <a:p>
                <a:r>
                  <a:rPr lang="en-US" altLang="ja-JP" sz="2000" dirty="0">
                    <a:solidFill>
                      <a:schemeClr val="tx1"/>
                    </a:solidFill>
                  </a:rPr>
                  <a:t>E(x) =</a:t>
                </a:r>
                <a:r>
                  <a:rPr lang="en-US" altLang="ja-JP" sz="10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/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nary>
                            <m:naryPr>
                              <m:chr m:val="∑"/>
                              <m:limLoc m:val="undOvr"/>
                              <m:grow m:val="on"/>
                              <m:ctrlP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ja-JP" alt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ja-JP" altLang="en-US" i="1">
                                  <a:latin typeface="Cambria Math" panose="02040503050406030204" pitchFamily="18" charset="0"/>
                                </a:rPr>
                                <m:t>・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nary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9FB3D0C6-6659-7664-B270-AA193A0A303A}"/>
                </a:ext>
              </a:extLst>
            </p:cNvPr>
            <p:cNvSpPr/>
            <p:nvPr/>
          </p:nvSpPr>
          <p:spPr>
            <a:xfrm>
              <a:off x="7912701" y="3395545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966C088-F302-B3FF-A349-002F880B9943}"/>
                </a:ext>
              </a:extLst>
            </p:cNvPr>
            <p:cNvSpPr/>
            <p:nvPr/>
          </p:nvSpPr>
          <p:spPr>
            <a:xfrm>
              <a:off x="7288232" y="3429000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956A384D-F90E-7A51-543D-33E1A82470AB}"/>
                </a:ext>
              </a:extLst>
            </p:cNvPr>
            <p:cNvSpPr/>
            <p:nvPr/>
          </p:nvSpPr>
          <p:spPr>
            <a:xfrm>
              <a:off x="6142403" y="342899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092E9AE-6310-845F-8212-CB87CAD7047C}"/>
              </a:ext>
            </a:extLst>
          </p:cNvPr>
          <p:cNvSpPr/>
          <p:nvPr/>
        </p:nvSpPr>
        <p:spPr>
          <a:xfrm>
            <a:off x="6211147" y="145177"/>
            <a:ext cx="5728519" cy="63983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score</a:t>
            </a:r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の中身を訂正する</a:t>
            </a:r>
            <a:endParaRPr kumimoji="1"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は賞金を挙げるためにほかのシンボルとして扱うことができる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・ダイヤを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として扱えるのは、すでにシンボルが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を含むときのみ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8AB7309-A0CB-092D-032B-7A87D5CF9887}"/>
              </a:ext>
            </a:extLst>
          </p:cNvPr>
          <p:cNvSpPr/>
          <p:nvPr/>
        </p:nvSpPr>
        <p:spPr>
          <a:xfrm>
            <a:off x="6137329" y="858597"/>
            <a:ext cx="5636217" cy="312022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新しい変数 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 : DD</a:t>
            </a:r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以外の要素の種類の数　を用意する</a:t>
            </a:r>
            <a:endParaRPr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293" name="グループ化 292">
            <a:extLst>
              <a:ext uri="{FF2B5EF4-FFF2-40B4-BE49-F238E27FC236}">
                <a16:creationId xmlns:a16="http://schemas.microsoft.com/office/drawing/2014/main" id="{90A1A100-DEA4-E9B0-6A5D-E8A7998381B2}"/>
              </a:ext>
            </a:extLst>
          </p:cNvPr>
          <p:cNvGrpSpPr/>
          <p:nvPr/>
        </p:nvGrpSpPr>
        <p:grpSpPr>
          <a:xfrm>
            <a:off x="6326294" y="1183866"/>
            <a:ext cx="5306724" cy="5276538"/>
            <a:chOff x="6507678" y="1244900"/>
            <a:chExt cx="5306724" cy="5276538"/>
          </a:xfrm>
        </p:grpSpPr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8275863C-A2D1-1FB6-5B3B-6CE0BFA08DBA}"/>
                </a:ext>
              </a:extLst>
            </p:cNvPr>
            <p:cNvSpPr/>
            <p:nvPr/>
          </p:nvSpPr>
          <p:spPr>
            <a:xfrm>
              <a:off x="6507678" y="1244900"/>
              <a:ext cx="5306724" cy="527653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217" name="四角形: 1 つの角を切り取る 216">
              <a:extLst>
                <a:ext uri="{FF2B5EF4-FFF2-40B4-BE49-F238E27FC236}">
                  <a16:creationId xmlns:a16="http://schemas.microsoft.com/office/drawing/2014/main" id="{AC70E57F-7C4E-D58E-0296-32C847577D4D}"/>
                </a:ext>
              </a:extLst>
            </p:cNvPr>
            <p:cNvSpPr/>
            <p:nvPr/>
          </p:nvSpPr>
          <p:spPr>
            <a:xfrm>
              <a:off x="10485138" y="2336901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18" name="四角形: 1 つの角を切り取る 217">
              <a:extLst>
                <a:ext uri="{FF2B5EF4-FFF2-40B4-BE49-F238E27FC236}">
                  <a16:creationId xmlns:a16="http://schemas.microsoft.com/office/drawing/2014/main" id="{63BDB58E-E6DE-F7D1-4883-9A2A57C9C364}"/>
                </a:ext>
              </a:extLst>
            </p:cNvPr>
            <p:cNvSpPr/>
            <p:nvPr/>
          </p:nvSpPr>
          <p:spPr>
            <a:xfrm>
              <a:off x="10485137" y="2518692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19" name="四角形: 1 つの角を切り取る 218">
              <a:extLst>
                <a:ext uri="{FF2B5EF4-FFF2-40B4-BE49-F238E27FC236}">
                  <a16:creationId xmlns:a16="http://schemas.microsoft.com/office/drawing/2014/main" id="{BC098D27-A088-ECE6-1D13-ED79392D80E3}"/>
                </a:ext>
              </a:extLst>
            </p:cNvPr>
            <p:cNvSpPr/>
            <p:nvPr/>
          </p:nvSpPr>
          <p:spPr>
            <a:xfrm>
              <a:off x="10485137" y="2717241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20" name="四角形: 1 つの角を切り取る 219">
              <a:extLst>
                <a:ext uri="{FF2B5EF4-FFF2-40B4-BE49-F238E27FC236}">
                  <a16:creationId xmlns:a16="http://schemas.microsoft.com/office/drawing/2014/main" id="{1929D7E6-1843-AB8B-C111-1EC7131292FA}"/>
                </a:ext>
              </a:extLst>
            </p:cNvPr>
            <p:cNvSpPr/>
            <p:nvPr/>
          </p:nvSpPr>
          <p:spPr>
            <a:xfrm>
              <a:off x="10485136" y="2921589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21" name="四角形: 1 つの角を切り取る 220">
              <a:extLst>
                <a:ext uri="{FF2B5EF4-FFF2-40B4-BE49-F238E27FC236}">
                  <a16:creationId xmlns:a16="http://schemas.microsoft.com/office/drawing/2014/main" id="{E45A9BFA-860B-8D50-F419-C2FD5E81584A}"/>
                </a:ext>
              </a:extLst>
            </p:cNvPr>
            <p:cNvSpPr/>
            <p:nvPr/>
          </p:nvSpPr>
          <p:spPr>
            <a:xfrm>
              <a:off x="10485136" y="3305362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22" name="四角形: 1 つの角を切り取る 221">
              <a:extLst>
                <a:ext uri="{FF2B5EF4-FFF2-40B4-BE49-F238E27FC236}">
                  <a16:creationId xmlns:a16="http://schemas.microsoft.com/office/drawing/2014/main" id="{0FBBBB70-895D-8984-1480-01A9C7FF3A07}"/>
                </a:ext>
              </a:extLst>
            </p:cNvPr>
            <p:cNvSpPr/>
            <p:nvPr/>
          </p:nvSpPr>
          <p:spPr>
            <a:xfrm>
              <a:off x="10485136" y="3111628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23" name="楕円 222">
              <a:extLst>
                <a:ext uri="{FF2B5EF4-FFF2-40B4-BE49-F238E27FC236}">
                  <a16:creationId xmlns:a16="http://schemas.microsoft.com/office/drawing/2014/main" id="{452A2519-D833-6B46-E2F4-7BE79B4C167B}"/>
                </a:ext>
              </a:extLst>
            </p:cNvPr>
            <p:cNvSpPr/>
            <p:nvPr/>
          </p:nvSpPr>
          <p:spPr>
            <a:xfrm>
              <a:off x="10578140" y="1452159"/>
              <a:ext cx="377279" cy="37468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4" name="楕円 223">
              <a:extLst>
                <a:ext uri="{FF2B5EF4-FFF2-40B4-BE49-F238E27FC236}">
                  <a16:creationId xmlns:a16="http://schemas.microsoft.com/office/drawing/2014/main" id="{FA3ECBC9-784A-D20B-7633-0031A99739B3}"/>
                </a:ext>
              </a:extLst>
            </p:cNvPr>
            <p:cNvSpPr/>
            <p:nvPr/>
          </p:nvSpPr>
          <p:spPr>
            <a:xfrm>
              <a:off x="11320171" y="2306604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5" name="楕円 224">
              <a:extLst>
                <a:ext uri="{FF2B5EF4-FFF2-40B4-BE49-F238E27FC236}">
                  <a16:creationId xmlns:a16="http://schemas.microsoft.com/office/drawing/2014/main" id="{740460B0-A3DA-AAFF-40B1-DD06C04C0205}"/>
                </a:ext>
              </a:extLst>
            </p:cNvPr>
            <p:cNvSpPr/>
            <p:nvPr/>
          </p:nvSpPr>
          <p:spPr>
            <a:xfrm>
              <a:off x="11320169" y="2512869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6" name="楕円 225">
              <a:extLst>
                <a:ext uri="{FF2B5EF4-FFF2-40B4-BE49-F238E27FC236}">
                  <a16:creationId xmlns:a16="http://schemas.microsoft.com/office/drawing/2014/main" id="{15A9B4FF-20C6-1C10-4F90-F68A5AA0C5F5}"/>
                </a:ext>
              </a:extLst>
            </p:cNvPr>
            <p:cNvSpPr/>
            <p:nvPr/>
          </p:nvSpPr>
          <p:spPr>
            <a:xfrm>
              <a:off x="11320167" y="2708176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7" name="楕円 226">
              <a:extLst>
                <a:ext uri="{FF2B5EF4-FFF2-40B4-BE49-F238E27FC236}">
                  <a16:creationId xmlns:a16="http://schemas.microsoft.com/office/drawing/2014/main" id="{94D10B90-8653-820D-9199-01F000F50775}"/>
                </a:ext>
              </a:extLst>
            </p:cNvPr>
            <p:cNvSpPr/>
            <p:nvPr/>
          </p:nvSpPr>
          <p:spPr>
            <a:xfrm>
              <a:off x="11320165" y="2903483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8" name="楕円 227">
              <a:extLst>
                <a:ext uri="{FF2B5EF4-FFF2-40B4-BE49-F238E27FC236}">
                  <a16:creationId xmlns:a16="http://schemas.microsoft.com/office/drawing/2014/main" id="{57B1D4DC-963C-8DC7-B2CA-60CA33652010}"/>
                </a:ext>
              </a:extLst>
            </p:cNvPr>
            <p:cNvSpPr/>
            <p:nvPr/>
          </p:nvSpPr>
          <p:spPr>
            <a:xfrm>
              <a:off x="11320163" y="3098790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29" name="楕円 228">
              <a:extLst>
                <a:ext uri="{FF2B5EF4-FFF2-40B4-BE49-F238E27FC236}">
                  <a16:creationId xmlns:a16="http://schemas.microsoft.com/office/drawing/2014/main" id="{14A9C296-6923-7541-4414-47CCA0F86B47}"/>
                </a:ext>
              </a:extLst>
            </p:cNvPr>
            <p:cNvSpPr/>
            <p:nvPr/>
          </p:nvSpPr>
          <p:spPr>
            <a:xfrm>
              <a:off x="11320161" y="3294098"/>
              <a:ext cx="247110" cy="2589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30" name="テキスト ボックス 229">
              <a:extLst>
                <a:ext uri="{FF2B5EF4-FFF2-40B4-BE49-F238E27FC236}">
                  <a16:creationId xmlns:a16="http://schemas.microsoft.com/office/drawing/2014/main" id="{FDD37E07-66D0-6517-CBC7-460F03A69E90}"/>
                </a:ext>
              </a:extLst>
            </p:cNvPr>
            <p:cNvSpPr txBox="1"/>
            <p:nvPr/>
          </p:nvSpPr>
          <p:spPr>
            <a:xfrm>
              <a:off x="10529895" y="1484020"/>
              <a:ext cx="698422" cy="296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300" dirty="0"/>
                <a:t>100</a:t>
              </a:r>
              <a:endParaRPr kumimoji="1" lang="ja-JP" altLang="en-US" sz="1300" dirty="0"/>
            </a:p>
          </p:txBody>
        </p:sp>
        <p:sp>
          <p:nvSpPr>
            <p:cNvPr id="231" name="テキスト ボックス 230">
              <a:extLst>
                <a:ext uri="{FF2B5EF4-FFF2-40B4-BE49-F238E27FC236}">
                  <a16:creationId xmlns:a16="http://schemas.microsoft.com/office/drawing/2014/main" id="{F6E8923D-7BF1-0AAF-E913-3D8EF44B930E}"/>
                </a:ext>
              </a:extLst>
            </p:cNvPr>
            <p:cNvSpPr txBox="1"/>
            <p:nvPr/>
          </p:nvSpPr>
          <p:spPr>
            <a:xfrm>
              <a:off x="11211909" y="2326215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232" name="テキスト ボックス 231">
              <a:extLst>
                <a:ext uri="{FF2B5EF4-FFF2-40B4-BE49-F238E27FC236}">
                  <a16:creationId xmlns:a16="http://schemas.microsoft.com/office/drawing/2014/main" id="{23D3C299-4C72-4DC2-5A6A-35B13B31DB3F}"/>
                </a:ext>
              </a:extLst>
            </p:cNvPr>
            <p:cNvSpPr txBox="1"/>
            <p:nvPr/>
          </p:nvSpPr>
          <p:spPr>
            <a:xfrm>
              <a:off x="11216788" y="2513581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233" name="テキスト ボックス 232">
              <a:extLst>
                <a:ext uri="{FF2B5EF4-FFF2-40B4-BE49-F238E27FC236}">
                  <a16:creationId xmlns:a16="http://schemas.microsoft.com/office/drawing/2014/main" id="{15EF319C-2677-5776-BB83-FC550F855563}"/>
                </a:ext>
              </a:extLst>
            </p:cNvPr>
            <p:cNvSpPr txBox="1"/>
            <p:nvPr/>
          </p:nvSpPr>
          <p:spPr>
            <a:xfrm>
              <a:off x="11211909" y="2722347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234" name="テキスト ボックス 233">
              <a:extLst>
                <a:ext uri="{FF2B5EF4-FFF2-40B4-BE49-F238E27FC236}">
                  <a16:creationId xmlns:a16="http://schemas.microsoft.com/office/drawing/2014/main" id="{54D8FDA9-3546-A103-9231-B1D46074EF6E}"/>
                </a:ext>
              </a:extLst>
            </p:cNvPr>
            <p:cNvSpPr txBox="1"/>
            <p:nvPr/>
          </p:nvSpPr>
          <p:spPr>
            <a:xfrm>
              <a:off x="11285140" y="2923949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235" name="テキスト ボックス 234">
              <a:extLst>
                <a:ext uri="{FF2B5EF4-FFF2-40B4-BE49-F238E27FC236}">
                  <a16:creationId xmlns:a16="http://schemas.microsoft.com/office/drawing/2014/main" id="{A6C7650A-5A35-E0E0-CD5D-59F1A3AC161A}"/>
                </a:ext>
              </a:extLst>
            </p:cNvPr>
            <p:cNvSpPr txBox="1"/>
            <p:nvPr/>
          </p:nvSpPr>
          <p:spPr>
            <a:xfrm>
              <a:off x="11285140" y="3111851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236" name="テキスト ボックス 235">
              <a:extLst>
                <a:ext uri="{FF2B5EF4-FFF2-40B4-BE49-F238E27FC236}">
                  <a16:creationId xmlns:a16="http://schemas.microsoft.com/office/drawing/2014/main" id="{500F7FA8-9DA7-3F51-2E6B-D164397A3A63}"/>
                </a:ext>
              </a:extLst>
            </p:cNvPr>
            <p:cNvSpPr txBox="1"/>
            <p:nvPr/>
          </p:nvSpPr>
          <p:spPr>
            <a:xfrm>
              <a:off x="11320161" y="3321762"/>
              <a:ext cx="457449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237" name="グループ化 236">
              <a:extLst>
                <a:ext uri="{FF2B5EF4-FFF2-40B4-BE49-F238E27FC236}">
                  <a16:creationId xmlns:a16="http://schemas.microsoft.com/office/drawing/2014/main" id="{2D71C9B3-1E12-E4A9-DF75-5763165BD6A0}"/>
                </a:ext>
              </a:extLst>
            </p:cNvPr>
            <p:cNvGrpSpPr/>
            <p:nvPr/>
          </p:nvGrpSpPr>
          <p:grpSpPr>
            <a:xfrm>
              <a:off x="10456364" y="3751788"/>
              <a:ext cx="292344" cy="264104"/>
              <a:chOff x="5697017" y="3490152"/>
              <a:chExt cx="283017" cy="260332"/>
            </a:xfrm>
          </p:grpSpPr>
          <p:sp>
            <p:nvSpPr>
              <p:cNvPr id="289" name="楕円 288">
                <a:extLst>
                  <a:ext uri="{FF2B5EF4-FFF2-40B4-BE49-F238E27FC236}">
                    <a16:creationId xmlns:a16="http://schemas.microsoft.com/office/drawing/2014/main" id="{827BD9B4-2C7B-CBFE-F83C-5CF0EBEEB778}"/>
                  </a:ext>
                </a:extLst>
              </p:cNvPr>
              <p:cNvSpPr/>
              <p:nvPr/>
            </p:nvSpPr>
            <p:spPr>
              <a:xfrm>
                <a:off x="5748245" y="3490152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0" name="テキスト ボックス 289">
                <a:extLst>
                  <a:ext uri="{FF2B5EF4-FFF2-40B4-BE49-F238E27FC236}">
                    <a16:creationId xmlns:a16="http://schemas.microsoft.com/office/drawing/2014/main" id="{56126F16-8D4A-24CB-9267-2AEB408962EE}"/>
                  </a:ext>
                </a:extLst>
              </p:cNvPr>
              <p:cNvSpPr txBox="1"/>
              <p:nvPr/>
            </p:nvSpPr>
            <p:spPr>
              <a:xfrm>
                <a:off x="5697017" y="350426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238" name="四角形: 1 つの角を切り取る 237">
              <a:extLst>
                <a:ext uri="{FF2B5EF4-FFF2-40B4-BE49-F238E27FC236}">
                  <a16:creationId xmlns:a16="http://schemas.microsoft.com/office/drawing/2014/main" id="{6DA5D551-7960-23F3-04CD-85BD41648BBA}"/>
                </a:ext>
              </a:extLst>
            </p:cNvPr>
            <p:cNvSpPr/>
            <p:nvPr/>
          </p:nvSpPr>
          <p:spPr>
            <a:xfrm>
              <a:off x="10412578" y="5017216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239" name="四角形: 1 つの角を切り取る 238">
              <a:extLst>
                <a:ext uri="{FF2B5EF4-FFF2-40B4-BE49-F238E27FC236}">
                  <a16:creationId xmlns:a16="http://schemas.microsoft.com/office/drawing/2014/main" id="{284E8201-062D-5D18-FBCF-8F3D913F157A}"/>
                </a:ext>
              </a:extLst>
            </p:cNvPr>
            <p:cNvSpPr/>
            <p:nvPr/>
          </p:nvSpPr>
          <p:spPr>
            <a:xfrm>
              <a:off x="10406848" y="5195957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240" name="四角形: 1 つの角を切り取る 239">
              <a:extLst>
                <a:ext uri="{FF2B5EF4-FFF2-40B4-BE49-F238E27FC236}">
                  <a16:creationId xmlns:a16="http://schemas.microsoft.com/office/drawing/2014/main" id="{4E0045CC-C046-8557-97F9-94BD365338D4}"/>
                </a:ext>
              </a:extLst>
            </p:cNvPr>
            <p:cNvSpPr/>
            <p:nvPr/>
          </p:nvSpPr>
          <p:spPr>
            <a:xfrm>
              <a:off x="10412936" y="5394505"/>
              <a:ext cx="564291" cy="195839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241" name="楕円 240">
              <a:extLst>
                <a:ext uri="{FF2B5EF4-FFF2-40B4-BE49-F238E27FC236}">
                  <a16:creationId xmlns:a16="http://schemas.microsoft.com/office/drawing/2014/main" id="{35BAF776-3D37-1D5A-A2F4-CE40776E8E85}"/>
                </a:ext>
              </a:extLst>
            </p:cNvPr>
            <p:cNvSpPr/>
            <p:nvPr/>
          </p:nvSpPr>
          <p:spPr>
            <a:xfrm>
              <a:off x="11343361" y="5405614"/>
              <a:ext cx="239428" cy="2447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242" name="楕円 241">
              <a:extLst>
                <a:ext uri="{FF2B5EF4-FFF2-40B4-BE49-F238E27FC236}">
                  <a16:creationId xmlns:a16="http://schemas.microsoft.com/office/drawing/2014/main" id="{09A00BD7-0B91-CBE9-0FFD-36CC339A6BA6}"/>
                </a:ext>
              </a:extLst>
            </p:cNvPr>
            <p:cNvSpPr/>
            <p:nvPr/>
          </p:nvSpPr>
          <p:spPr>
            <a:xfrm>
              <a:off x="11343361" y="5191756"/>
              <a:ext cx="239428" cy="2447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243" name="楕円 242">
              <a:extLst>
                <a:ext uri="{FF2B5EF4-FFF2-40B4-BE49-F238E27FC236}">
                  <a16:creationId xmlns:a16="http://schemas.microsoft.com/office/drawing/2014/main" id="{05EF656B-DD0C-0895-A837-EEF912337C6D}"/>
                </a:ext>
              </a:extLst>
            </p:cNvPr>
            <p:cNvSpPr/>
            <p:nvPr/>
          </p:nvSpPr>
          <p:spPr>
            <a:xfrm>
              <a:off x="11353805" y="4971464"/>
              <a:ext cx="239428" cy="2447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244" name="テキスト ボックス 243">
              <a:extLst>
                <a:ext uri="{FF2B5EF4-FFF2-40B4-BE49-F238E27FC236}">
                  <a16:creationId xmlns:a16="http://schemas.microsoft.com/office/drawing/2014/main" id="{CBBE271E-3879-94CE-66C6-2275B03EB952}"/>
                </a:ext>
              </a:extLst>
            </p:cNvPr>
            <p:cNvSpPr txBox="1"/>
            <p:nvPr/>
          </p:nvSpPr>
          <p:spPr>
            <a:xfrm>
              <a:off x="11326604" y="4988138"/>
              <a:ext cx="264504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45" name="テキスト ボックス 244">
              <a:extLst>
                <a:ext uri="{FF2B5EF4-FFF2-40B4-BE49-F238E27FC236}">
                  <a16:creationId xmlns:a16="http://schemas.microsoft.com/office/drawing/2014/main" id="{990A9C28-CA9E-9C36-7750-EE908FC482DD}"/>
                </a:ext>
              </a:extLst>
            </p:cNvPr>
            <p:cNvSpPr txBox="1"/>
            <p:nvPr/>
          </p:nvSpPr>
          <p:spPr>
            <a:xfrm>
              <a:off x="11312414" y="5213474"/>
              <a:ext cx="264504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46" name="テキスト ボックス 245">
              <a:extLst>
                <a:ext uri="{FF2B5EF4-FFF2-40B4-BE49-F238E27FC236}">
                  <a16:creationId xmlns:a16="http://schemas.microsoft.com/office/drawing/2014/main" id="{DB42B7EC-BACA-32B9-ADE4-522EBB05A11B}"/>
                </a:ext>
              </a:extLst>
            </p:cNvPr>
            <p:cNvSpPr txBox="1"/>
            <p:nvPr/>
          </p:nvSpPr>
          <p:spPr>
            <a:xfrm>
              <a:off x="11320161" y="5432900"/>
              <a:ext cx="264504" cy="249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47" name="四角形: 1 つの角を切り取る 246">
              <a:extLst>
                <a:ext uri="{FF2B5EF4-FFF2-40B4-BE49-F238E27FC236}">
                  <a16:creationId xmlns:a16="http://schemas.microsoft.com/office/drawing/2014/main" id="{097B2245-B21E-F74B-9089-E06CB5696B0A}"/>
                </a:ext>
              </a:extLst>
            </p:cNvPr>
            <p:cNvSpPr/>
            <p:nvPr/>
          </p:nvSpPr>
          <p:spPr>
            <a:xfrm>
              <a:off x="7085238" y="2285209"/>
              <a:ext cx="2425761" cy="264781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slots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が１種類</a:t>
              </a:r>
            </a:p>
          </p:txBody>
        </p:sp>
        <p:sp>
          <p:nvSpPr>
            <p:cNvPr id="248" name="四角形: 1 つの角を切り取る 247">
              <a:extLst>
                <a:ext uri="{FF2B5EF4-FFF2-40B4-BE49-F238E27FC236}">
                  <a16:creationId xmlns:a16="http://schemas.microsoft.com/office/drawing/2014/main" id="{C927AFBD-4070-52F8-BA36-569A13C63CA8}"/>
                </a:ext>
              </a:extLst>
            </p:cNvPr>
            <p:cNvSpPr/>
            <p:nvPr/>
          </p:nvSpPr>
          <p:spPr>
            <a:xfrm>
              <a:off x="7088070" y="4600163"/>
              <a:ext cx="1425725" cy="264781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が１つ以上</a:t>
              </a:r>
            </a:p>
          </p:txBody>
        </p:sp>
        <p:sp>
          <p:nvSpPr>
            <p:cNvPr id="249" name="四角形: 1 つの角を切り取る 248">
              <a:extLst>
                <a:ext uri="{FF2B5EF4-FFF2-40B4-BE49-F238E27FC236}">
                  <a16:creationId xmlns:a16="http://schemas.microsoft.com/office/drawing/2014/main" id="{1BDD83FB-6DC0-4237-BFC2-6259912BFFA1}"/>
                </a:ext>
              </a:extLst>
            </p:cNvPr>
            <p:cNvSpPr/>
            <p:nvPr/>
          </p:nvSpPr>
          <p:spPr>
            <a:xfrm>
              <a:off x="9299513" y="4633801"/>
              <a:ext cx="2135505" cy="25278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と</a:t>
              </a:r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の合計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を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数える</a:t>
              </a:r>
            </a:p>
          </p:txBody>
        </p:sp>
        <p:cxnSp>
          <p:nvCxnSpPr>
            <p:cNvPr id="250" name="直線矢印コネクタ 249">
              <a:extLst>
                <a:ext uri="{FF2B5EF4-FFF2-40B4-BE49-F238E27FC236}">
                  <a16:creationId xmlns:a16="http://schemas.microsoft.com/office/drawing/2014/main" id="{6BA574A5-0AAB-260E-B0F4-9CE887558600}"/>
                </a:ext>
              </a:extLst>
            </p:cNvPr>
            <p:cNvCxnSpPr>
              <a:cxnSpLocks/>
            </p:cNvCxnSpPr>
            <p:nvPr/>
          </p:nvCxnSpPr>
          <p:spPr>
            <a:xfrm>
              <a:off x="7258310" y="2666522"/>
              <a:ext cx="0" cy="905027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線矢印コネクタ 250">
              <a:extLst>
                <a:ext uri="{FF2B5EF4-FFF2-40B4-BE49-F238E27FC236}">
                  <a16:creationId xmlns:a16="http://schemas.microsoft.com/office/drawing/2014/main" id="{9F184168-4536-7EAA-DF01-C0C37F260B77}"/>
                </a:ext>
              </a:extLst>
            </p:cNvPr>
            <p:cNvCxnSpPr>
              <a:cxnSpLocks/>
            </p:cNvCxnSpPr>
            <p:nvPr/>
          </p:nvCxnSpPr>
          <p:spPr>
            <a:xfrm>
              <a:off x="7255606" y="1823363"/>
              <a:ext cx="2704" cy="380517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線矢印コネクタ 251">
              <a:extLst>
                <a:ext uri="{FF2B5EF4-FFF2-40B4-BE49-F238E27FC236}">
                  <a16:creationId xmlns:a16="http://schemas.microsoft.com/office/drawing/2014/main" id="{5CE10198-74D8-0434-4C84-93AEA91062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7007" y="1632237"/>
              <a:ext cx="547249" cy="2596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直線矢印コネクタ 252">
              <a:extLst>
                <a:ext uri="{FF2B5EF4-FFF2-40B4-BE49-F238E27FC236}">
                  <a16:creationId xmlns:a16="http://schemas.microsoft.com/office/drawing/2014/main" id="{91640AD6-3BA4-02FD-3182-330387259B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84046" y="2460401"/>
              <a:ext cx="547249" cy="2596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直線矢印コネクタ 253">
              <a:extLst>
                <a:ext uri="{FF2B5EF4-FFF2-40B4-BE49-F238E27FC236}">
                  <a16:creationId xmlns:a16="http://schemas.microsoft.com/office/drawing/2014/main" id="{7C2272AD-03B8-E004-A8D4-3A4574FC8B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55678" y="3880486"/>
              <a:ext cx="547249" cy="2596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テキスト ボックス 254">
              <a:extLst>
                <a:ext uri="{FF2B5EF4-FFF2-40B4-BE49-F238E27FC236}">
                  <a16:creationId xmlns:a16="http://schemas.microsoft.com/office/drawing/2014/main" id="{F76611DE-91F4-2921-18E7-D5EFCDD6E5A1}"/>
                </a:ext>
              </a:extLst>
            </p:cNvPr>
            <p:cNvSpPr txBox="1"/>
            <p:nvPr/>
          </p:nvSpPr>
          <p:spPr>
            <a:xfrm>
              <a:off x="9614571" y="1257555"/>
              <a:ext cx="886201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56" name="テキスト ボックス 255">
              <a:extLst>
                <a:ext uri="{FF2B5EF4-FFF2-40B4-BE49-F238E27FC236}">
                  <a16:creationId xmlns:a16="http://schemas.microsoft.com/office/drawing/2014/main" id="{4EBEE22E-72D5-D684-89FC-BECCE180EAD8}"/>
                </a:ext>
              </a:extLst>
            </p:cNvPr>
            <p:cNvSpPr txBox="1"/>
            <p:nvPr/>
          </p:nvSpPr>
          <p:spPr>
            <a:xfrm>
              <a:off x="7410817" y="5002753"/>
              <a:ext cx="1102977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57" name="テキスト ボックス 256">
              <a:extLst>
                <a:ext uri="{FF2B5EF4-FFF2-40B4-BE49-F238E27FC236}">
                  <a16:creationId xmlns:a16="http://schemas.microsoft.com/office/drawing/2014/main" id="{34E8BE3B-DA56-FADE-2BEE-4DDD233C8CA6}"/>
                </a:ext>
              </a:extLst>
            </p:cNvPr>
            <p:cNvSpPr txBox="1"/>
            <p:nvPr/>
          </p:nvSpPr>
          <p:spPr>
            <a:xfrm>
              <a:off x="9607530" y="3550858"/>
              <a:ext cx="886201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58" name="テキスト ボックス 257">
              <a:extLst>
                <a:ext uri="{FF2B5EF4-FFF2-40B4-BE49-F238E27FC236}">
                  <a16:creationId xmlns:a16="http://schemas.microsoft.com/office/drawing/2014/main" id="{6864349D-F8A2-1396-257E-25AFF08368EF}"/>
                </a:ext>
              </a:extLst>
            </p:cNvPr>
            <p:cNvSpPr txBox="1"/>
            <p:nvPr/>
          </p:nvSpPr>
          <p:spPr>
            <a:xfrm>
              <a:off x="7358855" y="1880432"/>
              <a:ext cx="1154939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59" name="テキスト ボックス 258">
              <a:extLst>
                <a:ext uri="{FF2B5EF4-FFF2-40B4-BE49-F238E27FC236}">
                  <a16:creationId xmlns:a16="http://schemas.microsoft.com/office/drawing/2014/main" id="{6763C126-3C7B-FF36-59C1-155CDF3FA05E}"/>
                </a:ext>
              </a:extLst>
            </p:cNvPr>
            <p:cNvSpPr txBox="1"/>
            <p:nvPr/>
          </p:nvSpPr>
          <p:spPr>
            <a:xfrm>
              <a:off x="7358855" y="4142876"/>
              <a:ext cx="1154939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260" name="直線矢印コネクタ 259">
              <a:extLst>
                <a:ext uri="{FF2B5EF4-FFF2-40B4-BE49-F238E27FC236}">
                  <a16:creationId xmlns:a16="http://schemas.microsoft.com/office/drawing/2014/main" id="{A758BA7D-AC66-7387-59B2-8D6831A8F804}"/>
                </a:ext>
              </a:extLst>
            </p:cNvPr>
            <p:cNvCxnSpPr>
              <a:cxnSpLocks/>
            </p:cNvCxnSpPr>
            <p:nvPr/>
          </p:nvCxnSpPr>
          <p:spPr>
            <a:xfrm>
              <a:off x="11099765" y="2445176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矢印コネクタ 260">
              <a:extLst>
                <a:ext uri="{FF2B5EF4-FFF2-40B4-BE49-F238E27FC236}">
                  <a16:creationId xmlns:a16="http://schemas.microsoft.com/office/drawing/2014/main" id="{94C14F58-EEE7-593B-BC47-9B3D3648073A}"/>
                </a:ext>
              </a:extLst>
            </p:cNvPr>
            <p:cNvCxnSpPr>
              <a:cxnSpLocks/>
            </p:cNvCxnSpPr>
            <p:nvPr/>
          </p:nvCxnSpPr>
          <p:spPr>
            <a:xfrm>
              <a:off x="11099765" y="2643813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矢印コネクタ 261">
              <a:extLst>
                <a:ext uri="{FF2B5EF4-FFF2-40B4-BE49-F238E27FC236}">
                  <a16:creationId xmlns:a16="http://schemas.microsoft.com/office/drawing/2014/main" id="{F90D8038-085A-261C-219D-C81B837E0E00}"/>
                </a:ext>
              </a:extLst>
            </p:cNvPr>
            <p:cNvCxnSpPr>
              <a:cxnSpLocks/>
            </p:cNvCxnSpPr>
            <p:nvPr/>
          </p:nvCxnSpPr>
          <p:spPr>
            <a:xfrm>
              <a:off x="11099765" y="2843935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矢印コネクタ 262">
              <a:extLst>
                <a:ext uri="{FF2B5EF4-FFF2-40B4-BE49-F238E27FC236}">
                  <a16:creationId xmlns:a16="http://schemas.microsoft.com/office/drawing/2014/main" id="{09F48F07-DB6C-7C20-F633-A6D63D58768F}"/>
                </a:ext>
              </a:extLst>
            </p:cNvPr>
            <p:cNvCxnSpPr>
              <a:cxnSpLocks/>
            </p:cNvCxnSpPr>
            <p:nvPr/>
          </p:nvCxnSpPr>
          <p:spPr>
            <a:xfrm>
              <a:off x="11102617" y="3057245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線矢印コネクタ 263">
              <a:extLst>
                <a:ext uri="{FF2B5EF4-FFF2-40B4-BE49-F238E27FC236}">
                  <a16:creationId xmlns:a16="http://schemas.microsoft.com/office/drawing/2014/main" id="{90323B72-2A18-171E-E5C0-C525A6172AFB}"/>
                </a:ext>
              </a:extLst>
            </p:cNvPr>
            <p:cNvCxnSpPr>
              <a:cxnSpLocks/>
            </p:cNvCxnSpPr>
            <p:nvPr/>
          </p:nvCxnSpPr>
          <p:spPr>
            <a:xfrm>
              <a:off x="11099765" y="3237362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線矢印コネクタ 264">
              <a:extLst>
                <a:ext uri="{FF2B5EF4-FFF2-40B4-BE49-F238E27FC236}">
                  <a16:creationId xmlns:a16="http://schemas.microsoft.com/office/drawing/2014/main" id="{6DB688C0-42D6-52DB-FE2B-582907C2E2B6}"/>
                </a:ext>
              </a:extLst>
            </p:cNvPr>
            <p:cNvCxnSpPr>
              <a:cxnSpLocks/>
            </p:cNvCxnSpPr>
            <p:nvPr/>
          </p:nvCxnSpPr>
          <p:spPr>
            <a:xfrm>
              <a:off x="11099765" y="3422317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線矢印コネクタ 265">
              <a:extLst>
                <a:ext uri="{FF2B5EF4-FFF2-40B4-BE49-F238E27FC236}">
                  <a16:creationId xmlns:a16="http://schemas.microsoft.com/office/drawing/2014/main" id="{B569A0D5-70D1-1D08-3DD1-0FBC0414784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5746" y="5115135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線矢印コネクタ 266">
              <a:extLst>
                <a:ext uri="{FF2B5EF4-FFF2-40B4-BE49-F238E27FC236}">
                  <a16:creationId xmlns:a16="http://schemas.microsoft.com/office/drawing/2014/main" id="{E67F6781-D0A2-61B1-E6CB-EF14484DB4AC}"/>
                </a:ext>
              </a:extLst>
            </p:cNvPr>
            <p:cNvCxnSpPr>
              <a:cxnSpLocks/>
            </p:cNvCxnSpPr>
            <p:nvPr/>
          </p:nvCxnSpPr>
          <p:spPr>
            <a:xfrm>
              <a:off x="11025746" y="5334162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線矢印コネクタ 267">
              <a:extLst>
                <a:ext uri="{FF2B5EF4-FFF2-40B4-BE49-F238E27FC236}">
                  <a16:creationId xmlns:a16="http://schemas.microsoft.com/office/drawing/2014/main" id="{71F7B7D6-5746-0004-0721-FE62B3B5C84D}"/>
                </a:ext>
              </a:extLst>
            </p:cNvPr>
            <p:cNvCxnSpPr>
              <a:cxnSpLocks/>
            </p:cNvCxnSpPr>
            <p:nvPr/>
          </p:nvCxnSpPr>
          <p:spPr>
            <a:xfrm>
              <a:off x="11025746" y="5553189"/>
              <a:ext cx="185932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線コネクタ 268">
              <a:extLst>
                <a:ext uri="{FF2B5EF4-FFF2-40B4-BE49-F238E27FC236}">
                  <a16:creationId xmlns:a16="http://schemas.microsoft.com/office/drawing/2014/main" id="{73D5FCC9-2DB2-BAE6-6439-8C06AD6BEE63}"/>
                </a:ext>
              </a:extLst>
            </p:cNvPr>
            <p:cNvCxnSpPr>
              <a:cxnSpLocks/>
            </p:cNvCxnSpPr>
            <p:nvPr/>
          </p:nvCxnSpPr>
          <p:spPr>
            <a:xfrm>
              <a:off x="6911636" y="6077949"/>
              <a:ext cx="4682967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0" name="四角形: 1 つの角を切り取る 269">
              <a:extLst>
                <a:ext uri="{FF2B5EF4-FFF2-40B4-BE49-F238E27FC236}">
                  <a16:creationId xmlns:a16="http://schemas.microsoft.com/office/drawing/2014/main" id="{EECB0EE7-CC12-3F31-667A-4708D7AEA894}"/>
                </a:ext>
              </a:extLst>
            </p:cNvPr>
            <p:cNvSpPr/>
            <p:nvPr/>
          </p:nvSpPr>
          <p:spPr>
            <a:xfrm>
              <a:off x="7092188" y="6180131"/>
              <a:ext cx="3080225" cy="264781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1" name="楕円 270">
              <a:extLst>
                <a:ext uri="{FF2B5EF4-FFF2-40B4-BE49-F238E27FC236}">
                  <a16:creationId xmlns:a16="http://schemas.microsoft.com/office/drawing/2014/main" id="{E58DCA30-A60B-E1DE-4C57-E62FAFAF3FFC}"/>
                </a:ext>
              </a:extLst>
            </p:cNvPr>
            <p:cNvSpPr/>
            <p:nvPr/>
          </p:nvSpPr>
          <p:spPr>
            <a:xfrm>
              <a:off x="6785489" y="1499949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2" name="楕円 271">
              <a:extLst>
                <a:ext uri="{FF2B5EF4-FFF2-40B4-BE49-F238E27FC236}">
                  <a16:creationId xmlns:a16="http://schemas.microsoft.com/office/drawing/2014/main" id="{60872A26-BA03-CAA9-A0D3-F75B6445F77A}"/>
                </a:ext>
              </a:extLst>
            </p:cNvPr>
            <p:cNvSpPr/>
            <p:nvPr/>
          </p:nvSpPr>
          <p:spPr>
            <a:xfrm>
              <a:off x="6759054" y="3734664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3" name="楕円 272">
              <a:extLst>
                <a:ext uri="{FF2B5EF4-FFF2-40B4-BE49-F238E27FC236}">
                  <a16:creationId xmlns:a16="http://schemas.microsoft.com/office/drawing/2014/main" id="{5EB1CBEF-ED74-D41F-A0FA-6BAA4EAB4869}"/>
                </a:ext>
              </a:extLst>
            </p:cNvPr>
            <p:cNvSpPr/>
            <p:nvPr/>
          </p:nvSpPr>
          <p:spPr>
            <a:xfrm>
              <a:off x="6765252" y="2308754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4" name="楕円 273">
              <a:extLst>
                <a:ext uri="{FF2B5EF4-FFF2-40B4-BE49-F238E27FC236}">
                  <a16:creationId xmlns:a16="http://schemas.microsoft.com/office/drawing/2014/main" id="{F846AC82-34A9-8E55-0B05-77CE288667C9}"/>
                </a:ext>
              </a:extLst>
            </p:cNvPr>
            <p:cNvSpPr/>
            <p:nvPr/>
          </p:nvSpPr>
          <p:spPr>
            <a:xfrm>
              <a:off x="6769077" y="4608727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5" name="楕円 274">
              <a:extLst>
                <a:ext uri="{FF2B5EF4-FFF2-40B4-BE49-F238E27FC236}">
                  <a16:creationId xmlns:a16="http://schemas.microsoft.com/office/drawing/2014/main" id="{81663D9B-C97D-08B5-7D19-7FAA4F2B7799}"/>
                </a:ext>
              </a:extLst>
            </p:cNvPr>
            <p:cNvSpPr/>
            <p:nvPr/>
          </p:nvSpPr>
          <p:spPr>
            <a:xfrm>
              <a:off x="6785489" y="6169311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6" name="楕円 275">
              <a:extLst>
                <a:ext uri="{FF2B5EF4-FFF2-40B4-BE49-F238E27FC236}">
                  <a16:creationId xmlns:a16="http://schemas.microsoft.com/office/drawing/2014/main" id="{0526E107-0840-5AAB-B630-E9BB2B4CE3AF}"/>
                </a:ext>
              </a:extLst>
            </p:cNvPr>
            <p:cNvSpPr/>
            <p:nvPr/>
          </p:nvSpPr>
          <p:spPr>
            <a:xfrm>
              <a:off x="6785489" y="5644552"/>
              <a:ext cx="252293" cy="235472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7" name="四角形: 1 つの角を切り取る 276">
              <a:extLst>
                <a:ext uri="{FF2B5EF4-FFF2-40B4-BE49-F238E27FC236}">
                  <a16:creationId xmlns:a16="http://schemas.microsoft.com/office/drawing/2014/main" id="{A7EA79AE-D471-D7EC-E860-8D12DDE6A6DA}"/>
                </a:ext>
              </a:extLst>
            </p:cNvPr>
            <p:cNvSpPr/>
            <p:nvPr/>
          </p:nvSpPr>
          <p:spPr>
            <a:xfrm>
              <a:off x="7085238" y="1443202"/>
              <a:ext cx="2425761" cy="264781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３要素すべてが</a:t>
              </a:r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F9D0B3D6-2A89-8703-FD7A-BCB1EE7BC6B3}"/>
                </a:ext>
              </a:extLst>
            </p:cNvPr>
            <p:cNvSpPr txBox="1"/>
            <p:nvPr/>
          </p:nvSpPr>
          <p:spPr>
            <a:xfrm>
              <a:off x="9614571" y="2097868"/>
              <a:ext cx="886201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79" name="テキスト ボックス 278">
              <a:extLst>
                <a:ext uri="{FF2B5EF4-FFF2-40B4-BE49-F238E27FC236}">
                  <a16:creationId xmlns:a16="http://schemas.microsoft.com/office/drawing/2014/main" id="{10A877AA-210A-3798-BC46-D352114F1BF5}"/>
                </a:ext>
              </a:extLst>
            </p:cNvPr>
            <p:cNvSpPr txBox="1"/>
            <p:nvPr/>
          </p:nvSpPr>
          <p:spPr>
            <a:xfrm>
              <a:off x="7358855" y="2936560"/>
              <a:ext cx="1154939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280" name="四角形: 1 つの角を切り取る 279">
              <a:extLst>
                <a:ext uri="{FF2B5EF4-FFF2-40B4-BE49-F238E27FC236}">
                  <a16:creationId xmlns:a16="http://schemas.microsoft.com/office/drawing/2014/main" id="{FDC2E3F8-97D3-6808-9FBB-9A3753839E9B}"/>
                </a:ext>
              </a:extLst>
            </p:cNvPr>
            <p:cNvSpPr/>
            <p:nvPr/>
          </p:nvSpPr>
          <p:spPr>
            <a:xfrm>
              <a:off x="7088066" y="3705355"/>
              <a:ext cx="2422934" cy="264781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slots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がバー</a:t>
              </a:r>
            </a:p>
          </p:txBody>
        </p:sp>
        <p:cxnSp>
          <p:nvCxnSpPr>
            <p:cNvPr id="281" name="直線矢印コネクタ 280">
              <a:extLst>
                <a:ext uri="{FF2B5EF4-FFF2-40B4-BE49-F238E27FC236}">
                  <a16:creationId xmlns:a16="http://schemas.microsoft.com/office/drawing/2014/main" id="{696D8DA7-1821-C192-FFCF-58EC89DE98FC}"/>
                </a:ext>
              </a:extLst>
            </p:cNvPr>
            <p:cNvCxnSpPr>
              <a:cxnSpLocks/>
            </p:cNvCxnSpPr>
            <p:nvPr/>
          </p:nvCxnSpPr>
          <p:spPr>
            <a:xfrm>
              <a:off x="7255606" y="4080375"/>
              <a:ext cx="0" cy="404396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2" name="テキスト ボックス 281">
              <a:extLst>
                <a:ext uri="{FF2B5EF4-FFF2-40B4-BE49-F238E27FC236}">
                  <a16:creationId xmlns:a16="http://schemas.microsoft.com/office/drawing/2014/main" id="{4D0941F1-07CE-CC64-2046-2AAF78578A64}"/>
                </a:ext>
              </a:extLst>
            </p:cNvPr>
            <p:cNvSpPr txBox="1"/>
            <p:nvPr/>
          </p:nvSpPr>
          <p:spPr>
            <a:xfrm>
              <a:off x="8457278" y="4424365"/>
              <a:ext cx="886201" cy="374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283" name="直線矢印コネクタ 282">
              <a:extLst>
                <a:ext uri="{FF2B5EF4-FFF2-40B4-BE49-F238E27FC236}">
                  <a16:creationId xmlns:a16="http://schemas.microsoft.com/office/drawing/2014/main" id="{22227177-F212-CE0B-F990-312ABAB33E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13791" y="4777326"/>
              <a:ext cx="547249" cy="2596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矢印コネクタ 283">
              <a:extLst>
                <a:ext uri="{FF2B5EF4-FFF2-40B4-BE49-F238E27FC236}">
                  <a16:creationId xmlns:a16="http://schemas.microsoft.com/office/drawing/2014/main" id="{CA1F9777-B118-88FE-19F8-0CCD4EBA8B2B}"/>
                </a:ext>
              </a:extLst>
            </p:cNvPr>
            <p:cNvCxnSpPr>
              <a:cxnSpLocks/>
            </p:cNvCxnSpPr>
            <p:nvPr/>
          </p:nvCxnSpPr>
          <p:spPr>
            <a:xfrm>
              <a:off x="9784046" y="5111538"/>
              <a:ext cx="540210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a16:creationId xmlns:a16="http://schemas.microsoft.com/office/drawing/2014/main" id="{FD1FA41E-6F20-91CB-39DC-055580D10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08499" y="4953762"/>
              <a:ext cx="0" cy="184325"/>
            </a:xfrm>
            <a:prstGeom prst="line">
              <a:avLst/>
            </a:prstGeom>
            <a:ln w="57150"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線矢印コネクタ 285">
              <a:extLst>
                <a:ext uri="{FF2B5EF4-FFF2-40B4-BE49-F238E27FC236}">
                  <a16:creationId xmlns:a16="http://schemas.microsoft.com/office/drawing/2014/main" id="{DCDA55BD-A0B7-A590-8553-EAA4B43F5778}"/>
                </a:ext>
              </a:extLst>
            </p:cNvPr>
            <p:cNvCxnSpPr>
              <a:cxnSpLocks/>
            </p:cNvCxnSpPr>
            <p:nvPr/>
          </p:nvCxnSpPr>
          <p:spPr>
            <a:xfrm>
              <a:off x="7255606" y="4987400"/>
              <a:ext cx="17013" cy="50502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7" name="楕円 286">
              <a:extLst>
                <a:ext uri="{FF2B5EF4-FFF2-40B4-BE49-F238E27FC236}">
                  <a16:creationId xmlns:a16="http://schemas.microsoft.com/office/drawing/2014/main" id="{F939CF2D-3752-41CE-E918-5088A4BC3281}"/>
                </a:ext>
              </a:extLst>
            </p:cNvPr>
            <p:cNvSpPr/>
            <p:nvPr/>
          </p:nvSpPr>
          <p:spPr>
            <a:xfrm>
              <a:off x="7094939" y="5575527"/>
              <a:ext cx="377279" cy="37468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288" name="テキスト ボックス 287">
              <a:extLst>
                <a:ext uri="{FF2B5EF4-FFF2-40B4-BE49-F238E27FC236}">
                  <a16:creationId xmlns:a16="http://schemas.microsoft.com/office/drawing/2014/main" id="{7558C3D3-51B1-BBC9-E919-8E7D94FE1058}"/>
                </a:ext>
              </a:extLst>
            </p:cNvPr>
            <p:cNvSpPr txBox="1"/>
            <p:nvPr/>
          </p:nvSpPr>
          <p:spPr>
            <a:xfrm>
              <a:off x="7092188" y="5622675"/>
              <a:ext cx="698422" cy="296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300" dirty="0"/>
                <a:t>０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7633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885EE-318D-C562-AD10-BF7D883A4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EF5FE3-62A1-90E6-8FB0-943D62D80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C27FC1C-F107-CDBD-DF4F-71FE4E5B4657}"/>
              </a:ext>
            </a:extLst>
          </p:cNvPr>
          <p:cNvSpPr/>
          <p:nvPr/>
        </p:nvSpPr>
        <p:spPr>
          <a:xfrm>
            <a:off x="1831357" y="1531592"/>
            <a:ext cx="2030681" cy="576694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</a:p>
          <a:p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以外の文字の種類</a:t>
            </a:r>
            <a:endParaRPr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4432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6273"/>
            <a:ext cx="10540261" cy="5528957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練習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ウェイトのかかったさいころの期待値を計算する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56502C-8C1E-B65D-2253-EC4888CC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50" y="2037498"/>
            <a:ext cx="5735714" cy="399205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37E4005-37C7-F190-4FE3-D78BB0567F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5820" r="76118"/>
          <a:stretch/>
        </p:blipFill>
        <p:spPr>
          <a:xfrm>
            <a:off x="4697220" y="6148830"/>
            <a:ext cx="2238944" cy="25444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093558" y="3029030"/>
            <a:ext cx="44577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図 19">
            <a:extLst>
              <a:ext uri="{FF2B5EF4-FFF2-40B4-BE49-F238E27FC236}">
                <a16:creationId xmlns:a16="http://schemas.microsoft.com/office/drawing/2014/main" id="{7DF4726D-09AD-20A1-84D0-1F7051028D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520" r="86549" b="78424"/>
          <a:stretch/>
        </p:blipFill>
        <p:spPr>
          <a:xfrm>
            <a:off x="7744625" y="2692561"/>
            <a:ext cx="1261044" cy="6729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99A74E32-60BC-5E0A-5150-F7D9C90CFA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375" r="73545" b="66729"/>
          <a:stretch/>
        </p:blipFill>
        <p:spPr>
          <a:xfrm>
            <a:off x="7736403" y="3379946"/>
            <a:ext cx="2480244" cy="4197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9ECE7B1-66E5-FF30-6682-D63E9631F145}"/>
              </a:ext>
            </a:extLst>
          </p:cNvPr>
          <p:cNvCxnSpPr>
            <a:cxnSpLocks/>
          </p:cNvCxnSpPr>
          <p:nvPr/>
        </p:nvCxnSpPr>
        <p:spPr>
          <a:xfrm>
            <a:off x="2179158" y="3589813"/>
            <a:ext cx="53721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EC5E597-8A41-FF1C-481F-0F6923510E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580" r="82214" b="38760"/>
          <a:stretch/>
        </p:blipFill>
        <p:spPr>
          <a:xfrm>
            <a:off x="7736403" y="3923138"/>
            <a:ext cx="1667444" cy="64892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457D67A-4C59-DDCE-374F-6A06D71FF0A8}"/>
              </a:ext>
            </a:extLst>
          </p:cNvPr>
          <p:cNvCxnSpPr>
            <a:cxnSpLocks/>
          </p:cNvCxnSpPr>
          <p:nvPr/>
        </p:nvCxnSpPr>
        <p:spPr>
          <a:xfrm>
            <a:off x="3003047" y="452967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図 27">
            <a:extLst>
              <a:ext uri="{FF2B5EF4-FFF2-40B4-BE49-F238E27FC236}">
                <a16:creationId xmlns:a16="http://schemas.microsoft.com/office/drawing/2014/main" id="{A914C37A-323E-A073-0ED3-6E8505B529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797" r="78286" b="22541"/>
          <a:stretch/>
        </p:blipFill>
        <p:spPr>
          <a:xfrm>
            <a:off x="7736403" y="4730181"/>
            <a:ext cx="2035744" cy="6489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E38F840-0398-BB90-C4CE-27B499FA4F44}"/>
              </a:ext>
            </a:extLst>
          </p:cNvPr>
          <p:cNvCxnSpPr>
            <a:cxnSpLocks/>
          </p:cNvCxnSpPr>
          <p:nvPr/>
        </p:nvCxnSpPr>
        <p:spPr>
          <a:xfrm>
            <a:off x="3003046" y="50546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>
            <a:extLst>
              <a:ext uri="{FF2B5EF4-FFF2-40B4-BE49-F238E27FC236}">
                <a16:creationId xmlns:a16="http://schemas.microsoft.com/office/drawing/2014/main" id="{42C00B05-61D0-4A2F-7B10-4EA961A126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93" r="71783" b="6684"/>
          <a:stretch/>
        </p:blipFill>
        <p:spPr>
          <a:xfrm>
            <a:off x="7744625" y="5463081"/>
            <a:ext cx="2645344" cy="65873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66A23AA-F880-FACC-3334-376B9079DE5B}"/>
              </a:ext>
            </a:extLst>
          </p:cNvPr>
          <p:cNvCxnSpPr>
            <a:cxnSpLocks/>
          </p:cNvCxnSpPr>
          <p:nvPr/>
        </p:nvCxnSpPr>
        <p:spPr>
          <a:xfrm>
            <a:off x="3003046" y="55880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1BBC8DC-6FEB-734C-3E44-02FCEC8545C6}"/>
              </a:ext>
            </a:extLst>
          </p:cNvPr>
          <p:cNvCxnSpPr>
            <a:cxnSpLocks/>
          </p:cNvCxnSpPr>
          <p:nvPr/>
        </p:nvCxnSpPr>
        <p:spPr>
          <a:xfrm>
            <a:off x="4382095" y="6148830"/>
            <a:ext cx="255612" cy="11568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078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期待値を求める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スロットマシンのリストを作る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確率のルックアップテーブルを作る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それぞれの確率を追加する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210455" y="1014608"/>
            <a:ext cx="2391170" cy="39510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54533DD-62F6-CB97-1E4D-863931614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179" y="3790553"/>
            <a:ext cx="7421011" cy="314369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52B92D81-993D-8414-49B8-57B484E9F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179" y="4725370"/>
            <a:ext cx="3200847" cy="74305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4C06689-A0F7-4E54-4F6F-1E8E8DAC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1" y="2306583"/>
            <a:ext cx="5039428" cy="838317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27A4ED25-3A06-AD1A-6CE7-6F0BE3404F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583" y="4750575"/>
            <a:ext cx="2695951" cy="762106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F4E1C010-FA1E-8AD6-1807-55C5A1C3F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187" y="2294157"/>
            <a:ext cx="1314633" cy="838317"/>
          </a:xfrm>
          <a:prstGeom prst="rect">
            <a:avLst/>
          </a:prstGeom>
        </p:spPr>
      </p:pic>
      <p:sp>
        <p:nvSpPr>
          <p:cNvPr id="30" name="楕円 29">
            <a:extLst>
              <a:ext uri="{FF2B5EF4-FFF2-40B4-BE49-F238E27FC236}">
                <a16:creationId xmlns:a16="http://schemas.microsoft.com/office/drawing/2014/main" id="{2E718A86-7618-47AE-D950-428871DB5AE2}"/>
              </a:ext>
            </a:extLst>
          </p:cNvPr>
          <p:cNvSpPr/>
          <p:nvPr/>
        </p:nvSpPr>
        <p:spPr>
          <a:xfrm>
            <a:off x="4813938" y="160642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6B6C97F1-BE62-D3FE-5FE8-D0778B7FF8C0}"/>
              </a:ext>
            </a:extLst>
          </p:cNvPr>
          <p:cNvSpPr/>
          <p:nvPr/>
        </p:nvSpPr>
        <p:spPr>
          <a:xfrm>
            <a:off x="5275191" y="34047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48E5353-0E3F-A56E-D541-FA0B63C2717E}"/>
              </a:ext>
            </a:extLst>
          </p:cNvPr>
          <p:cNvSpPr/>
          <p:nvPr/>
        </p:nvSpPr>
        <p:spPr>
          <a:xfrm>
            <a:off x="4419883" y="4479336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5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388481" y="1060961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682560" y="1097282"/>
            <a:ext cx="10246182" cy="52317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  <a:r>
              <a:rPr lang="ja-JP" altLang="en-US" sz="1200" dirty="0">
                <a:solidFill>
                  <a:schemeClr val="tx1"/>
                </a:solidFill>
              </a:rPr>
              <a:t>　について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698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0961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各組の確率を追加する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確率の検算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for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文を使って各行の賞金を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期待値を出す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730051" y="580650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 dirty="0">
                <a:solidFill>
                  <a:schemeClr val="tx1"/>
                </a:solidFill>
              </a:rPr>
              <a:t>for</a:t>
            </a:r>
            <a:r>
              <a:rPr lang="ja-JP" altLang="en-US" sz="1050" dirty="0">
                <a:solidFill>
                  <a:schemeClr val="tx1"/>
                </a:solidFill>
              </a:rPr>
              <a:t>文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09D787F-CA4F-19FA-04BC-3C3E047A3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24" y="1945789"/>
            <a:ext cx="4458322" cy="50489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41E52A4-9998-E71B-3932-5B896B6C4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724" y="3119426"/>
            <a:ext cx="2657846" cy="39058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189FA43-7CC0-8CC1-7B5F-D95ACB865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4" y="3157531"/>
            <a:ext cx="1428949" cy="31436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86820E7E-A84E-BEA5-F223-070846854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724" y="4054888"/>
            <a:ext cx="2419688" cy="32389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BE6346A-62B0-A051-0E3E-EDDC90BF5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724" y="4754198"/>
            <a:ext cx="3962953" cy="905001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C1D8B83-00F3-9BB2-5763-21958A71E8F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2299" b="-1"/>
          <a:stretch/>
        </p:blipFill>
        <p:spPr>
          <a:xfrm>
            <a:off x="6229430" y="1650342"/>
            <a:ext cx="3362794" cy="809738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FFCE45BA-D329-2260-F5F5-F38305B027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9430" y="4650107"/>
            <a:ext cx="3829584" cy="80973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2DB46570-E869-15E2-D7E9-58134A8377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9430" y="6000459"/>
            <a:ext cx="2629267" cy="314369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4434E629-8BDE-B460-72BE-95CBE364C0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4724" y="6207341"/>
            <a:ext cx="2457793" cy="352474"/>
          </a:xfrm>
          <a:prstGeom prst="rect">
            <a:avLst/>
          </a:prstGeom>
        </p:spPr>
      </p:pic>
      <p:sp>
        <p:nvSpPr>
          <p:cNvPr id="35" name="楕円 34">
            <a:extLst>
              <a:ext uri="{FF2B5EF4-FFF2-40B4-BE49-F238E27FC236}">
                <a16:creationId xmlns:a16="http://schemas.microsoft.com/office/drawing/2014/main" id="{7FFF4DFE-08AA-6C7B-0EB3-1A5CDBA024E2}"/>
              </a:ext>
            </a:extLst>
          </p:cNvPr>
          <p:cNvSpPr/>
          <p:nvPr/>
        </p:nvSpPr>
        <p:spPr>
          <a:xfrm>
            <a:off x="3902570" y="11609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1DEB8852-D701-E552-27B0-9ACA2888A3D1}"/>
              </a:ext>
            </a:extLst>
          </p:cNvPr>
          <p:cNvSpPr/>
          <p:nvPr/>
        </p:nvSpPr>
        <p:spPr>
          <a:xfrm>
            <a:off x="3019980" y="3709384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D3BC0CAF-6DCD-5A11-1050-71180B3D58F9}"/>
              </a:ext>
            </a:extLst>
          </p:cNvPr>
          <p:cNvSpPr/>
          <p:nvPr/>
        </p:nvSpPr>
        <p:spPr>
          <a:xfrm>
            <a:off x="2813760" y="5892449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62352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0323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395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スピード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393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4685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疑問点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配列の順番が０からではない理由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R,Python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が肩を宣言する必要がない共通点に関して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A,B,C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B,A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,C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が出てくるが、これを一つにまとめる方法はないのか。（後で考える）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あとで！！！</a:t>
            </a:r>
            <a:r>
              <a:rPr kumimoji="1" lang="en-US" altLang="ja-JP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Factor</a:t>
            </a:r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！！！絶対調べる！！！！</a:t>
            </a:r>
            <a:endParaRPr kumimoji="1" lang="en-US" altLang="ja-JP" sz="2000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243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Cherries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の点数を場合分けする際、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添字操作を利用して、７行の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文を１行に短縮できたことに感動した。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218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 確率が起こるときの項目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DD,BB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などを指定しておくと、あとから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combos$prob1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に代入するときに、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prob[combos$Var1]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のように取り出せるのはすごいと思った。配列の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0,1,2,…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DD,7,BBB</a:t>
            </a: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8594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参考文献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A009C1-7937-731F-2798-87A92781A584}"/>
              </a:ext>
            </a:extLst>
          </p:cNvPr>
          <p:cNvSpPr txBox="1"/>
          <p:nvPr/>
        </p:nvSpPr>
        <p:spPr>
          <a:xfrm>
            <a:off x="3048000" y="28288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2"/>
              </a:rPr>
              <a:t>https://nakazakimasahito.wordpress.com/2020/06/01/r-stringsasfactors-false%E3%81%AB%E3%81%A4%E3%81%84%E3%81%A6%E3%80%80/</a:t>
            </a:r>
            <a:endParaRPr lang="en-US" altLang="ja-JP" dirty="0"/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4966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1599</Words>
  <Application>Microsoft Office PowerPoint</Application>
  <PresentationFormat>ワイド画面</PresentationFormat>
  <Paragraphs>323</Paragraphs>
  <Slides>23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9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「RStudioではじめる Rプログラミング入門」Ⅲ演習</vt:lpstr>
      <vt:lpstr>7章　プログラム　フローチャート</vt:lpstr>
      <vt:lpstr>7章　プログラム</vt:lpstr>
      <vt:lpstr>7章　プログラム</vt:lpstr>
      <vt:lpstr>7章　プログラム</vt:lpstr>
      <vt:lpstr>7章　プログラム</vt:lpstr>
      <vt:lpstr>7章　プログラム　最終コード</vt:lpstr>
      <vt:lpstr>８章　S３　フローチャート</vt:lpstr>
      <vt:lpstr>８章　S3</vt:lpstr>
      <vt:lpstr>８章　S３　最終コード</vt:lpstr>
      <vt:lpstr>9章　ループ　フローチャート</vt:lpstr>
      <vt:lpstr>9章　ループ　フローチャート</vt:lpstr>
      <vt:lpstr>９章　ループ</vt:lpstr>
      <vt:lpstr>９章　ループ</vt:lpstr>
      <vt:lpstr>９章　ループ</vt:lpstr>
      <vt:lpstr>９章　ループ</vt:lpstr>
      <vt:lpstr>９章　ループ　最終コード</vt:lpstr>
      <vt:lpstr>１０章　スピード　フローチャート</vt:lpstr>
      <vt:lpstr>１０章　スピード</vt:lpstr>
      <vt:lpstr>１０章　スピード　最終コード</vt:lpstr>
      <vt:lpstr>疑問点</vt:lpstr>
      <vt:lpstr>感想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19</cp:revision>
  <dcterms:created xsi:type="dcterms:W3CDTF">2026-08-03T02:31:57Z</dcterms:created>
  <dcterms:modified xsi:type="dcterms:W3CDTF">2026-08-14T02:55:14Z</dcterms:modified>
</cp:coreProperties>
</file>